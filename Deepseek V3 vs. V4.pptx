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86" r:id="rId5"/>
    <p:sldId id="313" r:id="rId6"/>
    <p:sldId id="297" r:id="rId7"/>
    <p:sldId id="305" r:id="rId8"/>
    <p:sldId id="306" r:id="rId9"/>
    <p:sldId id="307" r:id="rId10"/>
    <p:sldId id="308" r:id="rId11"/>
    <p:sldId id="309" r:id="rId12"/>
    <p:sldId id="310" r:id="rId13"/>
    <p:sldId id="311" r:id="rId14"/>
    <p:sldId id="304" r:id="rId15"/>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E2D69"/>
    <a:srgbClr val="029C63"/>
    <a:srgbClr val="96628C"/>
    <a:srgbClr val="11A0D7"/>
    <a:srgbClr val="E61F3D"/>
    <a:srgbClr val="CD5A5A"/>
    <a:srgbClr val="FFD746"/>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A0262-F72D-CF40-8B9F-871A5CEC706F}" v="63" dt="2022-10-10T13:15:26.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11"/>
    <p:restoredTop sz="94744"/>
  </p:normalViewPr>
  <p:slideViewPr>
    <p:cSldViewPr snapToGrid="0" snapToObjects="1">
      <p:cViewPr>
        <p:scale>
          <a:sx n="120" d="100"/>
          <a:sy n="120" d="100"/>
        </p:scale>
        <p:origin x="72" y="160"/>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Абрамова Надежда Робертовна" userId="98be7548-a651-4b95-923b-e1e51aa70311" providerId="ADAL" clId="{3A7A0262-F72D-CF40-8B9F-871A5CEC706F}"/>
    <pc:docChg chg="custSel addSld modSld sldOrd modMainMaster">
      <pc:chgData name="Абрамова Надежда Робертовна" userId="98be7548-a651-4b95-923b-e1e51aa70311" providerId="ADAL" clId="{3A7A0262-F72D-CF40-8B9F-871A5CEC706F}" dt="2022-10-19T15:41:34.952" v="194" actId="478"/>
      <pc:docMkLst>
        <pc:docMk/>
      </pc:docMkLst>
      <pc:sldChg chg="delSp mod">
        <pc:chgData name="Абрамова Надежда Робертовна" userId="98be7548-a651-4b95-923b-e1e51aa70311" providerId="ADAL" clId="{3A7A0262-F72D-CF40-8B9F-871A5CEC706F}" dt="2022-10-07T13:03:20.151" v="91" actId="478"/>
        <pc:sldMkLst>
          <pc:docMk/>
          <pc:sldMk cId="2613851382" sldId="287"/>
        </pc:sldMkLst>
        <pc:spChg chg="del">
          <ac:chgData name="Абрамова Надежда Робертовна" userId="98be7548-a651-4b95-923b-e1e51aa70311" providerId="ADAL" clId="{3A7A0262-F72D-CF40-8B9F-871A5CEC706F}" dt="2022-10-07T13:03:20.151" v="91" actId="478"/>
          <ac:spMkLst>
            <pc:docMk/>
            <pc:sldMk cId="2613851382" sldId="287"/>
            <ac:spMk id="6" creationId="{40682799-9A38-414D-BD10-45C11B66347C}"/>
          </ac:spMkLst>
        </pc:spChg>
        <pc:spChg chg="del">
          <ac:chgData name="Абрамова Надежда Робертовна" userId="98be7548-a651-4b95-923b-e1e51aa70311" providerId="ADAL" clId="{3A7A0262-F72D-CF40-8B9F-871A5CEC706F}" dt="2022-10-07T13:03:20.151" v="91" actId="478"/>
          <ac:spMkLst>
            <pc:docMk/>
            <pc:sldMk cId="2613851382" sldId="287"/>
            <ac:spMk id="7" creationId="{35F411B5-8431-CE4A-BEA6-775367101901}"/>
          </ac:spMkLst>
        </pc:spChg>
      </pc:sldChg>
      <pc:sldChg chg="delSp mod">
        <pc:chgData name="Абрамова Надежда Робертовна" userId="98be7548-a651-4b95-923b-e1e51aa70311" providerId="ADAL" clId="{3A7A0262-F72D-CF40-8B9F-871A5CEC706F}" dt="2022-10-07T13:05:57.258" v="98" actId="478"/>
        <pc:sldMkLst>
          <pc:docMk/>
          <pc:sldMk cId="1819596838" sldId="288"/>
        </pc:sldMkLst>
        <pc:spChg chg="del">
          <ac:chgData name="Абрамова Надежда Робертовна" userId="98be7548-a651-4b95-923b-e1e51aa70311" providerId="ADAL" clId="{3A7A0262-F72D-CF40-8B9F-871A5CEC706F}" dt="2022-10-07T13:05:57.258" v="98" actId="478"/>
          <ac:spMkLst>
            <pc:docMk/>
            <pc:sldMk cId="1819596838" sldId="288"/>
            <ac:spMk id="18" creationId="{AB20B420-8F92-714B-B774-4CCFF071FC96}"/>
          </ac:spMkLst>
        </pc:spChg>
        <pc:spChg chg="del">
          <ac:chgData name="Абрамова Надежда Робертовна" userId="98be7548-a651-4b95-923b-e1e51aa70311" providerId="ADAL" clId="{3A7A0262-F72D-CF40-8B9F-871A5CEC706F}" dt="2022-10-07T13:05:55.278" v="97" actId="478"/>
          <ac:spMkLst>
            <pc:docMk/>
            <pc:sldMk cId="1819596838" sldId="288"/>
            <ac:spMk id="19" creationId="{E28F3689-1426-FC44-97DB-4AC538FC64CC}"/>
          </ac:spMkLst>
        </pc:spChg>
      </pc:sldChg>
      <pc:sldChg chg="addSp delSp modSp mod">
        <pc:chgData name="Абрамова Надежда Робертовна" userId="98be7548-a651-4b95-923b-e1e51aa70311" providerId="ADAL" clId="{3A7A0262-F72D-CF40-8B9F-871A5CEC706F}" dt="2022-10-07T13:06:52.823" v="104"/>
        <pc:sldMkLst>
          <pc:docMk/>
          <pc:sldMk cId="495762755" sldId="289"/>
        </pc:sldMkLst>
        <pc:spChg chg="del">
          <ac:chgData name="Абрамова Надежда Робертовна" userId="98be7548-a651-4b95-923b-e1e51aa70311" providerId="ADAL" clId="{3A7A0262-F72D-CF40-8B9F-871A5CEC706F}" dt="2022-10-07T13:06:43.127" v="101" actId="478"/>
          <ac:spMkLst>
            <pc:docMk/>
            <pc:sldMk cId="495762755" sldId="289"/>
            <ac:spMk id="2" creationId="{31CADBA8-95D9-8D40-BF8A-D246040A1BCC}"/>
          </ac:spMkLst>
        </pc:spChg>
        <pc:spChg chg="add del mod">
          <ac:chgData name="Абрамова Надежда Робертовна" userId="98be7548-a651-4b95-923b-e1e51aa70311" providerId="ADAL" clId="{3A7A0262-F72D-CF40-8B9F-871A5CEC706F}" dt="2022-10-07T13:06:47.175" v="103" actId="478"/>
          <ac:spMkLst>
            <pc:docMk/>
            <pc:sldMk cId="495762755" sldId="289"/>
            <ac:spMk id="3" creationId="{0C56A9DF-889E-E955-672E-19E514FD2C10}"/>
          </ac:spMkLst>
        </pc:spChg>
        <pc:spChg chg="del">
          <ac:chgData name="Абрамова Надежда Робертовна" userId="98be7548-a651-4b95-923b-e1e51aa70311" providerId="ADAL" clId="{3A7A0262-F72D-CF40-8B9F-871A5CEC706F}" dt="2022-10-07T13:06:10.668" v="99" actId="478"/>
          <ac:spMkLst>
            <pc:docMk/>
            <pc:sldMk cId="495762755" sldId="289"/>
            <ac:spMk id="7" creationId="{E1A17EF3-80FC-E949-9D29-35399B3E471A}"/>
          </ac:spMkLst>
        </pc:spChg>
        <pc:spChg chg="del">
          <ac:chgData name="Абрамова Надежда Робертовна" userId="98be7548-a651-4b95-923b-e1e51aa70311" providerId="ADAL" clId="{3A7A0262-F72D-CF40-8B9F-871A5CEC706F}" dt="2022-10-07T13:06:10.668" v="99" actId="478"/>
          <ac:spMkLst>
            <pc:docMk/>
            <pc:sldMk cId="495762755" sldId="289"/>
            <ac:spMk id="8" creationId="{8ED3F895-1E75-1241-8B43-5C46931114A0}"/>
          </ac:spMkLst>
        </pc:spChg>
        <pc:spChg chg="add mod">
          <ac:chgData name="Абрамова Надежда Робертовна" userId="98be7548-a651-4b95-923b-e1e51aa70311" providerId="ADAL" clId="{3A7A0262-F72D-CF40-8B9F-871A5CEC706F}" dt="2022-10-07T13:06:52.823" v="104"/>
          <ac:spMkLst>
            <pc:docMk/>
            <pc:sldMk cId="495762755" sldId="289"/>
            <ac:spMk id="10" creationId="{D508885D-3CE3-1CA5-976B-34E27AE45A43}"/>
          </ac:spMkLst>
        </pc:spChg>
      </pc:sldChg>
      <pc:sldChg chg="delSp mod">
        <pc:chgData name="Абрамова Надежда Робертовна" userId="98be7548-a651-4b95-923b-e1e51aa70311" providerId="ADAL" clId="{3A7A0262-F72D-CF40-8B9F-871A5CEC706F}" dt="2022-10-07T13:06:28.927" v="100" actId="478"/>
        <pc:sldMkLst>
          <pc:docMk/>
          <pc:sldMk cId="1648988508" sldId="290"/>
        </pc:sldMkLst>
        <pc:spChg chg="del">
          <ac:chgData name="Абрамова Надежда Робертовна" userId="98be7548-a651-4b95-923b-e1e51aa70311" providerId="ADAL" clId="{3A7A0262-F72D-CF40-8B9F-871A5CEC706F}" dt="2022-10-07T13:06:28.927" v="100" actId="478"/>
          <ac:spMkLst>
            <pc:docMk/>
            <pc:sldMk cId="1648988508" sldId="290"/>
            <ac:spMk id="7" creationId="{2B6044E3-0B71-0E47-8BB8-2E75FF51AEF7}"/>
          </ac:spMkLst>
        </pc:spChg>
        <pc:spChg chg="del">
          <ac:chgData name="Абрамова Надежда Робертовна" userId="98be7548-a651-4b95-923b-e1e51aa70311" providerId="ADAL" clId="{3A7A0262-F72D-CF40-8B9F-871A5CEC706F}" dt="2022-10-07T13:06:28.927" v="100" actId="478"/>
          <ac:spMkLst>
            <pc:docMk/>
            <pc:sldMk cId="1648988508" sldId="290"/>
            <ac:spMk id="8" creationId="{5AE50B9E-D827-004A-9EE0-E68D4437BD90}"/>
          </ac:spMkLst>
        </pc:spChg>
      </pc:sldChg>
      <pc:sldChg chg="delSp mod">
        <pc:chgData name="Абрамова Надежда Робертовна" userId="98be7548-a651-4b95-923b-e1e51aa70311" providerId="ADAL" clId="{3A7A0262-F72D-CF40-8B9F-871A5CEC706F}" dt="2022-10-07T13:08:18.425" v="109" actId="478"/>
        <pc:sldMkLst>
          <pc:docMk/>
          <pc:sldMk cId="4037266417" sldId="293"/>
        </pc:sldMkLst>
        <pc:spChg chg="del">
          <ac:chgData name="Абрамова Надежда Робертовна" userId="98be7548-a651-4b95-923b-e1e51aa70311" providerId="ADAL" clId="{3A7A0262-F72D-CF40-8B9F-871A5CEC706F}" dt="2022-10-07T13:08:18.425" v="109" actId="478"/>
          <ac:spMkLst>
            <pc:docMk/>
            <pc:sldMk cId="4037266417" sldId="293"/>
            <ac:spMk id="5" creationId="{B44726F6-6B97-9541-B430-5890C40AB653}"/>
          </ac:spMkLst>
        </pc:spChg>
        <pc:spChg chg="del">
          <ac:chgData name="Абрамова Надежда Робертовна" userId="98be7548-a651-4b95-923b-e1e51aa70311" providerId="ADAL" clId="{3A7A0262-F72D-CF40-8B9F-871A5CEC706F}" dt="2022-10-07T13:08:18.425" v="109" actId="478"/>
          <ac:spMkLst>
            <pc:docMk/>
            <pc:sldMk cId="4037266417" sldId="293"/>
            <ac:spMk id="6" creationId="{1FF1B796-D346-7747-8C68-5B56E6538039}"/>
          </ac:spMkLst>
        </pc:spChg>
      </pc:sldChg>
      <pc:sldChg chg="delSp mod">
        <pc:chgData name="Абрамова Надежда Робертовна" userId="98be7548-a651-4b95-923b-e1e51aa70311" providerId="ADAL" clId="{3A7A0262-F72D-CF40-8B9F-871A5CEC706F}" dt="2022-10-07T13:08:33.624" v="110" actId="478"/>
        <pc:sldMkLst>
          <pc:docMk/>
          <pc:sldMk cId="1496322701" sldId="294"/>
        </pc:sldMkLst>
        <pc:spChg chg="del">
          <ac:chgData name="Абрамова Надежда Робертовна" userId="98be7548-a651-4b95-923b-e1e51aa70311" providerId="ADAL" clId="{3A7A0262-F72D-CF40-8B9F-871A5CEC706F}" dt="2022-10-07T13:08:33.624" v="110" actId="478"/>
          <ac:spMkLst>
            <pc:docMk/>
            <pc:sldMk cId="1496322701" sldId="294"/>
            <ac:spMk id="7" creationId="{31A0EB17-0D28-524C-9C34-1970B0BAC8CE}"/>
          </ac:spMkLst>
        </pc:spChg>
        <pc:spChg chg="del">
          <ac:chgData name="Абрамова Надежда Робертовна" userId="98be7548-a651-4b95-923b-e1e51aa70311" providerId="ADAL" clId="{3A7A0262-F72D-CF40-8B9F-871A5CEC706F}" dt="2022-10-07T13:08:33.624" v="110" actId="478"/>
          <ac:spMkLst>
            <pc:docMk/>
            <pc:sldMk cId="1496322701" sldId="294"/>
            <ac:spMk id="8" creationId="{CD633F9A-0684-3C45-AC7F-6A087C1D8F06}"/>
          </ac:spMkLst>
        </pc:spChg>
      </pc:sldChg>
      <pc:sldChg chg="delSp mod">
        <pc:chgData name="Абрамова Надежда Робертовна" userId="98be7548-a651-4b95-923b-e1e51aa70311" providerId="ADAL" clId="{3A7A0262-F72D-CF40-8B9F-871A5CEC706F}" dt="2022-10-07T13:08:41.566" v="111" actId="478"/>
        <pc:sldMkLst>
          <pc:docMk/>
          <pc:sldMk cId="461682808" sldId="295"/>
        </pc:sldMkLst>
        <pc:spChg chg="del">
          <ac:chgData name="Абрамова Надежда Робертовна" userId="98be7548-a651-4b95-923b-e1e51aa70311" providerId="ADAL" clId="{3A7A0262-F72D-CF40-8B9F-871A5CEC706F}" dt="2022-10-07T13:08:41.566" v="111" actId="478"/>
          <ac:spMkLst>
            <pc:docMk/>
            <pc:sldMk cId="461682808" sldId="295"/>
            <ac:spMk id="7" creationId="{FE7EB57C-8144-9C4F-8DED-3C5FD00EA498}"/>
          </ac:spMkLst>
        </pc:spChg>
        <pc:spChg chg="del">
          <ac:chgData name="Абрамова Надежда Робертовна" userId="98be7548-a651-4b95-923b-e1e51aa70311" providerId="ADAL" clId="{3A7A0262-F72D-CF40-8B9F-871A5CEC706F}" dt="2022-10-07T13:08:41.566" v="111" actId="478"/>
          <ac:spMkLst>
            <pc:docMk/>
            <pc:sldMk cId="461682808" sldId="295"/>
            <ac:spMk id="8" creationId="{B55D36F7-D45B-7845-AECA-F7681B2EFC19}"/>
          </ac:spMkLst>
        </pc:spChg>
      </pc:sldChg>
      <pc:sldChg chg="delSp mod">
        <pc:chgData name="Абрамова Надежда Робертовна" userId="98be7548-a651-4b95-923b-e1e51aa70311" providerId="ADAL" clId="{3A7A0262-F72D-CF40-8B9F-871A5CEC706F}" dt="2022-10-07T13:08:58.216" v="112" actId="478"/>
        <pc:sldMkLst>
          <pc:docMk/>
          <pc:sldMk cId="4002175649" sldId="296"/>
        </pc:sldMkLst>
        <pc:spChg chg="del">
          <ac:chgData name="Абрамова Надежда Робертовна" userId="98be7548-a651-4b95-923b-e1e51aa70311" providerId="ADAL" clId="{3A7A0262-F72D-CF40-8B9F-871A5CEC706F}" dt="2022-10-07T13:08:58.216" v="112" actId="478"/>
          <ac:spMkLst>
            <pc:docMk/>
            <pc:sldMk cId="4002175649" sldId="296"/>
            <ac:spMk id="7" creationId="{8540C86E-60B0-604F-8BB6-94B8E0208905}"/>
          </ac:spMkLst>
        </pc:spChg>
        <pc:spChg chg="del">
          <ac:chgData name="Абрамова Надежда Робертовна" userId="98be7548-a651-4b95-923b-e1e51aa70311" providerId="ADAL" clId="{3A7A0262-F72D-CF40-8B9F-871A5CEC706F}" dt="2022-10-07T13:08:58.216" v="112" actId="478"/>
          <ac:spMkLst>
            <pc:docMk/>
            <pc:sldMk cId="4002175649" sldId="296"/>
            <ac:spMk id="8" creationId="{2210E626-73FA-C647-88FC-4EB704C70EB1}"/>
          </ac:spMkLst>
        </pc:spChg>
      </pc:sldChg>
      <pc:sldChg chg="delSp mod">
        <pc:chgData name="Абрамова Надежда Робертовна" userId="98be7548-a651-4b95-923b-e1e51aa70311" providerId="ADAL" clId="{3A7A0262-F72D-CF40-8B9F-871A5CEC706F}" dt="2022-10-07T13:09:09.792" v="113" actId="478"/>
        <pc:sldMkLst>
          <pc:docMk/>
          <pc:sldMk cId="2988048741" sldId="297"/>
        </pc:sldMkLst>
        <pc:spChg chg="del">
          <ac:chgData name="Абрамова Надежда Робертовна" userId="98be7548-a651-4b95-923b-e1e51aa70311" providerId="ADAL" clId="{3A7A0262-F72D-CF40-8B9F-871A5CEC706F}" dt="2022-10-07T13:09:09.792" v="113" actId="478"/>
          <ac:spMkLst>
            <pc:docMk/>
            <pc:sldMk cId="2988048741" sldId="297"/>
            <ac:spMk id="3" creationId="{7D323C45-B329-894C-9560-43EF3302210E}"/>
          </ac:spMkLst>
        </pc:spChg>
        <pc:spChg chg="del">
          <ac:chgData name="Абрамова Надежда Робертовна" userId="98be7548-a651-4b95-923b-e1e51aa70311" providerId="ADAL" clId="{3A7A0262-F72D-CF40-8B9F-871A5CEC706F}" dt="2022-10-07T13:09:09.792" v="113" actId="478"/>
          <ac:spMkLst>
            <pc:docMk/>
            <pc:sldMk cId="2988048741" sldId="297"/>
            <ac:spMk id="4" creationId="{0ADA81B8-0209-EA4C-8306-5853CB70BEE8}"/>
          </ac:spMkLst>
        </pc:spChg>
      </pc:sldChg>
      <pc:sldChg chg="delSp modSp mod">
        <pc:chgData name="Абрамова Надежда Робертовна" userId="98be7548-a651-4b95-923b-e1e51aa70311" providerId="ADAL" clId="{3A7A0262-F72D-CF40-8B9F-871A5CEC706F}" dt="2022-10-10T13:14:06.001" v="176" actId="404"/>
        <pc:sldMkLst>
          <pc:docMk/>
          <pc:sldMk cId="1244032479" sldId="298"/>
        </pc:sldMkLst>
        <pc:spChg chg="mod">
          <ac:chgData name="Абрамова Надежда Робертовна" userId="98be7548-a651-4b95-923b-e1e51aa70311" providerId="ADAL" clId="{3A7A0262-F72D-CF40-8B9F-871A5CEC706F}" dt="2022-10-10T13:14:06.001" v="176" actId="404"/>
          <ac:spMkLst>
            <pc:docMk/>
            <pc:sldMk cId="1244032479" sldId="298"/>
            <ac:spMk id="3" creationId="{9D324D6E-058C-494B-A04D-B41012231273}"/>
          </ac:spMkLst>
        </pc:spChg>
        <pc:spChg chg="del">
          <ac:chgData name="Абрамова Надежда Робертовна" userId="98be7548-a651-4b95-923b-e1e51aa70311" providerId="ADAL" clId="{3A7A0262-F72D-CF40-8B9F-871A5CEC706F}" dt="2022-10-07T13:07:04.050" v="105" actId="478"/>
          <ac:spMkLst>
            <pc:docMk/>
            <pc:sldMk cId="1244032479" sldId="298"/>
            <ac:spMk id="6" creationId="{99CD75B3-F19F-A143-B0D6-2AC02E4F01EF}"/>
          </ac:spMkLst>
        </pc:spChg>
        <pc:spChg chg="del">
          <ac:chgData name="Абрамова Надежда Робертовна" userId="98be7548-a651-4b95-923b-e1e51aa70311" providerId="ADAL" clId="{3A7A0262-F72D-CF40-8B9F-871A5CEC706F}" dt="2022-10-07T13:07:04.050" v="105" actId="478"/>
          <ac:spMkLst>
            <pc:docMk/>
            <pc:sldMk cId="1244032479" sldId="298"/>
            <ac:spMk id="7" creationId="{C4399C93-B52E-AD4F-996E-8B1ABD2AD8AE}"/>
          </ac:spMkLst>
        </pc:spChg>
        <pc:graphicFrameChg chg="mod">
          <ac:chgData name="Абрамова Надежда Робертовна" userId="98be7548-a651-4b95-923b-e1e51aa70311" providerId="ADAL" clId="{3A7A0262-F72D-CF40-8B9F-871A5CEC706F}" dt="2022-10-10T13:13:52.323" v="175"/>
          <ac:graphicFrameMkLst>
            <pc:docMk/>
            <pc:sldMk cId="1244032479" sldId="298"/>
            <ac:graphicFrameMk id="8" creationId="{E3B67526-CF2E-0E4C-932D-4C45937A8F35}"/>
          </ac:graphicFrameMkLst>
        </pc:graphicFrameChg>
      </pc:sldChg>
      <pc:sldChg chg="delSp modSp mod">
        <pc:chgData name="Абрамова Надежда Робертовна" userId="98be7548-a651-4b95-923b-e1e51aa70311" providerId="ADAL" clId="{3A7A0262-F72D-CF40-8B9F-871A5CEC706F}" dt="2022-10-10T13:15:26.520" v="192"/>
        <pc:sldMkLst>
          <pc:docMk/>
          <pc:sldMk cId="4128394876" sldId="299"/>
        </pc:sldMkLst>
        <pc:spChg chg="del">
          <ac:chgData name="Абрамова Надежда Робертовна" userId="98be7548-a651-4b95-923b-e1e51aa70311" providerId="ADAL" clId="{3A7A0262-F72D-CF40-8B9F-871A5CEC706F}" dt="2022-10-07T13:08:10.032" v="108" actId="478"/>
          <ac:spMkLst>
            <pc:docMk/>
            <pc:sldMk cId="4128394876" sldId="299"/>
            <ac:spMk id="7" creationId="{8F16B6AC-7147-4143-8F71-EEB6F782C334}"/>
          </ac:spMkLst>
        </pc:spChg>
        <pc:spChg chg="del">
          <ac:chgData name="Абрамова Надежда Робертовна" userId="98be7548-a651-4b95-923b-e1e51aa70311" providerId="ADAL" clId="{3A7A0262-F72D-CF40-8B9F-871A5CEC706F}" dt="2022-10-07T13:08:10.032" v="108" actId="478"/>
          <ac:spMkLst>
            <pc:docMk/>
            <pc:sldMk cId="4128394876" sldId="299"/>
            <ac:spMk id="8" creationId="{6C9C4F34-55DD-1B49-87D7-49B1EBF7F8EC}"/>
          </ac:spMkLst>
        </pc:spChg>
        <pc:graphicFrameChg chg="mod modGraphic">
          <ac:chgData name="Абрамова Надежда Робертовна" userId="98be7548-a651-4b95-923b-e1e51aa70311" providerId="ADAL" clId="{3A7A0262-F72D-CF40-8B9F-871A5CEC706F}" dt="2022-10-10T13:15:26.520" v="192"/>
          <ac:graphicFrameMkLst>
            <pc:docMk/>
            <pc:sldMk cId="4128394876" sldId="299"/>
            <ac:graphicFrameMk id="9" creationId="{BE7E465B-E4F9-DC4B-9A6F-2C4ACA00E732}"/>
          </ac:graphicFrameMkLst>
        </pc:graphicFrameChg>
      </pc:sldChg>
      <pc:sldChg chg="new ord">
        <pc:chgData name="Абрамова Надежда Робертовна" userId="98be7548-a651-4b95-923b-e1e51aa70311" providerId="ADAL" clId="{3A7A0262-F72D-CF40-8B9F-871A5CEC706F}" dt="2022-10-07T13:03:56.828" v="93" actId="20578"/>
        <pc:sldMkLst>
          <pc:docMk/>
          <pc:sldMk cId="3185509846" sldId="300"/>
        </pc:sldMkLst>
      </pc:sldChg>
      <pc:sldChg chg="new">
        <pc:chgData name="Абрамова Надежда Робертовна" userId="98be7548-a651-4b95-923b-e1e51aa70311" providerId="ADAL" clId="{3A7A0262-F72D-CF40-8B9F-871A5CEC706F}" dt="2022-10-07T13:04:36.530" v="94" actId="680"/>
        <pc:sldMkLst>
          <pc:docMk/>
          <pc:sldMk cId="786614488" sldId="301"/>
        </pc:sldMkLst>
      </pc:sldChg>
      <pc:sldChg chg="new">
        <pc:chgData name="Абрамова Надежда Робертовна" userId="98be7548-a651-4b95-923b-e1e51aa70311" providerId="ADAL" clId="{3A7A0262-F72D-CF40-8B9F-871A5CEC706F}" dt="2022-10-07T13:05:39.059" v="96" actId="680"/>
        <pc:sldMkLst>
          <pc:docMk/>
          <pc:sldMk cId="1247343881" sldId="302"/>
        </pc:sldMkLst>
      </pc:sldChg>
      <pc:sldChg chg="new ord">
        <pc:chgData name="Абрамова Надежда Робертовна" userId="98be7548-a651-4b95-923b-e1e51aa70311" providerId="ADAL" clId="{3A7A0262-F72D-CF40-8B9F-871A5CEC706F}" dt="2022-10-07T13:07:20.994" v="107" actId="20578"/>
        <pc:sldMkLst>
          <pc:docMk/>
          <pc:sldMk cId="1308392120" sldId="303"/>
        </pc:sldMkLst>
      </pc:sldChg>
      <pc:sldChg chg="new">
        <pc:chgData name="Абрамова Надежда Робертовна" userId="98be7548-a651-4b95-923b-e1e51aa70311" providerId="ADAL" clId="{3A7A0262-F72D-CF40-8B9F-871A5CEC706F}" dt="2022-10-07T13:09:19.168" v="114" actId="680"/>
        <pc:sldMkLst>
          <pc:docMk/>
          <pc:sldMk cId="2097425266" sldId="304"/>
        </pc:sldMkLst>
      </pc:sldChg>
      <pc:sldMasterChg chg="modSp addSldLayout modSldLayout">
        <pc:chgData name="Абрамова Надежда Робертовна" userId="98be7548-a651-4b95-923b-e1e51aa70311" providerId="ADAL" clId="{3A7A0262-F72D-CF40-8B9F-871A5CEC706F}" dt="2022-10-19T15:41:34.952" v="194" actId="478"/>
        <pc:sldMasterMkLst>
          <pc:docMk/>
          <pc:sldMasterMk cId="578506015" sldId="2147483648"/>
        </pc:sldMasterMkLst>
        <pc:sldLayoutChg chg="modSp mod">
          <pc:chgData name="Абрамова Надежда Робертовна" userId="98be7548-a651-4b95-923b-e1e51aa70311" providerId="ADAL" clId="{3A7A0262-F72D-CF40-8B9F-871A5CEC706F}" dt="2022-10-07T13:13:36.745" v="133" actId="6014"/>
          <pc:sldLayoutMkLst>
            <pc:docMk/>
            <pc:sldMasterMk cId="578506015" sldId="2147483648"/>
            <pc:sldLayoutMk cId="4182895918" sldId="2147483649"/>
          </pc:sldLayoutMkLst>
          <pc:picChg chg="mod">
            <ac:chgData name="Абрамова Надежда Робертовна" userId="98be7548-a651-4b95-923b-e1e51aa70311" providerId="ADAL" clId="{3A7A0262-F72D-CF40-8B9F-871A5CEC706F}" dt="2022-10-07T12:37:56.784" v="0" actId="14826"/>
            <ac:picMkLst>
              <pc:docMk/>
              <pc:sldMasterMk cId="578506015" sldId="2147483648"/>
              <pc:sldLayoutMk cId="4182895918" sldId="2147483649"/>
              <ac:picMk id="7" creationId="{BA292C80-0DA8-194A-9A66-279048FA2A54}"/>
            </ac:picMkLst>
          </pc:picChg>
        </pc:sldLayoutChg>
        <pc:sldLayoutChg chg="addSp delSp modSp mod">
          <pc:chgData name="Абрамова Надежда Робертовна" userId="98be7548-a651-4b95-923b-e1e51aa70311" providerId="ADAL" clId="{3A7A0262-F72D-CF40-8B9F-871A5CEC706F}" dt="2022-10-07T13:14:02.485" v="136" actId="6014"/>
          <pc:sldLayoutMkLst>
            <pc:docMk/>
            <pc:sldMasterMk cId="578506015" sldId="2147483648"/>
            <pc:sldLayoutMk cId="663795632" sldId="2147483650"/>
          </pc:sldLayoutMkLst>
          <pc:spChg chg="add mod">
            <ac:chgData name="Абрамова Надежда Робертовна" userId="98be7548-a651-4b95-923b-e1e51aa70311" providerId="ADAL" clId="{3A7A0262-F72D-CF40-8B9F-871A5CEC706F}" dt="2022-10-07T12:41:36.967" v="20"/>
            <ac:spMkLst>
              <pc:docMk/>
              <pc:sldMasterMk cId="578506015" sldId="2147483648"/>
              <pc:sldLayoutMk cId="663795632" sldId="2147483650"/>
              <ac:spMk id="2" creationId="{303076C2-6778-96FB-B780-FEF515930096}"/>
            </ac:spMkLst>
          </pc:spChg>
          <pc:spChg chg="del">
            <ac:chgData name="Абрамова Надежда Робертовна" userId="98be7548-a651-4b95-923b-e1e51aa70311" providerId="ADAL" clId="{3A7A0262-F72D-CF40-8B9F-871A5CEC706F}" dt="2022-10-07T12:41:36.553" v="19" actId="478"/>
            <ac:spMkLst>
              <pc:docMk/>
              <pc:sldMasterMk cId="578506015" sldId="2147483648"/>
              <pc:sldLayoutMk cId="663795632" sldId="2147483650"/>
              <ac:spMk id="11" creationId="{05ECCF8F-5855-7943-B503-5573887A534D}"/>
            </ac:spMkLst>
          </pc:spChg>
          <pc:spChg chg="mod">
            <ac:chgData name="Абрамова Надежда Робертовна" userId="98be7548-a651-4b95-923b-e1e51aa70311" providerId="ADAL" clId="{3A7A0262-F72D-CF40-8B9F-871A5CEC706F}" dt="2022-10-07T12:44:41.046" v="53" actId="14100"/>
            <ac:spMkLst>
              <pc:docMk/>
              <pc:sldMasterMk cId="578506015" sldId="2147483648"/>
              <pc:sldLayoutMk cId="663795632" sldId="2147483650"/>
              <ac:spMk id="15" creationId="{87E14987-3496-B241-A4C9-88FACDD837F5}"/>
            </ac:spMkLst>
          </pc:spChg>
        </pc:sldLayoutChg>
        <pc:sldLayoutChg chg="addSp delSp modSp mod">
          <pc:chgData name="Абрамова Надежда Робертовна" userId="98be7548-a651-4b95-923b-e1e51aa70311" providerId="ADAL" clId="{3A7A0262-F72D-CF40-8B9F-871A5CEC706F}" dt="2022-10-07T13:14:22.316" v="137" actId="6014"/>
          <pc:sldLayoutMkLst>
            <pc:docMk/>
            <pc:sldMasterMk cId="578506015" sldId="2147483648"/>
            <pc:sldLayoutMk cId="2507113422" sldId="2147483651"/>
          </pc:sldLayoutMkLst>
          <pc:spChg chg="add mod">
            <ac:chgData name="Абрамова Надежда Робертовна" userId="98be7548-a651-4b95-923b-e1e51aa70311" providerId="ADAL" clId="{3A7A0262-F72D-CF40-8B9F-871A5CEC706F}" dt="2022-10-07T12:41:42.161" v="22"/>
            <ac:spMkLst>
              <pc:docMk/>
              <pc:sldMasterMk cId="578506015" sldId="2147483648"/>
              <pc:sldLayoutMk cId="2507113422" sldId="2147483651"/>
              <ac:spMk id="2" creationId="{819F2188-296C-D6E4-A87F-7FEBCF5365B3}"/>
            </ac:spMkLst>
          </pc:spChg>
          <pc:spChg chg="del">
            <ac:chgData name="Абрамова Надежда Робертовна" userId="98be7548-a651-4b95-923b-e1e51aa70311" providerId="ADAL" clId="{3A7A0262-F72D-CF40-8B9F-871A5CEC706F}" dt="2022-10-07T12:41:41.109" v="21" actId="478"/>
            <ac:spMkLst>
              <pc:docMk/>
              <pc:sldMasterMk cId="578506015" sldId="2147483648"/>
              <pc:sldLayoutMk cId="2507113422" sldId="2147483651"/>
              <ac:spMk id="11" creationId="{66DF89EC-1E7C-3B40-85F4-6D19A7D29AC7}"/>
            </ac:spMkLst>
          </pc:spChg>
          <pc:spChg chg="mod">
            <ac:chgData name="Абрамова Надежда Робертовна" userId="98be7548-a651-4b95-923b-e1e51aa70311" providerId="ADAL" clId="{3A7A0262-F72D-CF40-8B9F-871A5CEC706F}" dt="2022-10-07T12:44:48.370" v="54" actId="14100"/>
            <ac:spMkLst>
              <pc:docMk/>
              <pc:sldMasterMk cId="578506015" sldId="2147483648"/>
              <pc:sldLayoutMk cId="2507113422" sldId="2147483651"/>
              <ac:spMk id="15" creationId="{F0037DB7-9A83-3348-8DAE-CC70560E4099}"/>
            </ac:spMkLst>
          </pc:spChg>
          <pc:spChg chg="del">
            <ac:chgData name="Абрамова Надежда Робертовна" userId="98be7548-a651-4b95-923b-e1e51aa70311" providerId="ADAL" clId="{3A7A0262-F72D-CF40-8B9F-871A5CEC706F}" dt="2022-10-07T12:42:45.350" v="37" actId="478"/>
            <ac:spMkLst>
              <pc:docMk/>
              <pc:sldMasterMk cId="578506015" sldId="2147483648"/>
              <pc:sldLayoutMk cId="2507113422" sldId="2147483651"/>
              <ac:spMk id="20" creationId="{4007716A-CF6E-BC4E-83BE-CC4A3F1F2008}"/>
            </ac:spMkLst>
          </pc:spChg>
          <pc:spChg chg="del">
            <ac:chgData name="Абрамова Надежда Робертовна" userId="98be7548-a651-4b95-923b-e1e51aa70311" providerId="ADAL" clId="{3A7A0262-F72D-CF40-8B9F-871A5CEC706F}" dt="2022-10-07T12:42:48.432" v="38" actId="478"/>
            <ac:spMkLst>
              <pc:docMk/>
              <pc:sldMasterMk cId="578506015" sldId="2147483648"/>
              <pc:sldLayoutMk cId="2507113422" sldId="2147483651"/>
              <ac:spMk id="22" creationId="{4921AC85-F824-C54B-91ED-6AB495D80D7A}"/>
            </ac:spMkLst>
          </pc:spChg>
        </pc:sldLayoutChg>
        <pc:sldLayoutChg chg="addSp delSp modSp mod">
          <pc:chgData name="Абрамова Надежда Робертовна" userId="98be7548-a651-4b95-923b-e1e51aa70311" providerId="ADAL" clId="{3A7A0262-F72D-CF40-8B9F-871A5CEC706F}" dt="2022-10-07T13:28:14.156" v="149"/>
          <pc:sldLayoutMkLst>
            <pc:docMk/>
            <pc:sldMasterMk cId="578506015" sldId="2147483648"/>
            <pc:sldLayoutMk cId="764889845" sldId="2147483652"/>
          </pc:sldLayoutMkLst>
          <pc:spChg chg="add mod">
            <ac:chgData name="Абрамова Надежда Робертовна" userId="98be7548-a651-4b95-923b-e1e51aa70311" providerId="ADAL" clId="{3A7A0262-F72D-CF40-8B9F-871A5CEC706F}" dt="2022-10-07T12:41:47.005" v="24"/>
            <ac:spMkLst>
              <pc:docMk/>
              <pc:sldMasterMk cId="578506015" sldId="2147483648"/>
              <pc:sldLayoutMk cId="764889845" sldId="2147483652"/>
              <ac:spMk id="2" creationId="{6E1D1A8A-1BAA-23BE-0B81-61FD29BE0D3E}"/>
            </ac:spMkLst>
          </pc:spChg>
          <pc:spChg chg="del">
            <ac:chgData name="Абрамова Надежда Робертовна" userId="98be7548-a651-4b95-923b-e1e51aa70311" providerId="ADAL" clId="{3A7A0262-F72D-CF40-8B9F-871A5CEC706F}" dt="2022-10-07T12:41:46.611" v="23" actId="478"/>
            <ac:spMkLst>
              <pc:docMk/>
              <pc:sldMasterMk cId="578506015" sldId="2147483648"/>
              <pc:sldLayoutMk cId="764889845" sldId="2147483652"/>
              <ac:spMk id="12" creationId="{C65A5D7C-EB12-9D4D-A99A-4B26C81B7387}"/>
            </ac:spMkLst>
          </pc:spChg>
          <pc:spChg chg="mod">
            <ac:chgData name="Абрамова Надежда Робертовна" userId="98be7548-a651-4b95-923b-e1e51aa70311" providerId="ADAL" clId="{3A7A0262-F72D-CF40-8B9F-871A5CEC706F}" dt="2022-10-07T12:44:54.276" v="55" actId="14100"/>
            <ac:spMkLst>
              <pc:docMk/>
              <pc:sldMasterMk cId="578506015" sldId="2147483648"/>
              <pc:sldLayoutMk cId="764889845" sldId="2147483652"/>
              <ac:spMk id="16" creationId="{EB05FE86-9EEC-B64C-A6A4-0EF1E57F548F}"/>
            </ac:spMkLst>
          </pc:spChg>
          <pc:spChg chg="del">
            <ac:chgData name="Абрамова Надежда Робертовна" userId="98be7548-a651-4b95-923b-e1e51aa70311" providerId="ADAL" clId="{3A7A0262-F72D-CF40-8B9F-871A5CEC706F}" dt="2022-10-07T12:43:53.594" v="47" actId="478"/>
            <ac:spMkLst>
              <pc:docMk/>
              <pc:sldMasterMk cId="578506015" sldId="2147483648"/>
              <pc:sldLayoutMk cId="764889845" sldId="2147483652"/>
              <ac:spMk id="18" creationId="{897B1CBC-D3E1-5F42-9E46-5C5D5982A1A4}"/>
            </ac:spMkLst>
          </pc:spChg>
          <pc:spChg chg="del">
            <ac:chgData name="Абрамова Надежда Робертовна" userId="98be7548-a651-4b95-923b-e1e51aa70311" providerId="ADAL" clId="{3A7A0262-F72D-CF40-8B9F-871A5CEC706F}" dt="2022-10-07T12:43:53.594" v="47" actId="478"/>
            <ac:spMkLst>
              <pc:docMk/>
              <pc:sldMasterMk cId="578506015" sldId="2147483648"/>
              <pc:sldLayoutMk cId="764889845" sldId="2147483652"/>
              <ac:spMk id="19" creationId="{364269E6-245A-D54E-A8AD-14E29A03FAC1}"/>
            </ac:spMkLst>
          </pc:spChg>
          <pc:spChg chg="mod">
            <ac:chgData name="Абрамова Надежда Робертовна" userId="98be7548-a651-4b95-923b-e1e51aa70311" providerId="ADAL" clId="{3A7A0262-F72D-CF40-8B9F-871A5CEC706F}" dt="2022-10-07T13:28:14.156" v="149"/>
            <ac:spMkLst>
              <pc:docMk/>
              <pc:sldMasterMk cId="578506015" sldId="2147483648"/>
              <pc:sldLayoutMk cId="764889845" sldId="2147483652"/>
              <ac:spMk id="20" creationId="{5812BF3C-1D24-3640-84D2-BFFCA525AE5F}"/>
            </ac:spMkLst>
          </pc:spChg>
        </pc:sldLayoutChg>
        <pc:sldLayoutChg chg="addSp delSp modSp mod">
          <pc:chgData name="Абрамова Надежда Робертовна" userId="98be7548-a651-4b95-923b-e1e51aa70311" providerId="ADAL" clId="{3A7A0262-F72D-CF40-8B9F-871A5CEC706F}" dt="2022-10-07T13:14:58.287" v="139" actId="6014"/>
          <pc:sldLayoutMkLst>
            <pc:docMk/>
            <pc:sldMasterMk cId="578506015" sldId="2147483648"/>
            <pc:sldLayoutMk cId="2057052302" sldId="2147483654"/>
          </pc:sldLayoutMkLst>
          <pc:spChg chg="add mod">
            <ac:chgData name="Абрамова Надежда Робертовна" userId="98be7548-a651-4b95-923b-e1e51aa70311" providerId="ADAL" clId="{3A7A0262-F72D-CF40-8B9F-871A5CEC706F}" dt="2022-10-07T12:41:51.064" v="26"/>
            <ac:spMkLst>
              <pc:docMk/>
              <pc:sldMasterMk cId="578506015" sldId="2147483648"/>
              <pc:sldLayoutMk cId="2057052302" sldId="2147483654"/>
              <ac:spMk id="2" creationId="{CD22D4E5-D665-1D46-C611-B5AA8153EF16}"/>
            </ac:spMkLst>
          </pc:spChg>
          <pc:spChg chg="del">
            <ac:chgData name="Абрамова Надежда Робертовна" userId="98be7548-a651-4b95-923b-e1e51aa70311" providerId="ADAL" clId="{3A7A0262-F72D-CF40-8B9F-871A5CEC706F}" dt="2022-10-07T12:41:50.706" v="25" actId="478"/>
            <ac:spMkLst>
              <pc:docMk/>
              <pc:sldMasterMk cId="578506015" sldId="2147483648"/>
              <pc:sldLayoutMk cId="2057052302" sldId="2147483654"/>
              <ac:spMk id="10" creationId="{30460EF6-ECAD-8941-8132-1B3E005D6067}"/>
            </ac:spMkLst>
          </pc:spChg>
          <pc:spChg chg="mod">
            <ac:chgData name="Абрамова Надежда Робертовна" userId="98be7548-a651-4b95-923b-e1e51aa70311" providerId="ADAL" clId="{3A7A0262-F72D-CF40-8B9F-871A5CEC706F}" dt="2022-10-07T12:45:27.182" v="62" actId="14100"/>
            <ac:spMkLst>
              <pc:docMk/>
              <pc:sldMasterMk cId="578506015" sldId="2147483648"/>
              <pc:sldLayoutMk cId="2057052302" sldId="2147483654"/>
              <ac:spMk id="18" creationId="{37B4962B-A5BA-AB4F-AFB3-5BF3A0AD0352}"/>
            </ac:spMkLst>
          </pc:spChg>
          <pc:spChg chg="del">
            <ac:chgData name="Абрамова Надежда Робертовна" userId="98be7548-a651-4b95-923b-e1e51aa70311" providerId="ADAL" clId="{3A7A0262-F72D-CF40-8B9F-871A5CEC706F}" dt="2022-10-07T12:44:59.292" v="56" actId="478"/>
            <ac:spMkLst>
              <pc:docMk/>
              <pc:sldMasterMk cId="578506015" sldId="2147483648"/>
              <pc:sldLayoutMk cId="2057052302" sldId="2147483654"/>
              <ac:spMk id="19" creationId="{78AD85C2-6CFD-A94C-8134-2B3392A33196}"/>
            </ac:spMkLst>
          </pc:spChg>
          <pc:spChg chg="del">
            <ac:chgData name="Абрамова Надежда Робертовна" userId="98be7548-a651-4b95-923b-e1e51aa70311" providerId="ADAL" clId="{3A7A0262-F72D-CF40-8B9F-871A5CEC706F}" dt="2022-10-07T12:44:59.292" v="56" actId="478"/>
            <ac:spMkLst>
              <pc:docMk/>
              <pc:sldMasterMk cId="578506015" sldId="2147483648"/>
              <pc:sldLayoutMk cId="2057052302" sldId="2147483654"/>
              <ac:spMk id="20" creationId="{C50CF571-E523-5440-B1C9-D74160206AED}"/>
            </ac:spMkLst>
          </pc:spChg>
        </pc:sldLayoutChg>
        <pc:sldLayoutChg chg="addSp delSp modSp mod">
          <pc:chgData name="Абрамова Надежда Робертовна" userId="98be7548-a651-4b95-923b-e1e51aa70311" providerId="ADAL" clId="{3A7A0262-F72D-CF40-8B9F-871A5CEC706F}" dt="2022-10-07T13:15:10.359" v="140" actId="6014"/>
          <pc:sldLayoutMkLst>
            <pc:docMk/>
            <pc:sldMasterMk cId="578506015" sldId="2147483648"/>
            <pc:sldLayoutMk cId="2440160323" sldId="2147483655"/>
          </pc:sldLayoutMkLst>
          <pc:spChg chg="add mod">
            <ac:chgData name="Абрамова Надежда Робертовна" userId="98be7548-a651-4b95-923b-e1e51aa70311" providerId="ADAL" clId="{3A7A0262-F72D-CF40-8B9F-871A5CEC706F}" dt="2022-10-07T12:41:56.220" v="28"/>
            <ac:spMkLst>
              <pc:docMk/>
              <pc:sldMasterMk cId="578506015" sldId="2147483648"/>
              <pc:sldLayoutMk cId="2440160323" sldId="2147483655"/>
              <ac:spMk id="2" creationId="{79175F3C-D697-F284-CCA4-949DC9DC4EE5}"/>
            </ac:spMkLst>
          </pc:spChg>
          <pc:spChg chg="del">
            <ac:chgData name="Абрамова Надежда Робертовна" userId="98be7548-a651-4b95-923b-e1e51aa70311" providerId="ADAL" clId="{3A7A0262-F72D-CF40-8B9F-871A5CEC706F}" dt="2022-10-07T12:41:55.825" v="27" actId="478"/>
            <ac:spMkLst>
              <pc:docMk/>
              <pc:sldMasterMk cId="578506015" sldId="2147483648"/>
              <pc:sldLayoutMk cId="2440160323" sldId="2147483655"/>
              <ac:spMk id="9" creationId="{764502F5-56EE-354B-A3B1-E79F8B005172}"/>
            </ac:spMkLst>
          </pc:spChg>
          <pc:spChg chg="mod">
            <ac:chgData name="Абрамова Надежда Робертовна" userId="98be7548-a651-4b95-923b-e1e51aa70311" providerId="ADAL" clId="{3A7A0262-F72D-CF40-8B9F-871A5CEC706F}" dt="2022-10-07T12:45:18.734" v="61" actId="14100"/>
            <ac:spMkLst>
              <pc:docMk/>
              <pc:sldMasterMk cId="578506015" sldId="2147483648"/>
              <pc:sldLayoutMk cId="2440160323" sldId="2147483655"/>
              <ac:spMk id="16" creationId="{252B365F-6D89-0045-99CC-0F0D3EF2DA0F}"/>
            </ac:spMkLst>
          </pc:spChg>
          <pc:spChg chg="del">
            <ac:chgData name="Абрамова Надежда Робертовна" userId="98be7548-a651-4b95-923b-e1e51aa70311" providerId="ADAL" clId="{3A7A0262-F72D-CF40-8B9F-871A5CEC706F}" dt="2022-10-07T12:45:14.031" v="60" actId="478"/>
            <ac:spMkLst>
              <pc:docMk/>
              <pc:sldMasterMk cId="578506015" sldId="2147483648"/>
              <pc:sldLayoutMk cId="2440160323" sldId="2147483655"/>
              <ac:spMk id="18" creationId="{C9CC4AE0-EDCC-9A4F-97C4-4CAFF1F1EBCF}"/>
            </ac:spMkLst>
          </pc:spChg>
          <pc:spChg chg="del">
            <ac:chgData name="Абрамова Надежда Робертовна" userId="98be7548-a651-4b95-923b-e1e51aa70311" providerId="ADAL" clId="{3A7A0262-F72D-CF40-8B9F-871A5CEC706F}" dt="2022-10-07T12:45:14.031" v="60" actId="478"/>
            <ac:spMkLst>
              <pc:docMk/>
              <pc:sldMasterMk cId="578506015" sldId="2147483648"/>
              <pc:sldLayoutMk cId="2440160323" sldId="2147483655"/>
              <ac:spMk id="20" creationId="{185F6674-A1EC-1846-AEB5-DA4959807147}"/>
            </ac:spMkLst>
          </pc:spChg>
        </pc:sldLayoutChg>
        <pc:sldLayoutChg chg="addSp delSp modSp mod">
          <pc:chgData name="Абрамова Надежда Робертовна" userId="98be7548-a651-4b95-923b-e1e51aa70311" providerId="ADAL" clId="{3A7A0262-F72D-CF40-8B9F-871A5CEC706F}" dt="2022-10-07T13:15:17.500" v="141" actId="6014"/>
          <pc:sldLayoutMkLst>
            <pc:docMk/>
            <pc:sldMasterMk cId="578506015" sldId="2147483648"/>
            <pc:sldLayoutMk cId="323677154" sldId="2147483656"/>
          </pc:sldLayoutMkLst>
          <pc:spChg chg="add mod">
            <ac:chgData name="Абрамова Надежда Робертовна" userId="98be7548-a651-4b95-923b-e1e51aa70311" providerId="ADAL" clId="{3A7A0262-F72D-CF40-8B9F-871A5CEC706F}" dt="2022-10-07T12:42:01.311" v="30"/>
            <ac:spMkLst>
              <pc:docMk/>
              <pc:sldMasterMk cId="578506015" sldId="2147483648"/>
              <pc:sldLayoutMk cId="323677154" sldId="2147483656"/>
              <ac:spMk id="2" creationId="{6E5BA2AA-1728-31CB-C0F3-2AFE560EE042}"/>
            </ac:spMkLst>
          </pc:spChg>
          <pc:spChg chg="del">
            <ac:chgData name="Абрамова Надежда Робертовна" userId="98be7548-a651-4b95-923b-e1e51aa70311" providerId="ADAL" clId="{3A7A0262-F72D-CF40-8B9F-871A5CEC706F}" dt="2022-10-07T12:42:00.899" v="29" actId="478"/>
            <ac:spMkLst>
              <pc:docMk/>
              <pc:sldMasterMk cId="578506015" sldId="2147483648"/>
              <pc:sldLayoutMk cId="323677154" sldId="2147483656"/>
              <ac:spMk id="12" creationId="{F33F65D6-1072-F140-B6A5-758D7B595A92}"/>
            </ac:spMkLst>
          </pc:spChg>
          <pc:spChg chg="mod">
            <ac:chgData name="Абрамова Надежда Робертовна" userId="98be7548-a651-4b95-923b-e1e51aa70311" providerId="ADAL" clId="{3A7A0262-F72D-CF40-8B9F-871A5CEC706F}" dt="2022-10-07T12:45:44.665" v="66" actId="14100"/>
            <ac:spMkLst>
              <pc:docMk/>
              <pc:sldMasterMk cId="578506015" sldId="2147483648"/>
              <pc:sldLayoutMk cId="323677154" sldId="2147483656"/>
              <ac:spMk id="16" creationId="{6809E15B-CD0E-2F47-B500-B457A9CCBB37}"/>
            </ac:spMkLst>
          </pc:spChg>
          <pc:spChg chg="mod">
            <ac:chgData name="Абрамова Надежда Робертовна" userId="98be7548-a651-4b95-923b-e1e51aa70311" providerId="ADAL" clId="{3A7A0262-F72D-CF40-8B9F-871A5CEC706F}" dt="2022-10-07T13:00:18.890" v="82" actId="16037"/>
            <ac:spMkLst>
              <pc:docMk/>
              <pc:sldMasterMk cId="578506015" sldId="2147483648"/>
              <pc:sldLayoutMk cId="323677154" sldId="2147483656"/>
              <ac:spMk id="20" creationId="{DD467C42-8209-B740-8419-DBB6A6F7D5EE}"/>
            </ac:spMkLst>
          </pc:spChg>
          <pc:spChg chg="del">
            <ac:chgData name="Абрамова Надежда Робертовна" userId="98be7548-a651-4b95-923b-e1e51aa70311" providerId="ADAL" clId="{3A7A0262-F72D-CF40-8B9F-871A5CEC706F}" dt="2022-10-07T12:45:35.057" v="63" actId="478"/>
            <ac:spMkLst>
              <pc:docMk/>
              <pc:sldMasterMk cId="578506015" sldId="2147483648"/>
              <pc:sldLayoutMk cId="323677154" sldId="2147483656"/>
              <ac:spMk id="22" creationId="{7E0B9771-35DC-D24C-B598-648DE6F8DE64}"/>
            </ac:spMkLst>
          </pc:spChg>
          <pc:spChg chg="del">
            <ac:chgData name="Абрамова Надежда Робертовна" userId="98be7548-a651-4b95-923b-e1e51aa70311" providerId="ADAL" clId="{3A7A0262-F72D-CF40-8B9F-871A5CEC706F}" dt="2022-10-07T12:45:35.057" v="63" actId="478"/>
            <ac:spMkLst>
              <pc:docMk/>
              <pc:sldMasterMk cId="578506015" sldId="2147483648"/>
              <pc:sldLayoutMk cId="323677154" sldId="2147483656"/>
              <ac:spMk id="23" creationId="{5B1ACD18-BD14-2B4B-BA0A-46A5167E2C75}"/>
            </ac:spMkLst>
          </pc:spChg>
        </pc:sldLayoutChg>
        <pc:sldLayoutChg chg="addSp delSp modSp mod">
          <pc:chgData name="Абрамова Надежда Робертовна" userId="98be7548-a651-4b95-923b-e1e51aa70311" providerId="ADAL" clId="{3A7A0262-F72D-CF40-8B9F-871A5CEC706F}" dt="2022-10-07T13:16:27.208" v="148" actId="6014"/>
          <pc:sldLayoutMkLst>
            <pc:docMk/>
            <pc:sldMasterMk cId="578506015" sldId="2147483648"/>
            <pc:sldLayoutMk cId="319520987" sldId="2147483657"/>
          </pc:sldLayoutMkLst>
          <pc:spChg chg="add mod">
            <ac:chgData name="Абрамова Надежда Робертовна" userId="98be7548-a651-4b95-923b-e1e51aa70311" providerId="ADAL" clId="{3A7A0262-F72D-CF40-8B9F-871A5CEC706F}" dt="2022-10-07T12:42:11.425" v="34"/>
            <ac:spMkLst>
              <pc:docMk/>
              <pc:sldMasterMk cId="578506015" sldId="2147483648"/>
              <pc:sldLayoutMk cId="319520987" sldId="2147483657"/>
              <ac:spMk id="2" creationId="{E96B08B3-6777-47E7-1006-BC9A7F8847C5}"/>
            </ac:spMkLst>
          </pc:spChg>
          <pc:spChg chg="del">
            <ac:chgData name="Абрамова Надежда Робертовна" userId="98be7548-a651-4b95-923b-e1e51aa70311" providerId="ADAL" clId="{3A7A0262-F72D-CF40-8B9F-871A5CEC706F}" dt="2022-10-07T12:42:11.069" v="33" actId="478"/>
            <ac:spMkLst>
              <pc:docMk/>
              <pc:sldMasterMk cId="578506015" sldId="2147483648"/>
              <pc:sldLayoutMk cId="319520987" sldId="2147483657"/>
              <ac:spMk id="12" creationId="{C62171D1-2A5B-7A4A-9760-17CCE51B9802}"/>
            </ac:spMkLst>
          </pc:spChg>
          <pc:spChg chg="mod">
            <ac:chgData name="Абрамова Надежда Робертовна" userId="98be7548-a651-4b95-923b-e1e51aa70311" providerId="ADAL" clId="{3A7A0262-F72D-CF40-8B9F-871A5CEC706F}" dt="2022-10-07T12:46:08.066" v="74" actId="14100"/>
            <ac:spMkLst>
              <pc:docMk/>
              <pc:sldMasterMk cId="578506015" sldId="2147483648"/>
              <pc:sldLayoutMk cId="319520987" sldId="2147483657"/>
              <ac:spMk id="20" creationId="{C0A1CB46-D6D6-5E48-B4F7-CCED4525C46F}"/>
            </ac:spMkLst>
          </pc:spChg>
          <pc:spChg chg="del">
            <ac:chgData name="Абрамова Надежда Робертовна" userId="98be7548-a651-4b95-923b-e1e51aa70311" providerId="ADAL" clId="{3A7A0262-F72D-CF40-8B9F-871A5CEC706F}" dt="2022-10-07T12:45:59.504" v="70" actId="478"/>
            <ac:spMkLst>
              <pc:docMk/>
              <pc:sldMasterMk cId="578506015" sldId="2147483648"/>
              <pc:sldLayoutMk cId="319520987" sldId="2147483657"/>
              <ac:spMk id="21" creationId="{25D35A19-1AA8-204A-BFCA-83B65D59CFF4}"/>
            </ac:spMkLst>
          </pc:spChg>
          <pc:spChg chg="del">
            <ac:chgData name="Абрамова Надежда Робертовна" userId="98be7548-a651-4b95-923b-e1e51aa70311" providerId="ADAL" clId="{3A7A0262-F72D-CF40-8B9F-871A5CEC706F}" dt="2022-10-07T12:45:59.504" v="70" actId="478"/>
            <ac:spMkLst>
              <pc:docMk/>
              <pc:sldMasterMk cId="578506015" sldId="2147483648"/>
              <pc:sldLayoutMk cId="319520987" sldId="2147483657"/>
              <ac:spMk id="22" creationId="{3557077C-F503-0B4A-82A2-54D21547E589}"/>
            </ac:spMkLst>
          </pc:spChg>
          <pc:picChg chg="add del mod">
            <ac:chgData name="Абрамова Надежда Робертовна" userId="98be7548-a651-4b95-923b-e1e51aa70311" providerId="ADAL" clId="{3A7A0262-F72D-CF40-8B9F-871A5CEC706F}" dt="2022-10-07T12:46:57.486" v="76" actId="478"/>
            <ac:picMkLst>
              <pc:docMk/>
              <pc:sldMasterMk cId="578506015" sldId="2147483648"/>
              <pc:sldLayoutMk cId="319520987" sldId="2147483657"/>
              <ac:picMk id="3" creationId="{E5FEA333-66B4-B24A-C3F9-799CADFE8ED3}"/>
            </ac:picMkLst>
          </pc:picChg>
        </pc:sldLayoutChg>
        <pc:sldLayoutChg chg="addSp delSp modSp mod">
          <pc:chgData name="Абрамова Надежда Робертовна" userId="98be7548-a651-4b95-923b-e1e51aa70311" providerId="ADAL" clId="{3A7A0262-F72D-CF40-8B9F-871A5CEC706F}" dt="2022-10-10T12:47:19.452" v="153" actId="478"/>
          <pc:sldLayoutMkLst>
            <pc:docMk/>
            <pc:sldMasterMk cId="578506015" sldId="2147483648"/>
            <pc:sldLayoutMk cId="3867054648" sldId="2147483658"/>
          </pc:sldLayoutMkLst>
          <pc:spChg chg="add mod">
            <ac:chgData name="Абрамова Надежда Робертовна" userId="98be7548-a651-4b95-923b-e1e51aa70311" providerId="ADAL" clId="{3A7A0262-F72D-CF40-8B9F-871A5CEC706F}" dt="2022-10-07T12:42:06.003" v="32"/>
            <ac:spMkLst>
              <pc:docMk/>
              <pc:sldMasterMk cId="578506015" sldId="2147483648"/>
              <pc:sldLayoutMk cId="3867054648" sldId="2147483658"/>
              <ac:spMk id="2" creationId="{3248AC60-C055-4FC2-9350-970DB9C40049}"/>
            </ac:spMkLst>
          </pc:spChg>
          <pc:spChg chg="add del mod">
            <ac:chgData name="Абрамова Надежда Робертовна" userId="98be7548-a651-4b95-923b-e1e51aa70311" providerId="ADAL" clId="{3A7A0262-F72D-CF40-8B9F-871A5CEC706F}" dt="2022-10-10T12:47:19.452" v="153" actId="478"/>
            <ac:spMkLst>
              <pc:docMk/>
              <pc:sldMasterMk cId="578506015" sldId="2147483648"/>
              <pc:sldLayoutMk cId="3867054648" sldId="2147483658"/>
              <ac:spMk id="3" creationId="{2842F90F-8FEE-3157-5F8C-2879CE99C6A0}"/>
            </ac:spMkLst>
          </pc:spChg>
          <pc:spChg chg="del">
            <ac:chgData name="Абрамова Надежда Робертовна" userId="98be7548-a651-4b95-923b-e1e51aa70311" providerId="ADAL" clId="{3A7A0262-F72D-CF40-8B9F-871A5CEC706F}" dt="2022-10-07T12:42:05.613" v="31" actId="478"/>
            <ac:spMkLst>
              <pc:docMk/>
              <pc:sldMasterMk cId="578506015" sldId="2147483648"/>
              <pc:sldLayoutMk cId="3867054648" sldId="2147483658"/>
              <ac:spMk id="11" creationId="{3A39D099-B515-F343-BF7A-A95468DA3860}"/>
            </ac:spMkLst>
          </pc:spChg>
          <pc:spChg chg="mod">
            <ac:chgData name="Абрамова Надежда Робертовна" userId="98be7548-a651-4b95-923b-e1e51aa70311" providerId="ADAL" clId="{3A7A0262-F72D-CF40-8B9F-871A5CEC706F}" dt="2022-10-07T13:15:51.930" v="143" actId="20577"/>
            <ac:spMkLst>
              <pc:docMk/>
              <pc:sldMasterMk cId="578506015" sldId="2147483648"/>
              <pc:sldLayoutMk cId="3867054648" sldId="2147483658"/>
              <ac:spMk id="19" creationId="{1C20890C-BC1C-0745-9AF3-46700BA27C4A}"/>
            </ac:spMkLst>
          </pc:spChg>
          <pc:spChg chg="mod">
            <ac:chgData name="Абрамова Надежда Робертовна" userId="98be7548-a651-4b95-923b-e1e51aa70311" providerId="ADAL" clId="{3A7A0262-F72D-CF40-8B9F-871A5CEC706F}" dt="2022-10-07T13:16:02.359" v="146" actId="20577"/>
            <ac:spMkLst>
              <pc:docMk/>
              <pc:sldMasterMk cId="578506015" sldId="2147483648"/>
              <pc:sldLayoutMk cId="3867054648" sldId="2147483658"/>
              <ac:spMk id="20" creationId="{CA2589F7-4500-024F-8E07-D726629A599C}"/>
            </ac:spMkLst>
          </pc:spChg>
          <pc:spChg chg="mod">
            <ac:chgData name="Абрамова Надежда Робертовна" userId="98be7548-a651-4b95-923b-e1e51aa70311" providerId="ADAL" clId="{3A7A0262-F72D-CF40-8B9F-871A5CEC706F}" dt="2022-10-07T12:45:56.163" v="69" actId="14100"/>
            <ac:spMkLst>
              <pc:docMk/>
              <pc:sldMasterMk cId="578506015" sldId="2147483648"/>
              <pc:sldLayoutMk cId="3867054648" sldId="2147483658"/>
              <ac:spMk id="41" creationId="{800F6957-CEFF-924E-B258-5B51A5196DEB}"/>
            </ac:spMkLst>
          </pc:spChg>
          <pc:spChg chg="del">
            <ac:chgData name="Абрамова Надежда Робертовна" userId="98be7548-a651-4b95-923b-e1e51aa70311" providerId="ADAL" clId="{3A7A0262-F72D-CF40-8B9F-871A5CEC706F}" dt="2022-10-07T12:45:50.313" v="67" actId="478"/>
            <ac:spMkLst>
              <pc:docMk/>
              <pc:sldMasterMk cId="578506015" sldId="2147483648"/>
              <pc:sldLayoutMk cId="3867054648" sldId="2147483658"/>
              <ac:spMk id="42" creationId="{8FD4982C-EBD6-6D4D-A16B-212CB048938C}"/>
            </ac:spMkLst>
          </pc:spChg>
          <pc:spChg chg="del">
            <ac:chgData name="Абрамова Надежда Робертовна" userId="98be7548-a651-4b95-923b-e1e51aa70311" providerId="ADAL" clId="{3A7A0262-F72D-CF40-8B9F-871A5CEC706F}" dt="2022-10-07T12:45:50.313" v="67" actId="478"/>
            <ac:spMkLst>
              <pc:docMk/>
              <pc:sldMasterMk cId="578506015" sldId="2147483648"/>
              <pc:sldLayoutMk cId="3867054648" sldId="2147483658"/>
              <ac:spMk id="43" creationId="{733D5CDE-163B-C148-A20F-A808E0652336}"/>
            </ac:spMkLst>
          </pc:spChg>
        </pc:sldLayoutChg>
        <pc:sldLayoutChg chg="addSp delSp modSp mod">
          <pc:chgData name="Абрамова Надежда Робертовна" userId="98be7548-a651-4b95-923b-e1e51aa70311" providerId="ADAL" clId="{3A7A0262-F72D-CF40-8B9F-871A5CEC706F}" dt="2022-10-19T15:41:34.952" v="194" actId="478"/>
          <pc:sldLayoutMkLst>
            <pc:docMk/>
            <pc:sldMasterMk cId="578506015" sldId="2147483648"/>
            <pc:sldLayoutMk cId="1387064287" sldId="2147483659"/>
          </pc:sldLayoutMkLst>
          <pc:picChg chg="add del mod">
            <ac:chgData name="Абрамова Надежда Робертовна" userId="98be7548-a651-4b95-923b-e1e51aa70311" providerId="ADAL" clId="{3A7A0262-F72D-CF40-8B9F-871A5CEC706F}" dt="2022-10-19T15:41:34.952" v="194" actId="478"/>
            <ac:picMkLst>
              <pc:docMk/>
              <pc:sldMasterMk cId="578506015" sldId="2147483648"/>
              <pc:sldLayoutMk cId="1387064287" sldId="2147483659"/>
              <ac:picMk id="2" creationId="{BC627939-CFCA-858B-F8D2-BC39B5C1C52E}"/>
            </ac:picMkLst>
          </pc:picChg>
          <pc:picChg chg="add mod">
            <ac:chgData name="Абрамова Надежда Робертовна" userId="98be7548-a651-4b95-923b-e1e51aa70311" providerId="ADAL" clId="{3A7A0262-F72D-CF40-8B9F-871A5CEC706F}" dt="2022-10-07T13:32:59.203" v="151" actId="14826"/>
            <ac:picMkLst>
              <pc:docMk/>
              <pc:sldMasterMk cId="578506015" sldId="2147483648"/>
              <pc:sldLayoutMk cId="1387064287" sldId="2147483659"/>
              <ac:picMk id="4" creationId="{2FF90A89-AE54-2663-0379-23A682FEA283}"/>
            </ac:picMkLst>
          </pc:picChg>
        </pc:sldLayoutChg>
        <pc:sldLayoutChg chg="modSp mod">
          <pc:chgData name="Абрамова Надежда Робертовна" userId="98be7548-a651-4b95-923b-e1e51aa70311" providerId="ADAL" clId="{3A7A0262-F72D-CF40-8B9F-871A5CEC706F}" dt="2022-10-07T13:13:46.712" v="134" actId="6014"/>
          <pc:sldLayoutMkLst>
            <pc:docMk/>
            <pc:sldMasterMk cId="578506015" sldId="2147483648"/>
            <pc:sldLayoutMk cId="1341287480" sldId="2147483660"/>
          </pc:sldLayoutMkLst>
          <pc:spChg chg="mod">
            <ac:chgData name="Абрамова Надежда Робертовна" userId="98be7548-a651-4b95-923b-e1e51aa70311" providerId="ADAL" clId="{3A7A0262-F72D-CF40-8B9F-871A5CEC706F}" dt="2022-10-07T12:41:21.974" v="16" actId="1036"/>
            <ac:spMkLst>
              <pc:docMk/>
              <pc:sldMasterMk cId="578506015" sldId="2147483648"/>
              <pc:sldLayoutMk cId="1341287480" sldId="2147483660"/>
              <ac:spMk id="17" creationId="{24D3A12E-0E10-C441-81D2-C3C1EB6A0537}"/>
            </ac:spMkLst>
          </pc:spChg>
          <pc:spChg chg="mod">
            <ac:chgData name="Абрамова Надежда Робертовна" userId="98be7548-a651-4b95-923b-e1e51aa70311" providerId="ADAL" clId="{3A7A0262-F72D-CF40-8B9F-871A5CEC706F}" dt="2022-10-07T12:44:33.981" v="52" actId="14100"/>
            <ac:spMkLst>
              <pc:docMk/>
              <pc:sldMasterMk cId="578506015" sldId="2147483648"/>
              <pc:sldLayoutMk cId="1341287480" sldId="2147483660"/>
              <ac:spMk id="38" creationId="{7FB4A275-856E-364D-8AA4-2071AADC6AAA}"/>
            </ac:spMkLst>
          </pc:spChg>
        </pc:sldLayoutChg>
        <pc:sldLayoutChg chg="addSp delSp modSp mod">
          <pc:chgData name="Абрамова Надежда Робертовна" userId="98be7548-a651-4b95-923b-e1e51aa70311" providerId="ADAL" clId="{3A7A0262-F72D-CF40-8B9F-871A5CEC706F}" dt="2022-10-07T13:13:54.520" v="135" actId="6014"/>
          <pc:sldLayoutMkLst>
            <pc:docMk/>
            <pc:sldMasterMk cId="578506015" sldId="2147483648"/>
            <pc:sldLayoutMk cId="3527183405" sldId="2147483661"/>
          </pc:sldLayoutMkLst>
          <pc:spChg chg="add mod">
            <ac:chgData name="Абрамова Надежда Робертовна" userId="98be7548-a651-4b95-923b-e1e51aa70311" providerId="ADAL" clId="{3A7A0262-F72D-CF40-8B9F-871A5CEC706F}" dt="2022-10-07T12:41:32.237" v="18"/>
            <ac:spMkLst>
              <pc:docMk/>
              <pc:sldMasterMk cId="578506015" sldId="2147483648"/>
              <pc:sldLayoutMk cId="3527183405" sldId="2147483661"/>
              <ac:spMk id="2" creationId="{6173299C-58DF-E6BF-78E7-242FB7710AFB}"/>
            </ac:spMkLst>
          </pc:spChg>
          <pc:spChg chg="del">
            <ac:chgData name="Абрамова Надежда Робертовна" userId="98be7548-a651-4b95-923b-e1e51aa70311" providerId="ADAL" clId="{3A7A0262-F72D-CF40-8B9F-871A5CEC706F}" dt="2022-10-07T12:41:31.731" v="17" actId="478"/>
            <ac:spMkLst>
              <pc:docMk/>
              <pc:sldMasterMk cId="578506015" sldId="2147483648"/>
              <pc:sldLayoutMk cId="3527183405" sldId="2147483661"/>
              <ac:spMk id="11" creationId="{55E88681-53A8-3B45-B80A-372EDFB53883}"/>
            </ac:spMkLst>
          </pc:spChg>
          <pc:spChg chg="mod">
            <ac:chgData name="Абрамова Надежда Робертовна" userId="98be7548-a651-4b95-923b-e1e51aa70311" providerId="ADAL" clId="{3A7A0262-F72D-CF40-8B9F-871A5CEC706F}" dt="2022-10-07T13:05:04.774" v="95" actId="20577"/>
            <ac:spMkLst>
              <pc:docMk/>
              <pc:sldMasterMk cId="578506015" sldId="2147483648"/>
              <pc:sldLayoutMk cId="3527183405" sldId="2147483661"/>
              <ac:spMk id="17" creationId="{66FAD63B-F743-0F47-BBE3-D7731766705A}"/>
            </ac:spMkLst>
          </pc:spChg>
          <pc:spChg chg="mod">
            <ac:chgData name="Абрамова Надежда Робертовна" userId="98be7548-a651-4b95-923b-e1e51aa70311" providerId="ADAL" clId="{3A7A0262-F72D-CF40-8B9F-871A5CEC706F}" dt="2022-10-07T12:44:26.423" v="51" actId="14100"/>
            <ac:spMkLst>
              <pc:docMk/>
              <pc:sldMasterMk cId="578506015" sldId="2147483648"/>
              <pc:sldLayoutMk cId="3527183405" sldId="2147483661"/>
              <ac:spMk id="21" creationId="{45421580-30B9-AE44-9576-3890C98F5E85}"/>
            </ac:spMkLst>
          </pc:spChg>
        </pc:sldLayoutChg>
        <pc:sldLayoutChg chg="modSp mod">
          <pc:chgData name="Абрамова Надежда Робертовна" userId="98be7548-a651-4b95-923b-e1e51aa70311" providerId="ADAL" clId="{3A7A0262-F72D-CF40-8B9F-871A5CEC706F}" dt="2022-10-07T13:13:22.671" v="132" actId="6014"/>
          <pc:sldLayoutMkLst>
            <pc:docMk/>
            <pc:sldMasterMk cId="578506015" sldId="2147483648"/>
            <pc:sldLayoutMk cId="138171792" sldId="2147483662"/>
          </pc:sldLayoutMkLst>
          <pc:picChg chg="mod">
            <ac:chgData name="Абрамова Надежда Робертовна" userId="98be7548-a651-4b95-923b-e1e51aa70311" providerId="ADAL" clId="{3A7A0262-F72D-CF40-8B9F-871A5CEC706F}" dt="2022-10-07T12:38:32.446" v="1" actId="14826"/>
            <ac:picMkLst>
              <pc:docMk/>
              <pc:sldMasterMk cId="578506015" sldId="2147483648"/>
              <pc:sldLayoutMk cId="138171792" sldId="2147483662"/>
              <ac:picMk id="7" creationId="{BA292C80-0DA8-194A-9A66-279048FA2A54}"/>
            </ac:picMkLst>
          </pc:picChg>
        </pc:sldLayoutChg>
        <pc:sldLayoutChg chg="addSp delSp modSp add mod modTransition setBg">
          <pc:chgData name="Абрамова Надежда Робертовна" userId="98be7548-a651-4b95-923b-e1e51aa70311" providerId="ADAL" clId="{3A7A0262-F72D-CF40-8B9F-871A5CEC706F}" dt="2022-10-19T15:41:31.083" v="193" actId="478"/>
          <pc:sldLayoutMkLst>
            <pc:docMk/>
            <pc:sldMasterMk cId="578506015" sldId="2147483648"/>
            <pc:sldLayoutMk cId="177576943" sldId="2147483663"/>
          </pc:sldLayoutMkLst>
          <pc:picChg chg="del">
            <ac:chgData name="Абрамова Надежда Робертовна" userId="98be7548-a651-4b95-923b-e1e51aa70311" providerId="ADAL" clId="{3A7A0262-F72D-CF40-8B9F-871A5CEC706F}" dt="2022-10-07T12:47:06.700" v="79" actId="478"/>
            <ac:picMkLst>
              <pc:docMk/>
              <pc:sldMasterMk cId="578506015" sldId="2147483648"/>
              <pc:sldLayoutMk cId="177576943" sldId="2147483663"/>
              <ac:picMk id="2" creationId="{BC627939-CFCA-858B-F8D2-BC39B5C1C52E}"/>
            </ac:picMkLst>
          </pc:picChg>
          <pc:picChg chg="add del mod">
            <ac:chgData name="Абрамова Надежда Робертовна" userId="98be7548-a651-4b95-923b-e1e51aa70311" providerId="ADAL" clId="{3A7A0262-F72D-CF40-8B9F-871A5CEC706F}" dt="2022-10-19T15:41:31.083" v="193" actId="478"/>
            <ac:picMkLst>
              <pc:docMk/>
              <pc:sldMasterMk cId="578506015" sldId="2147483648"/>
              <pc:sldLayoutMk cId="177576943" sldId="2147483663"/>
              <ac:picMk id="3" creationId="{A1B218A1-7386-AA31-49EB-CD1D8D56FE04}"/>
            </ac:picMkLst>
          </pc:picChg>
          <pc:picChg chg="add mod">
            <ac:chgData name="Абрамова Надежда Робертовна" userId="98be7548-a651-4b95-923b-e1e51aa70311" providerId="ADAL" clId="{3A7A0262-F72D-CF40-8B9F-871A5CEC706F}" dt="2022-10-07T13:32:38.060" v="150" actId="14826"/>
            <ac:picMkLst>
              <pc:docMk/>
              <pc:sldMasterMk cId="578506015" sldId="2147483648"/>
              <pc:sldLayoutMk cId="177576943" sldId="2147483663"/>
              <ac:picMk id="4" creationId="{5C6B7009-4F48-82D8-5D35-176EF384F0A2}"/>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10/6/26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1027967" y="6189042"/>
            <a:ext cx="2217738" cy="23004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 </a:t>
            </a: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13817179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a:extLst>
              <a:ext uri="{FF2B5EF4-FFF2-40B4-BE49-F238E27FC236}">
                <a16:creationId xmlns:a16="http://schemas.microsoft.com/office/drawing/2014/main" id="{BA292C80-0DA8-194A-9A66-279048FA2A54}"/>
              </a:ext>
            </a:extLst>
          </p:cNvPr>
          <p:cNvPicPr>
            <a:picLocks noChangeAspect="1"/>
          </p:cNvPicPr>
          <p:nvPr userDrawn="1"/>
        </p:nvPicPr>
        <p:blipFill>
          <a:blip r:embed="rId3"/>
          <a:srcRect/>
          <a:stretch/>
        </p:blipFill>
        <p:spPr>
          <a:xfrm>
            <a:off x="1013859" y="962173"/>
            <a:ext cx="886499" cy="886499"/>
          </a:xfrm>
          <a:prstGeom prst="rect">
            <a:avLst/>
          </a:prstGeom>
        </p:spPr>
      </p:pic>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chemeClr val="bg1"/>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solidFill>
                  <a:schemeClr val="bg1"/>
                </a:solidFill>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bg1"/>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1027967" y="6189042"/>
            <a:ext cx="2217738" cy="23004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bg1"/>
                </a:solidFill>
                <a:latin typeface="HSE Sans" panose="02000000000000000000" pitchFamily="2" charset="0"/>
              </a:defRPr>
            </a:lvl1pPr>
          </a:lstStyle>
          <a:p>
            <a:r>
              <a:rPr lang="en-US" sz="1200" dirty="0">
                <a:latin typeface="HSE Sans" panose="02000000000000000000" pitchFamily="2" charset="0"/>
              </a:rPr>
              <a:t>Moscow </a:t>
            </a: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chemeClr val="bg1"/>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_1">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TextBox 16">
            <a:extLst>
              <a:ext uri="{FF2B5EF4-FFF2-40B4-BE49-F238E27FC236}">
                <a16:creationId xmlns:a16="http://schemas.microsoft.com/office/drawing/2014/main" id="{24D3A12E-0E10-C441-81D2-C3C1EB6A0537}"/>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8" y="540904"/>
            <a:ext cx="217454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_2">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173299C-58DF-E6BF-78E7-242FB7710AFB}"/>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_3">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303076C2-6778-96FB-B780-FEF515930096}"/>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Сhart_1">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8" y="540904"/>
            <a:ext cx="2174547"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819F2188-296C-D6E4-A87F-7FEBCF5365B3}"/>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Сhart_2">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E1D1A8A-1BAA-23BE-0B81-61FD29BE0D3E}"/>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s">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2189530"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CD22D4E5-D665-1D46-C611-B5AA8153EF16}"/>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057052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79175F3C-D697-F284-CCA4-949DC9DC4EE5}"/>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2440160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_2">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p>
          <a:p>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6E5BA2AA-1728-31CB-C0F3-2AFE560EE042}"/>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ors">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colors: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colors; you may correctly ask what colors can be used and where to find them. We advise using HSE University’s official color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 name="TextBox 1">
            <a:extLst>
              <a:ext uri="{FF2B5EF4-FFF2-40B4-BE49-F238E27FC236}">
                <a16:creationId xmlns:a16="http://schemas.microsoft.com/office/drawing/2014/main" id="{3248AC60-C055-4FC2-9350-970DB9C40049}"/>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867054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ean">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2"/>
          <a:stretch>
            <a:fillRect/>
          </a:stretch>
        </p:blipFill>
        <p:spPr>
          <a:xfrm>
            <a:off x="517199" y="464363"/>
            <a:ext cx="448276" cy="448276"/>
          </a:xfrm>
          <a:prstGeom prst="rect">
            <a:avLst/>
          </a:prstGeom>
        </p:spPr>
      </p:pic>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2174546"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p>
        </p:txBody>
      </p:sp>
      <p:sp>
        <p:nvSpPr>
          <p:cNvPr id="2" name="TextBox 1">
            <a:extLst>
              <a:ext uri="{FF2B5EF4-FFF2-40B4-BE49-F238E27FC236}">
                <a16:creationId xmlns:a16="http://schemas.microsoft.com/office/drawing/2014/main" id="{E96B08B3-6777-47E7-1006-BC9A7F8847C5}"/>
              </a:ext>
            </a:extLst>
          </p:cNvPr>
          <p:cNvSpPr txBox="1"/>
          <p:nvPr userDrawn="1"/>
        </p:nvSpPr>
        <p:spPr>
          <a:xfrm>
            <a:off x="10985700" y="476240"/>
            <a:ext cx="671977" cy="307777"/>
          </a:xfrm>
          <a:prstGeom prst="rect">
            <a:avLst/>
          </a:prstGeom>
          <a:noFill/>
        </p:spPr>
        <p:txBody>
          <a:bodyPr wrap="square" lIns="0" tIns="0" rIns="0" bIns="0" rtlCol="0">
            <a:spAutoFit/>
          </a:bodyPr>
          <a:lstStyle/>
          <a:p>
            <a:pPr algn="r"/>
            <a:fld id="{32AF94B5-93D7-5247-B727-C7089232F508}" type="slidenum">
              <a:rPr lang="ru-RU" sz="2000" smtClean="0">
                <a:solidFill>
                  <a:srgbClr val="102D69"/>
                </a:solidFill>
                <a:latin typeface="HSE Sans" panose="02000000000000000000" pitchFamily="2" charset="0"/>
              </a:rPr>
              <a:pPr algn="r"/>
              <a:t>‹#›</a:t>
            </a:fld>
            <a:endParaRPr lang="ru-RU" sz="2000" dirty="0">
              <a:solidFill>
                <a:srgbClr val="102D69"/>
              </a:solidFill>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nal_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F90A89-AE54-2663-0379-23A682FEA283}"/>
              </a:ext>
            </a:extLst>
          </p:cNvPr>
          <p:cNvPicPr>
            <a:picLocks noChangeAspect="1"/>
          </p:cNvPicPr>
          <p:nvPr userDrawn="1"/>
        </p:nvPicPr>
        <p:blipFill>
          <a:blip r:embed="rId2"/>
          <a:srcRect/>
          <a:stretch/>
        </p:blipFill>
        <p:spPr>
          <a:xfrm>
            <a:off x="5196000" y="2529000"/>
            <a:ext cx="1800000" cy="1800000"/>
          </a:xfrm>
          <a:prstGeom prst="rect">
            <a:avLst/>
          </a:prstGeom>
        </p:spPr>
      </p:pic>
    </p:spTree>
    <p:extLst>
      <p:ext uri="{BB962C8B-B14F-4D97-AF65-F5344CB8AC3E}">
        <p14:creationId xmlns:p14="http://schemas.microsoft.com/office/powerpoint/2010/main" val="1387064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inal_2">
    <p:bg>
      <p:bgPr>
        <a:solidFill>
          <a:srgbClr val="0E2D69"/>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6B7009-4F48-82D8-5D35-176EF384F0A2}"/>
              </a:ext>
            </a:extLst>
          </p:cNvPr>
          <p:cNvPicPr>
            <a:picLocks noChangeAspect="1"/>
          </p:cNvPicPr>
          <p:nvPr userDrawn="1"/>
        </p:nvPicPr>
        <p:blipFill>
          <a:blip r:embed="rId2"/>
          <a:srcRect/>
          <a:stretch/>
        </p:blipFill>
        <p:spPr>
          <a:xfrm>
            <a:off x="5196000" y="2529000"/>
            <a:ext cx="1800000" cy="1800000"/>
          </a:xfrm>
          <a:prstGeom prst="rect">
            <a:avLst/>
          </a:prstGeom>
        </p:spPr>
      </p:pic>
    </p:spTree>
    <p:extLst>
      <p:ext uri="{BB962C8B-B14F-4D97-AF65-F5344CB8AC3E}">
        <p14:creationId xmlns:p14="http://schemas.microsoft.com/office/powerpoint/2010/main" val="17757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62" r:id="rId1"/>
    <p:sldLayoutId id="2147483649" r:id="rId2"/>
    <p:sldLayoutId id="2147483660" r:id="rId3"/>
    <p:sldLayoutId id="2147483661" r:id="rId4"/>
    <p:sldLayoutId id="2147483650" r:id="rId5"/>
    <p:sldLayoutId id="2147483651" r:id="rId6"/>
    <p:sldLayoutId id="2147483652" r:id="rId7"/>
    <p:sldLayoutId id="2147483654" r:id="rId8"/>
    <p:sldLayoutId id="2147483655" r:id="rId9"/>
    <p:sldLayoutId id="2147483656" r:id="rId10"/>
    <p:sldLayoutId id="2147483658" r:id="rId11"/>
    <p:sldLayoutId id="2147483657" r:id="rId12"/>
    <p:sldLayoutId id="2147483659"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a:xfrm>
            <a:off x="1027966" y="2404670"/>
            <a:ext cx="10170745" cy="1978323"/>
          </a:xfrm>
        </p:spPr>
        <p:txBody>
          <a:bodyPr>
            <a:normAutofit/>
          </a:bodyPr>
          <a:lstStyle/>
          <a:p>
            <a:r>
              <a:rPr lang="zh-CN" altLang="zh-CN" b="1" dirty="0"/>
              <a:t>DeepSeek-V3 to DeepSeek-V4</a:t>
            </a:r>
            <a:br>
              <a:rPr lang="zh-CN" altLang="zh-CN" b="1" dirty="0"/>
            </a:br>
            <a:r>
              <a:rPr lang="zh-CN" altLang="zh-CN" b="1" dirty="0"/>
              <a:t>A Technical and Architectural Comparison</a:t>
            </a:r>
            <a:endParaRPr lang="ru-RU" dirty="0"/>
          </a:p>
        </p:txBody>
      </p:sp>
      <p:sp>
        <p:nvSpPr>
          <p:cNvPr id="3" name="Текст 2">
            <a:extLst>
              <a:ext uri="{FF2B5EF4-FFF2-40B4-BE49-F238E27FC236}">
                <a16:creationId xmlns:a16="http://schemas.microsoft.com/office/drawing/2014/main" id="{268EB560-A246-394A-858C-3B1CFBF03B46}"/>
              </a:ext>
            </a:extLst>
          </p:cNvPr>
          <p:cNvSpPr>
            <a:spLocks noGrp="1"/>
          </p:cNvSpPr>
          <p:nvPr>
            <p:ph type="body" sz="quarter" idx="10"/>
          </p:nvPr>
        </p:nvSpPr>
        <p:spPr/>
        <p:txBody>
          <a:bodyPr/>
          <a:lstStyle/>
          <a:p>
            <a:r>
              <a:rPr lang="en-US" altLang="zh-CN" dirty="0"/>
              <a:t>Faculty</a:t>
            </a:r>
            <a:r>
              <a:rPr lang="zh-CN" altLang="en-US" dirty="0"/>
              <a:t> </a:t>
            </a:r>
            <a:r>
              <a:rPr lang="en-US" altLang="zh-CN" dirty="0"/>
              <a:t>of</a:t>
            </a:r>
            <a:r>
              <a:rPr lang="zh-CN" altLang="en-US" dirty="0"/>
              <a:t> </a:t>
            </a:r>
            <a:r>
              <a:rPr lang="en-US" altLang="zh-CN" dirty="0"/>
              <a:t>Computer</a:t>
            </a:r>
            <a:r>
              <a:rPr lang="zh-CN" altLang="en-US" dirty="0"/>
              <a:t> </a:t>
            </a:r>
            <a:r>
              <a:rPr lang="en-US" altLang="zh-CN" dirty="0"/>
              <a:t>Science</a:t>
            </a:r>
            <a:endParaRPr lang="ru-RU" dirty="0"/>
          </a:p>
        </p:txBody>
      </p:sp>
      <p:sp>
        <p:nvSpPr>
          <p:cNvPr id="5" name="Текст 4">
            <a:extLst>
              <a:ext uri="{FF2B5EF4-FFF2-40B4-BE49-F238E27FC236}">
                <a16:creationId xmlns:a16="http://schemas.microsoft.com/office/drawing/2014/main" id="{CC6432FC-CD29-4D47-A915-D2737E0BEA33}"/>
              </a:ext>
            </a:extLst>
          </p:cNvPr>
          <p:cNvSpPr>
            <a:spLocks noGrp="1"/>
          </p:cNvSpPr>
          <p:nvPr>
            <p:ph type="body" idx="12"/>
          </p:nvPr>
        </p:nvSpPr>
        <p:spPr/>
        <p:txBody>
          <a:bodyPr/>
          <a:lstStyle/>
          <a:p>
            <a:r>
              <a:rPr lang="en-US" altLang="zh-CN" dirty="0"/>
              <a:t>Moscow</a:t>
            </a:r>
            <a:r>
              <a:rPr lang="zh-CN" altLang="en-US" dirty="0"/>
              <a:t> </a:t>
            </a:r>
            <a:r>
              <a:rPr lang="en-US" altLang="zh-CN" dirty="0"/>
              <a:t>2026</a:t>
            </a:r>
            <a:endParaRPr lang="ru-RU" dirty="0"/>
          </a:p>
        </p:txBody>
      </p:sp>
      <p:pic>
        <p:nvPicPr>
          <p:cNvPr id="8" name="图片 7">
            <a:extLst>
              <a:ext uri="{FF2B5EF4-FFF2-40B4-BE49-F238E27FC236}">
                <a16:creationId xmlns:a16="http://schemas.microsoft.com/office/drawing/2014/main" id="{6EA38D9E-201A-DA87-5393-F8AF67CFB887}"/>
              </a:ext>
            </a:extLst>
          </p:cNvPr>
          <p:cNvPicPr>
            <a:picLocks noChangeAspect="1"/>
          </p:cNvPicPr>
          <p:nvPr/>
        </p:nvPicPr>
        <p:blipFill>
          <a:blip r:embed="rId2"/>
          <a:srcRect/>
          <a:stretch>
            <a:fillRect/>
          </a:stretch>
        </p:blipFill>
        <p:spPr>
          <a:xfrm>
            <a:off x="4922138" y="990245"/>
            <a:ext cx="2692400" cy="673100"/>
          </a:xfrm>
          <a:prstGeom prst="rect">
            <a:avLst/>
          </a:prstGeom>
        </p:spPr>
      </p:pic>
    </p:spTree>
    <p:extLst>
      <p:ext uri="{BB962C8B-B14F-4D97-AF65-F5344CB8AC3E}">
        <p14:creationId xmlns:p14="http://schemas.microsoft.com/office/powerpoint/2010/main" val="145221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D9A70-D489-FADC-D279-CA2F38FA0674}"/>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536FED0-6705-3CC7-25D8-3283E1B6FCA9}"/>
              </a:ext>
            </a:extLst>
          </p:cNvPr>
          <p:cNvSpPr>
            <a:spLocks noGrp="1"/>
          </p:cNvSpPr>
          <p:nvPr>
            <p:ph type="body" sz="quarter" idx="13"/>
          </p:nvPr>
        </p:nvSpPr>
        <p:spPr>
          <a:xfrm>
            <a:off x="1094520" y="579314"/>
            <a:ext cx="3686496" cy="222889"/>
          </a:xfrm>
        </p:spPr>
        <p:txBody>
          <a:bodyPr/>
          <a:lstStyle/>
          <a:p>
            <a:r>
              <a:rPr lang="en" altLang="zh-CN" sz="1400" dirty="0"/>
              <a:t>DeepSeek-V3 </a:t>
            </a:r>
            <a:r>
              <a:rPr lang="en-US" altLang="zh-CN" sz="1400" dirty="0"/>
              <a:t>-</a:t>
            </a:r>
            <a:r>
              <a:rPr lang="en" altLang="zh-CN" sz="1400" dirty="0"/>
              <a:t> the baseline to compare against</a:t>
            </a:r>
          </a:p>
        </p:txBody>
      </p:sp>
      <p:sp>
        <p:nvSpPr>
          <p:cNvPr id="3" name="TextBox 4">
            <a:extLst>
              <a:ext uri="{FF2B5EF4-FFF2-40B4-BE49-F238E27FC236}">
                <a16:creationId xmlns:a16="http://schemas.microsoft.com/office/drawing/2014/main" id="{08065E54-7F71-9BD7-5881-3098DE239FBC}"/>
              </a:ext>
            </a:extLst>
          </p:cNvPr>
          <p:cNvSpPr txBox="1"/>
          <p:nvPr/>
        </p:nvSpPr>
        <p:spPr>
          <a:xfrm>
            <a:off x="566928" y="1053980"/>
            <a:ext cx="10881360" cy="252377"/>
          </a:xfrm>
          <a:prstGeom prst="rect">
            <a:avLst/>
          </a:prstGeom>
          <a:noFill/>
        </p:spPr>
        <p:txBody>
          <a:bodyPr wrap="square" lIns="18288" tIns="18288" rIns="18288" bIns="18288" anchor="ctr">
            <a:spAutoFit/>
          </a:bodyPr>
          <a:lstStyle/>
          <a:p>
            <a:pPr algn="l">
              <a:defRPr sz="1250" b="0">
                <a:solidFill>
                  <a:srgbClr val="AAB5C9"/>
                </a:solidFill>
                <a:latin typeface="Aptos"/>
              </a:defRPr>
            </a:pPr>
            <a:r>
              <a:rPr sz="1400" b="1" dirty="0">
                <a:solidFill>
                  <a:schemeClr val="bg2">
                    <a:lumMod val="10000"/>
                  </a:schemeClr>
                </a:solidFill>
                <a:latin typeface="Times New Roman" panose="02020603050405020304" pitchFamily="18" charset="0"/>
                <a:cs typeface="Times New Roman" panose="02020603050405020304" pitchFamily="18" charset="0"/>
              </a:rPr>
              <a:t>MLA + </a:t>
            </a:r>
            <a:r>
              <a:rPr sz="1400" b="1" dirty="0" err="1">
                <a:solidFill>
                  <a:schemeClr val="bg2">
                    <a:lumMod val="10000"/>
                  </a:schemeClr>
                </a:solidFill>
                <a:latin typeface="Times New Roman" panose="02020603050405020304" pitchFamily="18" charset="0"/>
                <a:cs typeface="Times New Roman" panose="02020603050405020304" pitchFamily="18" charset="0"/>
              </a:rPr>
              <a:t>DeepSeekMoE</a:t>
            </a:r>
            <a:r>
              <a:rPr sz="1400" b="1" dirty="0">
                <a:solidFill>
                  <a:schemeClr val="bg2">
                    <a:lumMod val="10000"/>
                  </a:schemeClr>
                </a:solidFill>
                <a:latin typeface="Times New Roman" panose="02020603050405020304" pitchFamily="18" charset="0"/>
                <a:cs typeface="Times New Roman" panose="02020603050405020304" pitchFamily="18" charset="0"/>
              </a:rPr>
              <a:t>: compact KV state, sparse experts, 128K context</a:t>
            </a:r>
          </a:p>
        </p:txBody>
      </p:sp>
      <p:sp>
        <p:nvSpPr>
          <p:cNvPr id="4" name="Rounded Rectangle 5">
            <a:extLst>
              <a:ext uri="{FF2B5EF4-FFF2-40B4-BE49-F238E27FC236}">
                <a16:creationId xmlns:a16="http://schemas.microsoft.com/office/drawing/2014/main" id="{D28D2BE3-1BC6-CC9F-3E53-EFDAF0D60590}"/>
              </a:ext>
            </a:extLst>
          </p:cNvPr>
          <p:cNvSpPr/>
          <p:nvPr/>
        </p:nvSpPr>
        <p:spPr>
          <a:xfrm>
            <a:off x="566928" y="1558134"/>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6">
            <a:extLst>
              <a:ext uri="{FF2B5EF4-FFF2-40B4-BE49-F238E27FC236}">
                <a16:creationId xmlns:a16="http://schemas.microsoft.com/office/drawing/2014/main" id="{15DBCEC5-E569-941F-2C42-E7C707E0CE75}"/>
              </a:ext>
            </a:extLst>
          </p:cNvPr>
          <p:cNvSpPr txBox="1"/>
          <p:nvPr/>
        </p:nvSpPr>
        <p:spPr>
          <a:xfrm>
            <a:off x="713232" y="1601890"/>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9178FF"/>
                </a:solidFill>
                <a:latin typeface="Aptos"/>
              </a:defRPr>
            </a:pPr>
            <a:r>
              <a:rPr>
                <a:latin typeface="Times New Roman" panose="02020603050405020304" pitchFamily="18" charset="0"/>
                <a:cs typeface="Times New Roman" panose="02020603050405020304" pitchFamily="18" charset="0"/>
              </a:rPr>
              <a:t>671B</a:t>
            </a:r>
          </a:p>
        </p:txBody>
      </p:sp>
      <p:sp>
        <p:nvSpPr>
          <p:cNvPr id="6" name="TextBox 7">
            <a:extLst>
              <a:ext uri="{FF2B5EF4-FFF2-40B4-BE49-F238E27FC236}">
                <a16:creationId xmlns:a16="http://schemas.microsoft.com/office/drawing/2014/main" id="{310721FA-42EA-9353-4330-AA41CDD0234C}"/>
              </a:ext>
            </a:extLst>
          </p:cNvPr>
          <p:cNvSpPr txBox="1"/>
          <p:nvPr/>
        </p:nvSpPr>
        <p:spPr>
          <a:xfrm>
            <a:off x="713232" y="2017583"/>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total params</a:t>
            </a:r>
          </a:p>
        </p:txBody>
      </p:sp>
      <p:sp>
        <p:nvSpPr>
          <p:cNvPr id="7" name="Rounded Rectangle 8">
            <a:extLst>
              <a:ext uri="{FF2B5EF4-FFF2-40B4-BE49-F238E27FC236}">
                <a16:creationId xmlns:a16="http://schemas.microsoft.com/office/drawing/2014/main" id="{F36A5A88-D7B8-25D9-77EB-39C922E98C77}"/>
              </a:ext>
            </a:extLst>
          </p:cNvPr>
          <p:cNvSpPr/>
          <p:nvPr/>
        </p:nvSpPr>
        <p:spPr>
          <a:xfrm>
            <a:off x="2807208" y="1558134"/>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9">
            <a:extLst>
              <a:ext uri="{FF2B5EF4-FFF2-40B4-BE49-F238E27FC236}">
                <a16:creationId xmlns:a16="http://schemas.microsoft.com/office/drawing/2014/main" id="{E934C237-32DF-F100-99CF-D648F387E60D}"/>
              </a:ext>
            </a:extLst>
          </p:cNvPr>
          <p:cNvSpPr txBox="1"/>
          <p:nvPr/>
        </p:nvSpPr>
        <p:spPr>
          <a:xfrm>
            <a:off x="2953512" y="1601890"/>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9178FF"/>
                </a:solidFill>
                <a:latin typeface="Aptos"/>
              </a:defRPr>
            </a:pPr>
            <a:r>
              <a:rPr>
                <a:latin typeface="Times New Roman" panose="02020603050405020304" pitchFamily="18" charset="0"/>
                <a:cs typeface="Times New Roman" panose="02020603050405020304" pitchFamily="18" charset="0"/>
              </a:rPr>
              <a:t>37B</a:t>
            </a:r>
          </a:p>
        </p:txBody>
      </p:sp>
      <p:sp>
        <p:nvSpPr>
          <p:cNvPr id="9" name="TextBox 10">
            <a:extLst>
              <a:ext uri="{FF2B5EF4-FFF2-40B4-BE49-F238E27FC236}">
                <a16:creationId xmlns:a16="http://schemas.microsoft.com/office/drawing/2014/main" id="{3CB76E7F-DD40-ED87-BD93-FB9F5CD1CB36}"/>
              </a:ext>
            </a:extLst>
          </p:cNvPr>
          <p:cNvSpPr txBox="1"/>
          <p:nvPr/>
        </p:nvSpPr>
        <p:spPr>
          <a:xfrm>
            <a:off x="2953512" y="2017583"/>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activated / token</a:t>
            </a:r>
          </a:p>
        </p:txBody>
      </p:sp>
      <p:sp>
        <p:nvSpPr>
          <p:cNvPr id="10" name="Rounded Rectangle 11">
            <a:extLst>
              <a:ext uri="{FF2B5EF4-FFF2-40B4-BE49-F238E27FC236}">
                <a16:creationId xmlns:a16="http://schemas.microsoft.com/office/drawing/2014/main" id="{BEB05214-F02C-1A7B-0F9C-75EC3B3B76CE}"/>
              </a:ext>
            </a:extLst>
          </p:cNvPr>
          <p:cNvSpPr/>
          <p:nvPr/>
        </p:nvSpPr>
        <p:spPr>
          <a:xfrm>
            <a:off x="5047488" y="1558134"/>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2">
            <a:extLst>
              <a:ext uri="{FF2B5EF4-FFF2-40B4-BE49-F238E27FC236}">
                <a16:creationId xmlns:a16="http://schemas.microsoft.com/office/drawing/2014/main" id="{AE8B2F82-6BF2-AE5D-F9C6-6FDCA3CC1176}"/>
              </a:ext>
            </a:extLst>
          </p:cNvPr>
          <p:cNvSpPr txBox="1"/>
          <p:nvPr/>
        </p:nvSpPr>
        <p:spPr>
          <a:xfrm>
            <a:off x="5193792" y="1601890"/>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9178FF"/>
                </a:solidFill>
                <a:latin typeface="Aptos"/>
              </a:defRPr>
            </a:pPr>
            <a:r>
              <a:rPr>
                <a:latin typeface="Times New Roman" panose="02020603050405020304" pitchFamily="18" charset="0"/>
                <a:cs typeface="Times New Roman" panose="02020603050405020304" pitchFamily="18" charset="0"/>
              </a:rPr>
              <a:t>61</a:t>
            </a:r>
          </a:p>
        </p:txBody>
      </p:sp>
      <p:sp>
        <p:nvSpPr>
          <p:cNvPr id="12" name="TextBox 13">
            <a:extLst>
              <a:ext uri="{FF2B5EF4-FFF2-40B4-BE49-F238E27FC236}">
                <a16:creationId xmlns:a16="http://schemas.microsoft.com/office/drawing/2014/main" id="{0BF63C5D-9823-ED9D-E4BF-269C6ECC7C14}"/>
              </a:ext>
            </a:extLst>
          </p:cNvPr>
          <p:cNvSpPr txBox="1"/>
          <p:nvPr/>
        </p:nvSpPr>
        <p:spPr>
          <a:xfrm>
            <a:off x="5193792" y="2017583"/>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Transformer layers</a:t>
            </a:r>
          </a:p>
        </p:txBody>
      </p:sp>
      <p:sp>
        <p:nvSpPr>
          <p:cNvPr id="13" name="Rounded Rectangle 14">
            <a:extLst>
              <a:ext uri="{FF2B5EF4-FFF2-40B4-BE49-F238E27FC236}">
                <a16:creationId xmlns:a16="http://schemas.microsoft.com/office/drawing/2014/main" id="{91D979A6-DD30-7514-41C2-6072254D2181}"/>
              </a:ext>
            </a:extLst>
          </p:cNvPr>
          <p:cNvSpPr/>
          <p:nvPr/>
        </p:nvSpPr>
        <p:spPr>
          <a:xfrm>
            <a:off x="7287768" y="1558134"/>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5">
            <a:extLst>
              <a:ext uri="{FF2B5EF4-FFF2-40B4-BE49-F238E27FC236}">
                <a16:creationId xmlns:a16="http://schemas.microsoft.com/office/drawing/2014/main" id="{46703561-0926-0109-8F4E-D8FE4921ACC5}"/>
              </a:ext>
            </a:extLst>
          </p:cNvPr>
          <p:cNvSpPr txBox="1"/>
          <p:nvPr/>
        </p:nvSpPr>
        <p:spPr>
          <a:xfrm>
            <a:off x="7434072" y="1601890"/>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F8B04C"/>
                </a:solidFill>
                <a:latin typeface="Aptos"/>
              </a:defRPr>
            </a:pPr>
            <a:r>
              <a:rPr>
                <a:latin typeface="Times New Roman" panose="02020603050405020304" pitchFamily="18" charset="0"/>
                <a:cs typeface="Times New Roman" panose="02020603050405020304" pitchFamily="18" charset="0"/>
              </a:rPr>
              <a:t>128K</a:t>
            </a:r>
          </a:p>
        </p:txBody>
      </p:sp>
      <p:sp>
        <p:nvSpPr>
          <p:cNvPr id="15" name="TextBox 16">
            <a:extLst>
              <a:ext uri="{FF2B5EF4-FFF2-40B4-BE49-F238E27FC236}">
                <a16:creationId xmlns:a16="http://schemas.microsoft.com/office/drawing/2014/main" id="{B9269BB7-026C-0554-10D8-99D8F077D8FD}"/>
              </a:ext>
            </a:extLst>
          </p:cNvPr>
          <p:cNvSpPr txBox="1"/>
          <p:nvPr/>
        </p:nvSpPr>
        <p:spPr>
          <a:xfrm>
            <a:off x="7434072" y="2017583"/>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context window</a:t>
            </a:r>
          </a:p>
        </p:txBody>
      </p:sp>
      <p:sp>
        <p:nvSpPr>
          <p:cNvPr id="16" name="Rounded Rectangle 17">
            <a:extLst>
              <a:ext uri="{FF2B5EF4-FFF2-40B4-BE49-F238E27FC236}">
                <a16:creationId xmlns:a16="http://schemas.microsoft.com/office/drawing/2014/main" id="{9EEE310E-0A86-AF24-B4C5-55296C5D882B}"/>
              </a:ext>
            </a:extLst>
          </p:cNvPr>
          <p:cNvSpPr/>
          <p:nvPr/>
        </p:nvSpPr>
        <p:spPr>
          <a:xfrm>
            <a:off x="9528048" y="1558134"/>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8">
            <a:extLst>
              <a:ext uri="{FF2B5EF4-FFF2-40B4-BE49-F238E27FC236}">
                <a16:creationId xmlns:a16="http://schemas.microsoft.com/office/drawing/2014/main" id="{43790662-FEAE-0BA8-E59A-1AC4E2FFC36D}"/>
              </a:ext>
            </a:extLst>
          </p:cNvPr>
          <p:cNvSpPr txBox="1"/>
          <p:nvPr/>
        </p:nvSpPr>
        <p:spPr>
          <a:xfrm>
            <a:off x="9674352" y="1601890"/>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F8B04C"/>
                </a:solidFill>
                <a:latin typeface="Aptos"/>
              </a:defRPr>
            </a:pPr>
            <a:r>
              <a:rPr>
                <a:latin typeface="Times New Roman" panose="02020603050405020304" pitchFamily="18" charset="0"/>
                <a:cs typeface="Times New Roman" panose="02020603050405020304" pitchFamily="18" charset="0"/>
              </a:rPr>
              <a:t>14.8T</a:t>
            </a:r>
          </a:p>
        </p:txBody>
      </p:sp>
      <p:sp>
        <p:nvSpPr>
          <p:cNvPr id="18" name="TextBox 19">
            <a:extLst>
              <a:ext uri="{FF2B5EF4-FFF2-40B4-BE49-F238E27FC236}">
                <a16:creationId xmlns:a16="http://schemas.microsoft.com/office/drawing/2014/main" id="{559D0C79-2FC9-AC6B-67DE-FC3C26426E8C}"/>
              </a:ext>
            </a:extLst>
          </p:cNvPr>
          <p:cNvSpPr txBox="1"/>
          <p:nvPr/>
        </p:nvSpPr>
        <p:spPr>
          <a:xfrm>
            <a:off x="9674352" y="2017583"/>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pre-training tokens</a:t>
            </a:r>
          </a:p>
        </p:txBody>
      </p:sp>
      <p:pic>
        <p:nvPicPr>
          <p:cNvPr id="20" name="图片 19">
            <a:extLst>
              <a:ext uri="{FF2B5EF4-FFF2-40B4-BE49-F238E27FC236}">
                <a16:creationId xmlns:a16="http://schemas.microsoft.com/office/drawing/2014/main" id="{7CE43048-B58F-57A0-9108-01F2B0119E7F}"/>
              </a:ext>
            </a:extLst>
          </p:cNvPr>
          <p:cNvPicPr>
            <a:picLocks noChangeAspect="1"/>
          </p:cNvPicPr>
          <p:nvPr/>
        </p:nvPicPr>
        <p:blipFill>
          <a:blip r:embed="rId2"/>
          <a:srcRect l="1252" t="3426"/>
          <a:stretch>
            <a:fillRect/>
          </a:stretch>
        </p:blipFill>
        <p:spPr>
          <a:xfrm>
            <a:off x="611907" y="2425074"/>
            <a:ext cx="5484093" cy="4432926"/>
          </a:xfrm>
          <a:prstGeom prst="rect">
            <a:avLst/>
          </a:prstGeom>
        </p:spPr>
      </p:pic>
      <p:sp>
        <p:nvSpPr>
          <p:cNvPr id="21" name="Rounded Rectangle 73">
            <a:extLst>
              <a:ext uri="{FF2B5EF4-FFF2-40B4-BE49-F238E27FC236}">
                <a16:creationId xmlns:a16="http://schemas.microsoft.com/office/drawing/2014/main" id="{4E9E0D81-1C26-AB6F-30A4-5293EDAB0372}"/>
              </a:ext>
            </a:extLst>
          </p:cNvPr>
          <p:cNvSpPr/>
          <p:nvPr/>
        </p:nvSpPr>
        <p:spPr>
          <a:xfrm>
            <a:off x="7434072" y="2743199"/>
            <a:ext cx="4197096" cy="3599543"/>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2">
                  <a:lumMod val="10000"/>
                </a:schemeClr>
              </a:solidFill>
              <a:latin typeface="Times New Roman" panose="02020603050405020304" pitchFamily="18" charset="0"/>
              <a:cs typeface="Times New Roman" panose="02020603050405020304" pitchFamily="18" charset="0"/>
            </a:endParaRPr>
          </a:p>
        </p:txBody>
      </p:sp>
      <p:sp>
        <p:nvSpPr>
          <p:cNvPr id="22" name="Rounded Rectangle 74">
            <a:extLst>
              <a:ext uri="{FF2B5EF4-FFF2-40B4-BE49-F238E27FC236}">
                <a16:creationId xmlns:a16="http://schemas.microsoft.com/office/drawing/2014/main" id="{CE67B17D-4A17-EAB8-C0BB-3CE67FD9D195}"/>
              </a:ext>
            </a:extLst>
          </p:cNvPr>
          <p:cNvSpPr/>
          <p:nvPr/>
        </p:nvSpPr>
        <p:spPr>
          <a:xfrm>
            <a:off x="7707478" y="2962655"/>
            <a:ext cx="1445666" cy="325491"/>
          </a:xfrm>
          <a:prstGeom prst="roundRect">
            <a:avLst/>
          </a:prstGeom>
          <a:solidFill>
            <a:schemeClr val="accent3">
              <a:lumMod val="20000"/>
              <a:lumOff val="80000"/>
            </a:schemeClr>
          </a:solidFill>
          <a:ln w="12700">
            <a:solidFill>
              <a:srgbClr val="F8B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chemeClr val="bg2">
                  <a:lumMod val="10000"/>
                </a:schemeClr>
              </a:solidFill>
              <a:latin typeface="Times New Roman" panose="02020603050405020304" pitchFamily="18" charset="0"/>
              <a:cs typeface="Times New Roman" panose="02020603050405020304" pitchFamily="18" charset="0"/>
            </a:endParaRPr>
          </a:p>
        </p:txBody>
      </p:sp>
      <p:sp>
        <p:nvSpPr>
          <p:cNvPr id="23" name="TextBox 75">
            <a:extLst>
              <a:ext uri="{FF2B5EF4-FFF2-40B4-BE49-F238E27FC236}">
                <a16:creationId xmlns:a16="http://schemas.microsoft.com/office/drawing/2014/main" id="{B0D6BFC1-84A9-91F6-C74A-8035A4A0D9E8}"/>
              </a:ext>
            </a:extLst>
          </p:cNvPr>
          <p:cNvSpPr txBox="1"/>
          <p:nvPr/>
        </p:nvSpPr>
        <p:spPr>
          <a:xfrm>
            <a:off x="7707478" y="3012506"/>
            <a:ext cx="1445666" cy="221599"/>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090E1D"/>
                </a:solidFill>
                <a:latin typeface="Aptos"/>
              </a:defRPr>
            </a:pPr>
            <a:r>
              <a:rPr sz="1200" dirty="0">
                <a:solidFill>
                  <a:schemeClr val="bg2">
                    <a:lumMod val="10000"/>
                  </a:schemeClr>
                </a:solidFill>
                <a:latin typeface="Times New Roman" panose="02020603050405020304" pitchFamily="18" charset="0"/>
                <a:cs typeface="Times New Roman" panose="02020603050405020304" pitchFamily="18" charset="0"/>
              </a:rPr>
              <a:t>WHY IT MATTERS</a:t>
            </a:r>
          </a:p>
        </p:txBody>
      </p:sp>
      <p:sp>
        <p:nvSpPr>
          <p:cNvPr id="24" name="TextBox 76">
            <a:extLst>
              <a:ext uri="{FF2B5EF4-FFF2-40B4-BE49-F238E27FC236}">
                <a16:creationId xmlns:a16="http://schemas.microsoft.com/office/drawing/2014/main" id="{B3C1B5D9-15CC-AD7D-3233-D77856B5E155}"/>
              </a:ext>
            </a:extLst>
          </p:cNvPr>
          <p:cNvSpPr txBox="1"/>
          <p:nvPr/>
        </p:nvSpPr>
        <p:spPr>
          <a:xfrm>
            <a:off x="7732532" y="3668973"/>
            <a:ext cx="167884" cy="283154"/>
          </a:xfrm>
          <a:prstGeom prst="rect">
            <a:avLst/>
          </a:prstGeom>
          <a:solidFill>
            <a:schemeClr val="accent3">
              <a:lumMod val="20000"/>
              <a:lumOff val="80000"/>
            </a:schemeClr>
          </a:solidFill>
        </p:spPr>
        <p:txBody>
          <a:bodyPr wrap="square" lIns="18288" tIns="18288" rIns="18288" bIns="18288" anchor="ctr">
            <a:spAutoFit/>
          </a:bodyPr>
          <a:lstStyle/>
          <a:p>
            <a:pPr algn="l">
              <a:defRPr sz="1500" b="1">
                <a:solidFill>
                  <a:srgbClr val="9178FF"/>
                </a:solidFill>
                <a:latin typeface="Aptos"/>
              </a:defRPr>
            </a:pPr>
            <a:r>
              <a:rPr sz="1600">
                <a:solidFill>
                  <a:schemeClr val="bg2">
                    <a:lumMod val="10000"/>
                  </a:schemeClr>
                </a:solidFill>
                <a:latin typeface="Times New Roman" panose="02020603050405020304" pitchFamily="18" charset="0"/>
                <a:cs typeface="Times New Roman" panose="02020603050405020304" pitchFamily="18" charset="0"/>
              </a:rPr>
              <a:t>•</a:t>
            </a:r>
          </a:p>
        </p:txBody>
      </p:sp>
      <p:sp>
        <p:nvSpPr>
          <p:cNvPr id="25" name="TextBox 77">
            <a:extLst>
              <a:ext uri="{FF2B5EF4-FFF2-40B4-BE49-F238E27FC236}">
                <a16:creationId xmlns:a16="http://schemas.microsoft.com/office/drawing/2014/main" id="{154D2966-62A8-61F0-43A0-0532C91B6947}"/>
              </a:ext>
            </a:extLst>
          </p:cNvPr>
          <p:cNvSpPr txBox="1"/>
          <p:nvPr/>
        </p:nvSpPr>
        <p:spPr>
          <a:xfrm>
            <a:off x="7871156" y="3580973"/>
            <a:ext cx="3357676" cy="467820"/>
          </a:xfrm>
          <a:prstGeom prst="rect">
            <a:avLst/>
          </a:prstGeom>
          <a:solidFill>
            <a:schemeClr val="accent3">
              <a:lumMod val="20000"/>
              <a:lumOff val="80000"/>
            </a:schemeClr>
          </a:solidFill>
        </p:spPr>
        <p:txBody>
          <a:bodyPr wrap="square" lIns="18288" tIns="18288" rIns="18288" bIns="18288" anchor="ctr">
            <a:spAutoFit/>
          </a:bodyPr>
          <a:lstStyle/>
          <a:p>
            <a:pPr algn="l">
              <a:defRPr sz="1300" b="0">
                <a:solidFill>
                  <a:srgbClr val="F4F6FA"/>
                </a:solidFill>
                <a:latin typeface="Aptos"/>
              </a:defRPr>
            </a:pPr>
            <a:r>
              <a:rPr sz="1400">
                <a:solidFill>
                  <a:schemeClr val="bg2">
                    <a:lumMod val="10000"/>
                  </a:schemeClr>
                </a:solidFill>
                <a:latin typeface="Times New Roman" panose="02020603050405020304" pitchFamily="18" charset="0"/>
                <a:cs typeface="Times New Roman" panose="02020603050405020304" pitchFamily="18" charset="0"/>
              </a:rPr>
              <a:t>MLA caches a low-rank latent rather than full per-head K/V.</a:t>
            </a:r>
          </a:p>
        </p:txBody>
      </p:sp>
      <p:sp>
        <p:nvSpPr>
          <p:cNvPr id="26" name="TextBox 78">
            <a:extLst>
              <a:ext uri="{FF2B5EF4-FFF2-40B4-BE49-F238E27FC236}">
                <a16:creationId xmlns:a16="http://schemas.microsoft.com/office/drawing/2014/main" id="{3A6057E6-1421-0766-902E-5A36341C44E7}"/>
              </a:ext>
            </a:extLst>
          </p:cNvPr>
          <p:cNvSpPr txBox="1"/>
          <p:nvPr/>
        </p:nvSpPr>
        <p:spPr>
          <a:xfrm>
            <a:off x="7732532" y="4519365"/>
            <a:ext cx="167884" cy="283154"/>
          </a:xfrm>
          <a:prstGeom prst="rect">
            <a:avLst/>
          </a:prstGeom>
          <a:solidFill>
            <a:schemeClr val="accent3">
              <a:lumMod val="20000"/>
              <a:lumOff val="80000"/>
            </a:schemeClr>
          </a:solidFill>
        </p:spPr>
        <p:txBody>
          <a:bodyPr wrap="square" lIns="18288" tIns="18288" rIns="18288" bIns="18288" anchor="ctr">
            <a:spAutoFit/>
          </a:bodyPr>
          <a:lstStyle/>
          <a:p>
            <a:pPr algn="l">
              <a:defRPr sz="1500" b="1">
                <a:solidFill>
                  <a:srgbClr val="F8B04C"/>
                </a:solidFill>
                <a:latin typeface="Aptos"/>
              </a:defRPr>
            </a:pPr>
            <a:r>
              <a:rPr sz="1600">
                <a:solidFill>
                  <a:schemeClr val="bg2">
                    <a:lumMod val="10000"/>
                  </a:schemeClr>
                </a:solidFill>
                <a:latin typeface="Times New Roman" panose="02020603050405020304" pitchFamily="18" charset="0"/>
                <a:cs typeface="Times New Roman" panose="02020603050405020304" pitchFamily="18" charset="0"/>
              </a:rPr>
              <a:t>•</a:t>
            </a:r>
          </a:p>
        </p:txBody>
      </p:sp>
      <p:sp>
        <p:nvSpPr>
          <p:cNvPr id="27" name="TextBox 79">
            <a:extLst>
              <a:ext uri="{FF2B5EF4-FFF2-40B4-BE49-F238E27FC236}">
                <a16:creationId xmlns:a16="http://schemas.microsoft.com/office/drawing/2014/main" id="{A167230F-9A77-807C-A8B1-97C8EFAA6864}"/>
              </a:ext>
            </a:extLst>
          </p:cNvPr>
          <p:cNvSpPr txBox="1"/>
          <p:nvPr/>
        </p:nvSpPr>
        <p:spPr>
          <a:xfrm>
            <a:off x="7871156" y="4328700"/>
            <a:ext cx="3357676" cy="683264"/>
          </a:xfrm>
          <a:prstGeom prst="rect">
            <a:avLst/>
          </a:prstGeom>
          <a:solidFill>
            <a:schemeClr val="accent3">
              <a:lumMod val="20000"/>
              <a:lumOff val="80000"/>
            </a:schemeClr>
          </a:solidFill>
        </p:spPr>
        <p:txBody>
          <a:bodyPr wrap="square" lIns="18288" tIns="18288" rIns="18288" bIns="18288" anchor="ctr">
            <a:spAutoFit/>
          </a:bodyPr>
          <a:lstStyle/>
          <a:p>
            <a:pPr algn="l">
              <a:defRPr sz="1300" b="0">
                <a:solidFill>
                  <a:srgbClr val="F4F6FA"/>
                </a:solidFill>
                <a:latin typeface="Aptos"/>
              </a:defRPr>
            </a:pPr>
            <a:r>
              <a:rPr sz="1400">
                <a:solidFill>
                  <a:schemeClr val="bg2">
                    <a:lumMod val="10000"/>
                  </a:schemeClr>
                </a:solidFill>
                <a:latin typeface="Times New Roman" panose="02020603050405020304" pitchFamily="18" charset="0"/>
                <a:cs typeface="Times New Roman" panose="02020603050405020304" pitchFamily="18" charset="0"/>
              </a:rPr>
              <a:t>DeepSeekMoE uses 1 shared + 256 routed experts; 8 routed experts are activated per token.</a:t>
            </a:r>
          </a:p>
        </p:txBody>
      </p:sp>
      <p:sp>
        <p:nvSpPr>
          <p:cNvPr id="28" name="TextBox 80">
            <a:extLst>
              <a:ext uri="{FF2B5EF4-FFF2-40B4-BE49-F238E27FC236}">
                <a16:creationId xmlns:a16="http://schemas.microsoft.com/office/drawing/2014/main" id="{34DAE6C6-E2CD-A678-1003-F8D1C9D05379}"/>
              </a:ext>
            </a:extLst>
          </p:cNvPr>
          <p:cNvSpPr txBox="1"/>
          <p:nvPr/>
        </p:nvSpPr>
        <p:spPr>
          <a:xfrm>
            <a:off x="7732532" y="5415477"/>
            <a:ext cx="167884" cy="283154"/>
          </a:xfrm>
          <a:prstGeom prst="rect">
            <a:avLst/>
          </a:prstGeom>
          <a:solidFill>
            <a:schemeClr val="accent3">
              <a:lumMod val="20000"/>
              <a:lumOff val="80000"/>
            </a:schemeClr>
          </a:solidFill>
        </p:spPr>
        <p:txBody>
          <a:bodyPr wrap="square" lIns="18288" tIns="18288" rIns="18288" bIns="18288" anchor="ctr">
            <a:spAutoFit/>
          </a:bodyPr>
          <a:lstStyle/>
          <a:p>
            <a:pPr algn="l">
              <a:defRPr sz="1500" b="1">
                <a:solidFill>
                  <a:srgbClr val="60C5FF"/>
                </a:solidFill>
                <a:latin typeface="Aptos"/>
              </a:defRPr>
            </a:pPr>
            <a:r>
              <a:rPr sz="1600">
                <a:solidFill>
                  <a:schemeClr val="bg2">
                    <a:lumMod val="10000"/>
                  </a:schemeClr>
                </a:solidFill>
                <a:latin typeface="Times New Roman" panose="02020603050405020304" pitchFamily="18" charset="0"/>
                <a:cs typeface="Times New Roman" panose="02020603050405020304" pitchFamily="18" charset="0"/>
              </a:rPr>
              <a:t>•</a:t>
            </a:r>
          </a:p>
        </p:txBody>
      </p:sp>
      <p:sp>
        <p:nvSpPr>
          <p:cNvPr id="29" name="TextBox 81">
            <a:extLst>
              <a:ext uri="{FF2B5EF4-FFF2-40B4-BE49-F238E27FC236}">
                <a16:creationId xmlns:a16="http://schemas.microsoft.com/office/drawing/2014/main" id="{BE4EF1A5-4A73-9192-4B88-EB9F201318B3}"/>
              </a:ext>
            </a:extLst>
          </p:cNvPr>
          <p:cNvSpPr txBox="1"/>
          <p:nvPr/>
        </p:nvSpPr>
        <p:spPr>
          <a:xfrm>
            <a:off x="7871156" y="5224812"/>
            <a:ext cx="3357676" cy="683264"/>
          </a:xfrm>
          <a:prstGeom prst="rect">
            <a:avLst/>
          </a:prstGeom>
          <a:solidFill>
            <a:schemeClr val="accent3">
              <a:lumMod val="20000"/>
              <a:lumOff val="80000"/>
            </a:schemeClr>
          </a:solidFill>
        </p:spPr>
        <p:txBody>
          <a:bodyPr wrap="square" lIns="18288" tIns="18288" rIns="18288" bIns="18288" anchor="ctr">
            <a:spAutoFit/>
          </a:bodyPr>
          <a:lstStyle/>
          <a:p>
            <a:pPr algn="l">
              <a:defRPr sz="1300" b="0">
                <a:solidFill>
                  <a:srgbClr val="F4F6FA"/>
                </a:solidFill>
                <a:latin typeface="Aptos"/>
              </a:defRPr>
            </a:pPr>
            <a:r>
              <a:rPr sz="1400">
                <a:solidFill>
                  <a:schemeClr val="bg2">
                    <a:lumMod val="10000"/>
                  </a:schemeClr>
                </a:solidFill>
                <a:latin typeface="Times New Roman" panose="02020603050405020304" pitchFamily="18" charset="0"/>
                <a:cs typeface="Times New Roman" panose="02020603050405020304" pitchFamily="18" charset="0"/>
              </a:rPr>
              <a:t>The model reaches 128K through post-training context extension; pre-training itself uses max 4K sequences.</a:t>
            </a:r>
          </a:p>
        </p:txBody>
      </p:sp>
    </p:spTree>
    <p:extLst>
      <p:ext uri="{BB962C8B-B14F-4D97-AF65-F5344CB8AC3E}">
        <p14:creationId xmlns:p14="http://schemas.microsoft.com/office/powerpoint/2010/main" val="643425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92EB013E-243A-7E44-84B3-4118CCD5AFF9}"/>
              </a:ext>
            </a:extLst>
          </p:cNvPr>
          <p:cNvSpPr>
            <a:spLocks noGrp="1"/>
          </p:cNvSpPr>
          <p:nvPr>
            <p:ph type="body" sz="quarter" idx="13"/>
          </p:nvPr>
        </p:nvSpPr>
        <p:spPr>
          <a:xfrm>
            <a:off x="1094520" y="579314"/>
            <a:ext cx="5001480" cy="222889"/>
          </a:xfrm>
        </p:spPr>
        <p:txBody>
          <a:bodyPr/>
          <a:lstStyle/>
          <a:p>
            <a:r>
              <a:rPr lang="en" altLang="zh-CN" sz="1400" dirty="0"/>
              <a:t>DeepSeek-V4 </a:t>
            </a:r>
            <a:r>
              <a:rPr lang="en-US" altLang="zh-CN" sz="1400" dirty="0"/>
              <a:t>-</a:t>
            </a:r>
            <a:r>
              <a:rPr lang="en" altLang="zh-CN" sz="1400" dirty="0"/>
              <a:t> same Transformer family, different efficiency path</a:t>
            </a:r>
          </a:p>
        </p:txBody>
      </p:sp>
      <p:sp>
        <p:nvSpPr>
          <p:cNvPr id="5" name="TextBox 4">
            <a:extLst>
              <a:ext uri="{FF2B5EF4-FFF2-40B4-BE49-F238E27FC236}">
                <a16:creationId xmlns:a16="http://schemas.microsoft.com/office/drawing/2014/main" id="{FE8B7899-9001-87BF-FCCB-ED4FB50AC061}"/>
              </a:ext>
            </a:extLst>
          </p:cNvPr>
          <p:cNvSpPr txBox="1"/>
          <p:nvPr/>
        </p:nvSpPr>
        <p:spPr>
          <a:xfrm>
            <a:off x="566928" y="1115521"/>
            <a:ext cx="10881360" cy="252377"/>
          </a:xfrm>
          <a:prstGeom prst="rect">
            <a:avLst/>
          </a:prstGeom>
          <a:noFill/>
        </p:spPr>
        <p:txBody>
          <a:bodyPr wrap="square" lIns="18288" tIns="18288" rIns="18288" bIns="18288" anchor="ctr">
            <a:spAutoFit/>
          </a:bodyPr>
          <a:lstStyle/>
          <a:p>
            <a:pPr>
              <a:defRPr sz="1250" b="0">
                <a:solidFill>
                  <a:srgbClr val="AAB5C9"/>
                </a:solidFill>
                <a:latin typeface="Aptos"/>
              </a:defRPr>
            </a:pPr>
            <a:r>
              <a:rPr sz="1400" b="1" dirty="0">
                <a:solidFill>
                  <a:schemeClr val="bg2">
                    <a:lumMod val="10000"/>
                  </a:schemeClr>
                </a:solidFill>
                <a:latin typeface="Times New Roman" panose="02020603050405020304" pitchFamily="18" charset="0"/>
                <a:cs typeface="Times New Roman" panose="02020603050405020304" pitchFamily="18" charset="0"/>
              </a:rPr>
              <a:t>Hybrid CSA/HCA + </a:t>
            </a:r>
            <a:r>
              <a:rPr sz="1400" b="1" dirty="0" err="1">
                <a:solidFill>
                  <a:schemeClr val="bg2">
                    <a:lumMod val="10000"/>
                  </a:schemeClr>
                </a:solidFill>
                <a:latin typeface="Times New Roman" panose="02020603050405020304" pitchFamily="18" charset="0"/>
                <a:cs typeface="Times New Roman" panose="02020603050405020304" pitchFamily="18" charset="0"/>
              </a:rPr>
              <a:t>mHC</a:t>
            </a:r>
            <a:r>
              <a:rPr sz="1400" b="1" dirty="0">
                <a:solidFill>
                  <a:schemeClr val="bg2">
                    <a:lumMod val="10000"/>
                  </a:schemeClr>
                </a:solidFill>
                <a:latin typeface="Times New Roman" panose="02020603050405020304" pitchFamily="18" charset="0"/>
                <a:cs typeface="Times New Roman" panose="02020603050405020304" pitchFamily="18" charset="0"/>
              </a:rPr>
              <a:t> + Muon; V4-Pro and V4-Flash both target 1M context</a:t>
            </a:r>
          </a:p>
        </p:txBody>
      </p:sp>
      <p:sp>
        <p:nvSpPr>
          <p:cNvPr id="6" name="Rounded Rectangle 5">
            <a:extLst>
              <a:ext uri="{FF2B5EF4-FFF2-40B4-BE49-F238E27FC236}">
                <a16:creationId xmlns:a16="http://schemas.microsoft.com/office/drawing/2014/main" id="{87809FB0-5377-3DB1-7A5F-F277901787F3}"/>
              </a:ext>
            </a:extLst>
          </p:cNvPr>
          <p:cNvSpPr/>
          <p:nvPr/>
        </p:nvSpPr>
        <p:spPr>
          <a:xfrm>
            <a:off x="566928" y="1552605"/>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4C16B2-2F2D-7082-D589-C6C56375A937}"/>
              </a:ext>
            </a:extLst>
          </p:cNvPr>
          <p:cNvSpPr txBox="1"/>
          <p:nvPr/>
        </p:nvSpPr>
        <p:spPr>
          <a:xfrm>
            <a:off x="713232" y="1596361"/>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9178FF"/>
                </a:solidFill>
                <a:latin typeface="Aptos"/>
              </a:defRPr>
            </a:pPr>
            <a:r>
              <a:rPr>
                <a:latin typeface="Times New Roman" panose="02020603050405020304" pitchFamily="18" charset="0"/>
                <a:cs typeface="Times New Roman" panose="02020603050405020304" pitchFamily="18" charset="0"/>
              </a:rPr>
              <a:t>1.6T</a:t>
            </a:r>
          </a:p>
        </p:txBody>
      </p:sp>
      <p:sp>
        <p:nvSpPr>
          <p:cNvPr id="8" name="TextBox 7">
            <a:extLst>
              <a:ext uri="{FF2B5EF4-FFF2-40B4-BE49-F238E27FC236}">
                <a16:creationId xmlns:a16="http://schemas.microsoft.com/office/drawing/2014/main" id="{24B3A143-2077-990A-3AA8-F12B87571A7E}"/>
              </a:ext>
            </a:extLst>
          </p:cNvPr>
          <p:cNvSpPr txBox="1"/>
          <p:nvPr/>
        </p:nvSpPr>
        <p:spPr>
          <a:xfrm>
            <a:off x="713232" y="2012054"/>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V4-Pro total</a:t>
            </a:r>
          </a:p>
        </p:txBody>
      </p:sp>
      <p:sp>
        <p:nvSpPr>
          <p:cNvPr id="9" name="Rounded Rectangle 8">
            <a:extLst>
              <a:ext uri="{FF2B5EF4-FFF2-40B4-BE49-F238E27FC236}">
                <a16:creationId xmlns:a16="http://schemas.microsoft.com/office/drawing/2014/main" id="{5281CB92-CD6B-09DA-2545-8A61812F26B3}"/>
              </a:ext>
            </a:extLst>
          </p:cNvPr>
          <p:cNvSpPr/>
          <p:nvPr/>
        </p:nvSpPr>
        <p:spPr>
          <a:xfrm>
            <a:off x="2807208" y="1552605"/>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92F9A63-3D06-C184-A897-F4D371F9D185}"/>
              </a:ext>
            </a:extLst>
          </p:cNvPr>
          <p:cNvSpPr txBox="1"/>
          <p:nvPr/>
        </p:nvSpPr>
        <p:spPr>
          <a:xfrm>
            <a:off x="2953512" y="1596361"/>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9178FF"/>
                </a:solidFill>
                <a:latin typeface="Aptos"/>
              </a:defRPr>
            </a:pPr>
            <a:r>
              <a:rPr>
                <a:latin typeface="Times New Roman" panose="02020603050405020304" pitchFamily="18" charset="0"/>
                <a:cs typeface="Times New Roman" panose="02020603050405020304" pitchFamily="18" charset="0"/>
              </a:rPr>
              <a:t>49B</a:t>
            </a:r>
          </a:p>
        </p:txBody>
      </p:sp>
      <p:sp>
        <p:nvSpPr>
          <p:cNvPr id="11" name="TextBox 10">
            <a:extLst>
              <a:ext uri="{FF2B5EF4-FFF2-40B4-BE49-F238E27FC236}">
                <a16:creationId xmlns:a16="http://schemas.microsoft.com/office/drawing/2014/main" id="{E2F75C43-854E-2A88-F418-2799D0C24CEE}"/>
              </a:ext>
            </a:extLst>
          </p:cNvPr>
          <p:cNvSpPr txBox="1"/>
          <p:nvPr/>
        </p:nvSpPr>
        <p:spPr>
          <a:xfrm>
            <a:off x="2953512" y="2012054"/>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V4-Pro active</a:t>
            </a:r>
          </a:p>
        </p:txBody>
      </p:sp>
      <p:sp>
        <p:nvSpPr>
          <p:cNvPr id="12" name="Rounded Rectangle 11">
            <a:extLst>
              <a:ext uri="{FF2B5EF4-FFF2-40B4-BE49-F238E27FC236}">
                <a16:creationId xmlns:a16="http://schemas.microsoft.com/office/drawing/2014/main" id="{43A5C262-B8BE-DE8C-6236-609E50508369}"/>
              </a:ext>
            </a:extLst>
          </p:cNvPr>
          <p:cNvSpPr/>
          <p:nvPr/>
        </p:nvSpPr>
        <p:spPr>
          <a:xfrm>
            <a:off x="5047488" y="1552605"/>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B0A3E83-DD49-0BFD-ACF0-03737D611021}"/>
              </a:ext>
            </a:extLst>
          </p:cNvPr>
          <p:cNvSpPr txBox="1"/>
          <p:nvPr/>
        </p:nvSpPr>
        <p:spPr>
          <a:xfrm>
            <a:off x="5193792" y="1596361"/>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60C5FF"/>
                </a:solidFill>
                <a:latin typeface="Aptos"/>
              </a:defRPr>
            </a:pPr>
            <a:r>
              <a:rPr>
                <a:latin typeface="Times New Roman" panose="02020603050405020304" pitchFamily="18" charset="0"/>
                <a:cs typeface="Times New Roman" panose="02020603050405020304" pitchFamily="18" charset="0"/>
              </a:rPr>
              <a:t>284B</a:t>
            </a:r>
          </a:p>
        </p:txBody>
      </p:sp>
      <p:sp>
        <p:nvSpPr>
          <p:cNvPr id="14" name="TextBox 13">
            <a:extLst>
              <a:ext uri="{FF2B5EF4-FFF2-40B4-BE49-F238E27FC236}">
                <a16:creationId xmlns:a16="http://schemas.microsoft.com/office/drawing/2014/main" id="{7860E9D8-506F-4C5E-84D2-9A02789F4279}"/>
              </a:ext>
            </a:extLst>
          </p:cNvPr>
          <p:cNvSpPr txBox="1"/>
          <p:nvPr/>
        </p:nvSpPr>
        <p:spPr>
          <a:xfrm>
            <a:off x="5193792" y="2012054"/>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V4-Flash total</a:t>
            </a:r>
          </a:p>
        </p:txBody>
      </p:sp>
      <p:sp>
        <p:nvSpPr>
          <p:cNvPr id="15" name="Rounded Rectangle 14">
            <a:extLst>
              <a:ext uri="{FF2B5EF4-FFF2-40B4-BE49-F238E27FC236}">
                <a16:creationId xmlns:a16="http://schemas.microsoft.com/office/drawing/2014/main" id="{2878CF78-8CDC-D765-07B8-AF6B8EFDE12E}"/>
              </a:ext>
            </a:extLst>
          </p:cNvPr>
          <p:cNvSpPr/>
          <p:nvPr/>
        </p:nvSpPr>
        <p:spPr>
          <a:xfrm>
            <a:off x="7287768" y="1552605"/>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10FE467-073C-DC9E-5243-D65E69042288}"/>
              </a:ext>
            </a:extLst>
          </p:cNvPr>
          <p:cNvSpPr txBox="1"/>
          <p:nvPr/>
        </p:nvSpPr>
        <p:spPr>
          <a:xfrm>
            <a:off x="7434072" y="1596361"/>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60C5FF"/>
                </a:solidFill>
                <a:latin typeface="Aptos"/>
              </a:defRPr>
            </a:pPr>
            <a:r>
              <a:rPr>
                <a:latin typeface="Times New Roman" panose="02020603050405020304" pitchFamily="18" charset="0"/>
                <a:cs typeface="Times New Roman" panose="02020603050405020304" pitchFamily="18" charset="0"/>
              </a:rPr>
              <a:t>13B</a:t>
            </a:r>
          </a:p>
        </p:txBody>
      </p:sp>
      <p:sp>
        <p:nvSpPr>
          <p:cNvPr id="17" name="TextBox 16">
            <a:extLst>
              <a:ext uri="{FF2B5EF4-FFF2-40B4-BE49-F238E27FC236}">
                <a16:creationId xmlns:a16="http://schemas.microsoft.com/office/drawing/2014/main" id="{F397DD2E-C1DF-F726-D81A-C66DEEBCF324}"/>
              </a:ext>
            </a:extLst>
          </p:cNvPr>
          <p:cNvSpPr txBox="1"/>
          <p:nvPr/>
        </p:nvSpPr>
        <p:spPr>
          <a:xfrm>
            <a:off x="7434072" y="2012054"/>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V4-Flash active</a:t>
            </a:r>
          </a:p>
        </p:txBody>
      </p:sp>
      <p:sp>
        <p:nvSpPr>
          <p:cNvPr id="18" name="Rounded Rectangle 17">
            <a:extLst>
              <a:ext uri="{FF2B5EF4-FFF2-40B4-BE49-F238E27FC236}">
                <a16:creationId xmlns:a16="http://schemas.microsoft.com/office/drawing/2014/main" id="{B3467440-D294-CFB8-CB40-A2DDE9EF74F3}"/>
              </a:ext>
            </a:extLst>
          </p:cNvPr>
          <p:cNvSpPr/>
          <p:nvPr/>
        </p:nvSpPr>
        <p:spPr>
          <a:xfrm>
            <a:off x="9528048" y="1552605"/>
            <a:ext cx="1993392" cy="74980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39CCE485-7BA5-152D-3532-DEF3525E33B8}"/>
              </a:ext>
            </a:extLst>
          </p:cNvPr>
          <p:cNvSpPr txBox="1"/>
          <p:nvPr/>
        </p:nvSpPr>
        <p:spPr>
          <a:xfrm>
            <a:off x="9674352" y="1596361"/>
            <a:ext cx="1700784" cy="406265"/>
          </a:xfrm>
          <a:prstGeom prst="rect">
            <a:avLst/>
          </a:prstGeom>
          <a:solidFill>
            <a:schemeClr val="accent3">
              <a:lumMod val="20000"/>
              <a:lumOff val="80000"/>
            </a:schemeClr>
          </a:solidFill>
        </p:spPr>
        <p:txBody>
          <a:bodyPr wrap="square" lIns="18288" tIns="18288" rIns="18288" bIns="18288" anchor="ctr">
            <a:spAutoFit/>
          </a:bodyPr>
          <a:lstStyle/>
          <a:p>
            <a:pPr algn="l">
              <a:defRPr sz="2400" b="1">
                <a:solidFill>
                  <a:srgbClr val="F8B04C"/>
                </a:solidFill>
                <a:latin typeface="Aptos"/>
              </a:defRPr>
            </a:pPr>
            <a:r>
              <a:rPr>
                <a:latin typeface="Times New Roman" panose="02020603050405020304" pitchFamily="18" charset="0"/>
                <a:cs typeface="Times New Roman" panose="02020603050405020304" pitchFamily="18" charset="0"/>
              </a:rPr>
              <a:t>1M</a:t>
            </a:r>
          </a:p>
        </p:txBody>
      </p:sp>
      <p:sp>
        <p:nvSpPr>
          <p:cNvPr id="20" name="TextBox 19">
            <a:extLst>
              <a:ext uri="{FF2B5EF4-FFF2-40B4-BE49-F238E27FC236}">
                <a16:creationId xmlns:a16="http://schemas.microsoft.com/office/drawing/2014/main" id="{F6B3F027-328A-D563-D9EA-D86BB4BC6B60}"/>
              </a:ext>
            </a:extLst>
          </p:cNvPr>
          <p:cNvSpPr txBox="1"/>
          <p:nvPr/>
        </p:nvSpPr>
        <p:spPr>
          <a:xfrm>
            <a:off x="9674352" y="2012054"/>
            <a:ext cx="1700784" cy="178382"/>
          </a:xfrm>
          <a:prstGeom prst="rect">
            <a:avLst/>
          </a:prstGeom>
          <a:solidFill>
            <a:schemeClr val="accent3">
              <a:lumMod val="20000"/>
              <a:lumOff val="80000"/>
            </a:schemeClr>
          </a:solidFill>
        </p:spPr>
        <p:txBody>
          <a:bodyPr wrap="square" lIns="18288" tIns="18288" rIns="18288" bIns="18288" anchor="ctr">
            <a:spAutoFit/>
          </a:bodyPr>
          <a:lstStyle/>
          <a:p>
            <a:pPr algn="l">
              <a:defRPr sz="919" b="0">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context</a:t>
            </a:r>
          </a:p>
        </p:txBody>
      </p:sp>
      <p:pic>
        <p:nvPicPr>
          <p:cNvPr id="22" name="图片 21">
            <a:extLst>
              <a:ext uri="{FF2B5EF4-FFF2-40B4-BE49-F238E27FC236}">
                <a16:creationId xmlns:a16="http://schemas.microsoft.com/office/drawing/2014/main" id="{6569BF20-19AB-3BBE-EC58-DD0936DD6571}"/>
              </a:ext>
            </a:extLst>
          </p:cNvPr>
          <p:cNvPicPr>
            <a:picLocks noChangeAspect="1"/>
          </p:cNvPicPr>
          <p:nvPr/>
        </p:nvPicPr>
        <p:blipFill>
          <a:blip r:embed="rId2"/>
          <a:stretch>
            <a:fillRect/>
          </a:stretch>
        </p:blipFill>
        <p:spPr>
          <a:xfrm>
            <a:off x="1094520" y="2459764"/>
            <a:ext cx="4045736" cy="4398236"/>
          </a:xfrm>
          <a:prstGeom prst="rect">
            <a:avLst/>
          </a:prstGeom>
        </p:spPr>
      </p:pic>
      <p:sp>
        <p:nvSpPr>
          <p:cNvPr id="23" name="Rounded Rectangle 51">
            <a:extLst>
              <a:ext uri="{FF2B5EF4-FFF2-40B4-BE49-F238E27FC236}">
                <a16:creationId xmlns:a16="http://schemas.microsoft.com/office/drawing/2014/main" id="{A86A4596-F8A4-61AE-C2FE-C0612A6A5F55}"/>
              </a:ext>
            </a:extLst>
          </p:cNvPr>
          <p:cNvSpPr/>
          <p:nvPr/>
        </p:nvSpPr>
        <p:spPr>
          <a:xfrm>
            <a:off x="6867144" y="2813538"/>
            <a:ext cx="4114800" cy="3438144"/>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Rounded Rectangle 52">
            <a:extLst>
              <a:ext uri="{FF2B5EF4-FFF2-40B4-BE49-F238E27FC236}">
                <a16:creationId xmlns:a16="http://schemas.microsoft.com/office/drawing/2014/main" id="{0ED49A3D-93D5-21E9-381F-1DA9183B0F63}"/>
              </a:ext>
            </a:extLst>
          </p:cNvPr>
          <p:cNvSpPr/>
          <p:nvPr/>
        </p:nvSpPr>
        <p:spPr>
          <a:xfrm>
            <a:off x="7086599" y="3032994"/>
            <a:ext cx="3013681" cy="310896"/>
          </a:xfrm>
          <a:prstGeom prst="roundRect">
            <a:avLst/>
          </a:prstGeom>
          <a:solidFill>
            <a:srgbClr val="9178FF"/>
          </a:solidFill>
          <a:ln w="12700">
            <a:solidFill>
              <a:srgbClr val="91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53">
            <a:extLst>
              <a:ext uri="{FF2B5EF4-FFF2-40B4-BE49-F238E27FC236}">
                <a16:creationId xmlns:a16="http://schemas.microsoft.com/office/drawing/2014/main" id="{F481D728-62D7-6EE5-F666-6586E70E36E1}"/>
              </a:ext>
            </a:extLst>
          </p:cNvPr>
          <p:cNvSpPr txBox="1"/>
          <p:nvPr/>
        </p:nvSpPr>
        <p:spPr>
          <a:xfrm>
            <a:off x="7086600" y="3085337"/>
            <a:ext cx="3013680" cy="206210"/>
          </a:xfrm>
          <a:prstGeom prst="rect">
            <a:avLst/>
          </a:prstGeom>
          <a:noFill/>
        </p:spPr>
        <p:txBody>
          <a:bodyPr wrap="square" lIns="18288" tIns="18288" rIns="18288" bIns="18288" anchor="ctr">
            <a:spAutoFit/>
          </a:bodyPr>
          <a:lstStyle/>
          <a:p>
            <a:pPr algn="ctr">
              <a:defRPr sz="1100" b="1">
                <a:solidFill>
                  <a:srgbClr val="090E1D"/>
                </a:solidFill>
                <a:latin typeface="Aptos"/>
              </a:defRPr>
            </a:pPr>
            <a:r>
              <a:rPr dirty="0">
                <a:latin typeface="Times New Roman" panose="02020603050405020304" pitchFamily="18" charset="0"/>
                <a:cs typeface="Times New Roman" panose="02020603050405020304" pitchFamily="18" charset="0"/>
              </a:rPr>
              <a:t>THREE ARCHITECTURAL UPGRADES</a:t>
            </a:r>
          </a:p>
        </p:txBody>
      </p:sp>
      <p:sp>
        <p:nvSpPr>
          <p:cNvPr id="26" name="TextBox 54">
            <a:extLst>
              <a:ext uri="{FF2B5EF4-FFF2-40B4-BE49-F238E27FC236}">
                <a16:creationId xmlns:a16="http://schemas.microsoft.com/office/drawing/2014/main" id="{FB9EC6F9-2354-9DFF-D056-0A914EC6181E}"/>
              </a:ext>
            </a:extLst>
          </p:cNvPr>
          <p:cNvSpPr txBox="1"/>
          <p:nvPr/>
        </p:nvSpPr>
        <p:spPr>
          <a:xfrm>
            <a:off x="7086600" y="3760955"/>
            <a:ext cx="164592" cy="263149"/>
          </a:xfrm>
          <a:prstGeom prst="rect">
            <a:avLst/>
          </a:prstGeom>
          <a:noFill/>
        </p:spPr>
        <p:txBody>
          <a:bodyPr wrap="square" lIns="18288" tIns="18288" rIns="18288" bIns="18288" anchor="ctr">
            <a:spAutoFit/>
          </a:bodyPr>
          <a:lstStyle/>
          <a:p>
            <a:pPr algn="l">
              <a:defRPr sz="1470" b="1">
                <a:solidFill>
                  <a:srgbClr val="60C5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a:t>
            </a:r>
          </a:p>
        </p:txBody>
      </p:sp>
      <p:sp>
        <p:nvSpPr>
          <p:cNvPr id="27" name="TextBox 55">
            <a:extLst>
              <a:ext uri="{FF2B5EF4-FFF2-40B4-BE49-F238E27FC236}">
                <a16:creationId xmlns:a16="http://schemas.microsoft.com/office/drawing/2014/main" id="{A052953D-E45C-826C-91B1-BB046A6CA709}"/>
              </a:ext>
            </a:extLst>
          </p:cNvPr>
          <p:cNvSpPr txBox="1"/>
          <p:nvPr/>
        </p:nvSpPr>
        <p:spPr>
          <a:xfrm>
            <a:off x="7287768" y="3580906"/>
            <a:ext cx="3291839" cy="623248"/>
          </a:xfrm>
          <a:prstGeom prst="rect">
            <a:avLst/>
          </a:prstGeom>
          <a:noFill/>
        </p:spPr>
        <p:txBody>
          <a:bodyPr wrap="square" lIns="18288" tIns="18288" rIns="18288" bIns="18288" anchor="ctr">
            <a:spAutoFit/>
          </a:bodyPr>
          <a:lstStyle/>
          <a:p>
            <a:pPr algn="l">
              <a:defRPr sz="1270"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Attention: MLA → hybrid Compressed Sparse Attention (CSA) + Heavily Compressed Attention (HCA).</a:t>
            </a:r>
          </a:p>
        </p:txBody>
      </p:sp>
      <p:sp>
        <p:nvSpPr>
          <p:cNvPr id="28" name="TextBox 56">
            <a:extLst>
              <a:ext uri="{FF2B5EF4-FFF2-40B4-BE49-F238E27FC236}">
                <a16:creationId xmlns:a16="http://schemas.microsoft.com/office/drawing/2014/main" id="{06AB3FC1-3CC6-3EBD-6182-5F75E2E99D41}"/>
              </a:ext>
            </a:extLst>
          </p:cNvPr>
          <p:cNvSpPr txBox="1"/>
          <p:nvPr/>
        </p:nvSpPr>
        <p:spPr>
          <a:xfrm>
            <a:off x="7086600" y="4565627"/>
            <a:ext cx="164592" cy="263149"/>
          </a:xfrm>
          <a:prstGeom prst="rect">
            <a:avLst/>
          </a:prstGeom>
          <a:noFill/>
        </p:spPr>
        <p:txBody>
          <a:bodyPr wrap="square" lIns="18288" tIns="18288" rIns="18288" bIns="18288" anchor="ctr">
            <a:spAutoFit/>
          </a:bodyPr>
          <a:lstStyle/>
          <a:p>
            <a:pPr algn="l">
              <a:defRPr sz="1470" b="1">
                <a:solidFill>
                  <a:srgbClr val="9178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a:t>
            </a:r>
          </a:p>
        </p:txBody>
      </p:sp>
      <p:sp>
        <p:nvSpPr>
          <p:cNvPr id="29" name="TextBox 57">
            <a:extLst>
              <a:ext uri="{FF2B5EF4-FFF2-40B4-BE49-F238E27FC236}">
                <a16:creationId xmlns:a16="http://schemas.microsoft.com/office/drawing/2014/main" id="{4EC23BDB-CC9F-744E-1065-8B61F4A32E7D}"/>
              </a:ext>
            </a:extLst>
          </p:cNvPr>
          <p:cNvSpPr txBox="1"/>
          <p:nvPr/>
        </p:nvSpPr>
        <p:spPr>
          <a:xfrm>
            <a:off x="7287768" y="4483297"/>
            <a:ext cx="3291839" cy="427809"/>
          </a:xfrm>
          <a:prstGeom prst="rect">
            <a:avLst/>
          </a:prstGeom>
          <a:noFill/>
        </p:spPr>
        <p:txBody>
          <a:bodyPr wrap="square" lIns="18288" tIns="18288" rIns="18288" bIns="18288" anchor="ctr">
            <a:spAutoFit/>
          </a:bodyPr>
          <a:lstStyle/>
          <a:p>
            <a:pPr algn="l">
              <a:defRPr sz="1270"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Residual path: standard residual connections → manifold-constrained Hyper-Connections (mHC).</a:t>
            </a:r>
          </a:p>
        </p:txBody>
      </p:sp>
      <p:sp>
        <p:nvSpPr>
          <p:cNvPr id="30" name="TextBox 58">
            <a:extLst>
              <a:ext uri="{FF2B5EF4-FFF2-40B4-BE49-F238E27FC236}">
                <a16:creationId xmlns:a16="http://schemas.microsoft.com/office/drawing/2014/main" id="{0DD02943-E234-DB68-5376-3D54C2EDE350}"/>
              </a:ext>
            </a:extLst>
          </p:cNvPr>
          <p:cNvSpPr txBox="1"/>
          <p:nvPr/>
        </p:nvSpPr>
        <p:spPr>
          <a:xfrm>
            <a:off x="7086600" y="5425163"/>
            <a:ext cx="164592" cy="263149"/>
          </a:xfrm>
          <a:prstGeom prst="rect">
            <a:avLst/>
          </a:prstGeom>
          <a:noFill/>
        </p:spPr>
        <p:txBody>
          <a:bodyPr wrap="square" lIns="18288" tIns="18288" rIns="18288" bIns="18288" anchor="ctr">
            <a:spAutoFit/>
          </a:bodyPr>
          <a:lstStyle/>
          <a:p>
            <a:pPr algn="l">
              <a:defRPr sz="1470" b="1">
                <a:solidFill>
                  <a:srgbClr val="F8B04C"/>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a:t>
            </a:r>
          </a:p>
        </p:txBody>
      </p:sp>
      <p:sp>
        <p:nvSpPr>
          <p:cNvPr id="31" name="TextBox 59">
            <a:extLst>
              <a:ext uri="{FF2B5EF4-FFF2-40B4-BE49-F238E27FC236}">
                <a16:creationId xmlns:a16="http://schemas.microsoft.com/office/drawing/2014/main" id="{28828166-A5CA-8B30-A760-97A47310FC6D}"/>
              </a:ext>
            </a:extLst>
          </p:cNvPr>
          <p:cNvSpPr txBox="1"/>
          <p:nvPr/>
        </p:nvSpPr>
        <p:spPr>
          <a:xfrm>
            <a:off x="7287768" y="5245114"/>
            <a:ext cx="3291839" cy="623248"/>
          </a:xfrm>
          <a:prstGeom prst="rect">
            <a:avLst/>
          </a:prstGeom>
          <a:noFill/>
        </p:spPr>
        <p:txBody>
          <a:bodyPr wrap="square" lIns="18288" tIns="18288" rIns="18288" bIns="18288" anchor="ctr">
            <a:spAutoFit/>
          </a:bodyPr>
          <a:lstStyle/>
          <a:p>
            <a:pPr algn="l">
              <a:defRPr sz="1270"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Training: AdamW → Muon for most parameters; context curriculum reaches 1M and activates sparsity from 64K.</a:t>
            </a:r>
          </a:p>
        </p:txBody>
      </p:sp>
    </p:spTree>
    <p:extLst>
      <p:ext uri="{BB962C8B-B14F-4D97-AF65-F5344CB8AC3E}">
        <p14:creationId xmlns:p14="http://schemas.microsoft.com/office/powerpoint/2010/main" val="2988048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66D81-6814-53F1-28B8-47F84630417B}"/>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6CF548F9-756E-4ED5-0484-AEDE39E370EB}"/>
              </a:ext>
            </a:extLst>
          </p:cNvPr>
          <p:cNvSpPr>
            <a:spLocks noGrp="1"/>
          </p:cNvSpPr>
          <p:nvPr>
            <p:ph type="body" sz="quarter" idx="13"/>
          </p:nvPr>
        </p:nvSpPr>
        <p:spPr>
          <a:xfrm>
            <a:off x="1094520" y="579314"/>
            <a:ext cx="3686496" cy="222889"/>
          </a:xfrm>
        </p:spPr>
        <p:txBody>
          <a:bodyPr/>
          <a:lstStyle/>
          <a:p>
            <a:r>
              <a:rPr lang="en" altLang="zh-CN" sz="1400" dirty="0"/>
              <a:t>What actually changed?</a:t>
            </a:r>
          </a:p>
        </p:txBody>
      </p:sp>
      <p:sp>
        <p:nvSpPr>
          <p:cNvPr id="69" name="TextBox 4">
            <a:extLst>
              <a:ext uri="{FF2B5EF4-FFF2-40B4-BE49-F238E27FC236}">
                <a16:creationId xmlns:a16="http://schemas.microsoft.com/office/drawing/2014/main" id="{B605807D-F8C0-3122-D143-B683E6793356}"/>
              </a:ext>
            </a:extLst>
          </p:cNvPr>
          <p:cNvSpPr txBox="1"/>
          <p:nvPr/>
        </p:nvSpPr>
        <p:spPr>
          <a:xfrm>
            <a:off x="485503" y="1080860"/>
            <a:ext cx="10881360" cy="252377"/>
          </a:xfrm>
          <a:prstGeom prst="rect">
            <a:avLst/>
          </a:prstGeom>
          <a:noFill/>
        </p:spPr>
        <p:txBody>
          <a:bodyPr wrap="square" lIns="18288" tIns="18288" rIns="18288" bIns="18288" anchor="ctr">
            <a:spAutoFit/>
          </a:bodyPr>
          <a:lstStyle/>
          <a:p>
            <a:pPr algn="l">
              <a:defRPr sz="1250" b="0">
                <a:solidFill>
                  <a:srgbClr val="AAB5C9"/>
                </a:solidFill>
                <a:latin typeface="Aptos"/>
              </a:defRPr>
            </a:pPr>
            <a:r>
              <a:rPr sz="1400" b="1" dirty="0">
                <a:solidFill>
                  <a:schemeClr val="bg2">
                    <a:lumMod val="10000"/>
                  </a:schemeClr>
                </a:solidFill>
                <a:latin typeface="Times New Roman" panose="02020603050405020304" pitchFamily="18" charset="0"/>
                <a:cs typeface="Times New Roman" panose="02020603050405020304" pitchFamily="18" charset="0"/>
              </a:rPr>
              <a:t>Focus on architectural and training mechanisms; MTP stays essentially unchanged.</a:t>
            </a:r>
          </a:p>
        </p:txBody>
      </p:sp>
      <p:sp>
        <p:nvSpPr>
          <p:cNvPr id="70" name="Rounded Rectangle 5">
            <a:extLst>
              <a:ext uri="{FF2B5EF4-FFF2-40B4-BE49-F238E27FC236}">
                <a16:creationId xmlns:a16="http://schemas.microsoft.com/office/drawing/2014/main" id="{566C34F4-949E-86BF-05C1-98B65FEACF92}"/>
              </a:ext>
            </a:extLst>
          </p:cNvPr>
          <p:cNvSpPr/>
          <p:nvPr/>
        </p:nvSpPr>
        <p:spPr>
          <a:xfrm>
            <a:off x="485503" y="1573645"/>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71" name="TextBox 6">
            <a:extLst>
              <a:ext uri="{FF2B5EF4-FFF2-40B4-BE49-F238E27FC236}">
                <a16:creationId xmlns:a16="http://schemas.microsoft.com/office/drawing/2014/main" id="{3D4C175B-35FA-0141-FCAE-AD80B20920BB}"/>
              </a:ext>
            </a:extLst>
          </p:cNvPr>
          <p:cNvSpPr txBox="1"/>
          <p:nvPr/>
        </p:nvSpPr>
        <p:spPr>
          <a:xfrm>
            <a:off x="595231" y="1677730"/>
            <a:ext cx="1655063" cy="221599"/>
          </a:xfrm>
          <a:prstGeom prst="rect">
            <a:avLst/>
          </a:prstGeom>
          <a:solidFill>
            <a:schemeClr val="accent3">
              <a:lumMod val="20000"/>
              <a:lumOff val="80000"/>
            </a:schemeClr>
          </a:solidFill>
        </p:spPr>
        <p:txBody>
          <a:bodyPr wrap="square" lIns="18288" tIns="18288" rIns="18288" bIns="18288" anchor="ctr">
            <a:spAutoFit/>
          </a:bodyPr>
          <a:lstStyle/>
          <a:p>
            <a:pPr algn="ctr">
              <a:defRPr sz="1200" b="1">
                <a:solidFill>
                  <a:srgbClr val="090E1D"/>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Component</a:t>
            </a:r>
          </a:p>
        </p:txBody>
      </p:sp>
      <p:sp>
        <p:nvSpPr>
          <p:cNvPr id="72" name="Rounded Rectangle 7">
            <a:extLst>
              <a:ext uri="{FF2B5EF4-FFF2-40B4-BE49-F238E27FC236}">
                <a16:creationId xmlns:a16="http://schemas.microsoft.com/office/drawing/2014/main" id="{7675FB08-5AAF-66D4-704F-92FE7C8CE826}"/>
              </a:ext>
            </a:extLst>
          </p:cNvPr>
          <p:cNvSpPr/>
          <p:nvPr/>
        </p:nvSpPr>
        <p:spPr>
          <a:xfrm>
            <a:off x="2360023" y="1573645"/>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73" name="TextBox 8">
            <a:extLst>
              <a:ext uri="{FF2B5EF4-FFF2-40B4-BE49-F238E27FC236}">
                <a16:creationId xmlns:a16="http://schemas.microsoft.com/office/drawing/2014/main" id="{611B6AED-04D0-1F01-539B-5AB191A6ACF7}"/>
              </a:ext>
            </a:extLst>
          </p:cNvPr>
          <p:cNvSpPr txBox="1"/>
          <p:nvPr/>
        </p:nvSpPr>
        <p:spPr>
          <a:xfrm>
            <a:off x="2469751" y="1677730"/>
            <a:ext cx="3529583" cy="221599"/>
          </a:xfrm>
          <a:prstGeom prst="rect">
            <a:avLst/>
          </a:prstGeom>
          <a:solidFill>
            <a:schemeClr val="accent3">
              <a:lumMod val="20000"/>
              <a:lumOff val="80000"/>
            </a:schemeClr>
          </a:solidFill>
        </p:spPr>
        <p:txBody>
          <a:bodyPr wrap="square" lIns="18288" tIns="18288" rIns="18288" bIns="18288" anchor="ctr">
            <a:spAutoFit/>
          </a:bodyPr>
          <a:lstStyle/>
          <a:p>
            <a:pPr algn="ctr">
              <a:defRPr sz="12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DeepSeek-V3</a:t>
            </a:r>
          </a:p>
        </p:txBody>
      </p:sp>
      <p:sp>
        <p:nvSpPr>
          <p:cNvPr id="74" name="Rounded Rectangle 9">
            <a:extLst>
              <a:ext uri="{FF2B5EF4-FFF2-40B4-BE49-F238E27FC236}">
                <a16:creationId xmlns:a16="http://schemas.microsoft.com/office/drawing/2014/main" id="{0D12F632-05D8-E584-1BDB-FC8969F7D510}"/>
              </a:ext>
            </a:extLst>
          </p:cNvPr>
          <p:cNvSpPr/>
          <p:nvPr/>
        </p:nvSpPr>
        <p:spPr>
          <a:xfrm>
            <a:off x="6109063" y="1573645"/>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75" name="TextBox 10">
            <a:extLst>
              <a:ext uri="{FF2B5EF4-FFF2-40B4-BE49-F238E27FC236}">
                <a16:creationId xmlns:a16="http://schemas.microsoft.com/office/drawing/2014/main" id="{60FE2D88-1CD4-F763-EA4B-AC65517A4A30}"/>
              </a:ext>
            </a:extLst>
          </p:cNvPr>
          <p:cNvSpPr txBox="1"/>
          <p:nvPr/>
        </p:nvSpPr>
        <p:spPr>
          <a:xfrm>
            <a:off x="6218791" y="1677730"/>
            <a:ext cx="3529583" cy="221599"/>
          </a:xfrm>
          <a:prstGeom prst="rect">
            <a:avLst/>
          </a:prstGeom>
          <a:solidFill>
            <a:schemeClr val="accent3">
              <a:lumMod val="20000"/>
              <a:lumOff val="80000"/>
            </a:schemeClr>
          </a:solidFill>
        </p:spPr>
        <p:txBody>
          <a:bodyPr wrap="square" lIns="18288" tIns="18288" rIns="18288" bIns="18288" anchor="ctr">
            <a:spAutoFit/>
          </a:bodyPr>
          <a:lstStyle/>
          <a:p>
            <a:pPr algn="ctr">
              <a:defRPr sz="12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DeepSeek-V4</a:t>
            </a:r>
          </a:p>
        </p:txBody>
      </p:sp>
      <p:sp>
        <p:nvSpPr>
          <p:cNvPr id="76" name="Rounded Rectangle 11">
            <a:extLst>
              <a:ext uri="{FF2B5EF4-FFF2-40B4-BE49-F238E27FC236}">
                <a16:creationId xmlns:a16="http://schemas.microsoft.com/office/drawing/2014/main" id="{E8510DAB-A3FF-FBA2-4774-8DF8C843571D}"/>
              </a:ext>
            </a:extLst>
          </p:cNvPr>
          <p:cNvSpPr/>
          <p:nvPr/>
        </p:nvSpPr>
        <p:spPr>
          <a:xfrm>
            <a:off x="9858103" y="1573645"/>
            <a:ext cx="1965960"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77" name="TextBox 12">
            <a:extLst>
              <a:ext uri="{FF2B5EF4-FFF2-40B4-BE49-F238E27FC236}">
                <a16:creationId xmlns:a16="http://schemas.microsoft.com/office/drawing/2014/main" id="{09923870-6B9C-8820-FF60-C0404DB285BC}"/>
              </a:ext>
            </a:extLst>
          </p:cNvPr>
          <p:cNvSpPr txBox="1"/>
          <p:nvPr/>
        </p:nvSpPr>
        <p:spPr>
          <a:xfrm>
            <a:off x="9967830" y="1677730"/>
            <a:ext cx="1746504" cy="221599"/>
          </a:xfrm>
          <a:prstGeom prst="rect">
            <a:avLst/>
          </a:prstGeom>
          <a:solidFill>
            <a:schemeClr val="accent3">
              <a:lumMod val="20000"/>
              <a:lumOff val="80000"/>
            </a:schemeClr>
          </a:solidFill>
        </p:spPr>
        <p:txBody>
          <a:bodyPr wrap="square" lIns="18288" tIns="18288" rIns="18288" bIns="18288" anchor="ctr">
            <a:spAutoFit/>
          </a:bodyPr>
          <a:lstStyle/>
          <a:p>
            <a:pPr algn="ctr">
              <a:defRPr sz="12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Teaching point</a:t>
            </a:r>
          </a:p>
        </p:txBody>
      </p:sp>
      <p:sp>
        <p:nvSpPr>
          <p:cNvPr id="78" name="Rounded Rectangle 13">
            <a:extLst>
              <a:ext uri="{FF2B5EF4-FFF2-40B4-BE49-F238E27FC236}">
                <a16:creationId xmlns:a16="http://schemas.microsoft.com/office/drawing/2014/main" id="{B47FBCAA-7D27-11B9-CDD8-3AE4108FD26A}"/>
              </a:ext>
            </a:extLst>
          </p:cNvPr>
          <p:cNvSpPr/>
          <p:nvPr/>
        </p:nvSpPr>
        <p:spPr>
          <a:xfrm>
            <a:off x="485503" y="2085710"/>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79" name="TextBox 14">
            <a:extLst>
              <a:ext uri="{FF2B5EF4-FFF2-40B4-BE49-F238E27FC236}">
                <a16:creationId xmlns:a16="http://schemas.microsoft.com/office/drawing/2014/main" id="{82313CA9-0587-BFF4-D421-205461683D93}"/>
              </a:ext>
            </a:extLst>
          </p:cNvPr>
          <p:cNvSpPr txBox="1"/>
          <p:nvPr/>
        </p:nvSpPr>
        <p:spPr>
          <a:xfrm>
            <a:off x="576943" y="2226568"/>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Attention</a:t>
            </a:r>
          </a:p>
        </p:txBody>
      </p:sp>
      <p:sp>
        <p:nvSpPr>
          <p:cNvPr id="80" name="Rounded Rectangle 15">
            <a:extLst>
              <a:ext uri="{FF2B5EF4-FFF2-40B4-BE49-F238E27FC236}">
                <a16:creationId xmlns:a16="http://schemas.microsoft.com/office/drawing/2014/main" id="{54A4F66B-16D5-1E59-761C-1ACFB8C95114}"/>
              </a:ext>
            </a:extLst>
          </p:cNvPr>
          <p:cNvSpPr/>
          <p:nvPr/>
        </p:nvSpPr>
        <p:spPr>
          <a:xfrm>
            <a:off x="2360023" y="2085710"/>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81" name="TextBox 16">
            <a:extLst>
              <a:ext uri="{FF2B5EF4-FFF2-40B4-BE49-F238E27FC236}">
                <a16:creationId xmlns:a16="http://schemas.microsoft.com/office/drawing/2014/main" id="{E64EE8B2-423C-66B1-8B8E-13783E4A5EE7}"/>
              </a:ext>
            </a:extLst>
          </p:cNvPr>
          <p:cNvSpPr txBox="1"/>
          <p:nvPr/>
        </p:nvSpPr>
        <p:spPr>
          <a:xfrm>
            <a:off x="2451463" y="2226568"/>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MLA; dense MHA</a:t>
            </a:r>
          </a:p>
        </p:txBody>
      </p:sp>
      <p:sp>
        <p:nvSpPr>
          <p:cNvPr id="82" name="Rounded Rectangle 17">
            <a:extLst>
              <a:ext uri="{FF2B5EF4-FFF2-40B4-BE49-F238E27FC236}">
                <a16:creationId xmlns:a16="http://schemas.microsoft.com/office/drawing/2014/main" id="{80AACBC0-51BC-244C-FF5E-907D38941074}"/>
              </a:ext>
            </a:extLst>
          </p:cNvPr>
          <p:cNvSpPr/>
          <p:nvPr/>
        </p:nvSpPr>
        <p:spPr>
          <a:xfrm>
            <a:off x="6109063" y="2085710"/>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83" name="TextBox 18">
            <a:extLst>
              <a:ext uri="{FF2B5EF4-FFF2-40B4-BE49-F238E27FC236}">
                <a16:creationId xmlns:a16="http://schemas.microsoft.com/office/drawing/2014/main" id="{4150C1F2-D5E6-56D6-F202-E94094A55CC4}"/>
              </a:ext>
            </a:extLst>
          </p:cNvPr>
          <p:cNvSpPr txBox="1"/>
          <p:nvPr/>
        </p:nvSpPr>
        <p:spPr>
          <a:xfrm>
            <a:off x="6200502" y="2226568"/>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Hybrid CSA + HCA; shared-KV MQA</a:t>
            </a:r>
          </a:p>
        </p:txBody>
      </p:sp>
      <p:sp>
        <p:nvSpPr>
          <p:cNvPr id="84" name="Rounded Rectangle 19">
            <a:extLst>
              <a:ext uri="{FF2B5EF4-FFF2-40B4-BE49-F238E27FC236}">
                <a16:creationId xmlns:a16="http://schemas.microsoft.com/office/drawing/2014/main" id="{7C2558CF-ED4B-AFDC-3527-444E7A130E64}"/>
              </a:ext>
            </a:extLst>
          </p:cNvPr>
          <p:cNvSpPr/>
          <p:nvPr/>
        </p:nvSpPr>
        <p:spPr>
          <a:xfrm>
            <a:off x="9858103" y="2085710"/>
            <a:ext cx="1965960"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85" name="TextBox 20">
            <a:extLst>
              <a:ext uri="{FF2B5EF4-FFF2-40B4-BE49-F238E27FC236}">
                <a16:creationId xmlns:a16="http://schemas.microsoft.com/office/drawing/2014/main" id="{28C05F73-C3B8-3448-C8C0-9C528FEB4AA3}"/>
              </a:ext>
            </a:extLst>
          </p:cNvPr>
          <p:cNvSpPr txBox="1"/>
          <p:nvPr/>
        </p:nvSpPr>
        <p:spPr>
          <a:xfrm>
            <a:off x="9949542" y="2148149"/>
            <a:ext cx="1783080" cy="350609"/>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 cuts both KV entries and attended entries.</a:t>
            </a:r>
          </a:p>
        </p:txBody>
      </p:sp>
      <p:sp>
        <p:nvSpPr>
          <p:cNvPr id="86" name="Rounded Rectangle 21">
            <a:extLst>
              <a:ext uri="{FF2B5EF4-FFF2-40B4-BE49-F238E27FC236}">
                <a16:creationId xmlns:a16="http://schemas.microsoft.com/office/drawing/2014/main" id="{CBF24B33-0BD2-626D-59F7-EDA8CF547B07}"/>
              </a:ext>
            </a:extLst>
          </p:cNvPr>
          <p:cNvSpPr/>
          <p:nvPr/>
        </p:nvSpPr>
        <p:spPr>
          <a:xfrm>
            <a:off x="485503" y="2561198"/>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87" name="TextBox 22">
            <a:extLst>
              <a:ext uri="{FF2B5EF4-FFF2-40B4-BE49-F238E27FC236}">
                <a16:creationId xmlns:a16="http://schemas.microsoft.com/office/drawing/2014/main" id="{C64BFB35-FD28-6EDE-7524-A32F4520690F}"/>
              </a:ext>
            </a:extLst>
          </p:cNvPr>
          <p:cNvSpPr txBox="1"/>
          <p:nvPr/>
        </p:nvSpPr>
        <p:spPr>
          <a:xfrm>
            <a:off x="576943" y="2702056"/>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KV organization</a:t>
            </a:r>
          </a:p>
        </p:txBody>
      </p:sp>
      <p:sp>
        <p:nvSpPr>
          <p:cNvPr id="88" name="Rounded Rectangle 23">
            <a:extLst>
              <a:ext uri="{FF2B5EF4-FFF2-40B4-BE49-F238E27FC236}">
                <a16:creationId xmlns:a16="http://schemas.microsoft.com/office/drawing/2014/main" id="{CFA6C184-EFD1-D96C-A325-0AFC5850C389}"/>
              </a:ext>
            </a:extLst>
          </p:cNvPr>
          <p:cNvSpPr/>
          <p:nvPr/>
        </p:nvSpPr>
        <p:spPr>
          <a:xfrm>
            <a:off x="2360023" y="2561198"/>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89" name="TextBox 24">
            <a:extLst>
              <a:ext uri="{FF2B5EF4-FFF2-40B4-BE49-F238E27FC236}">
                <a16:creationId xmlns:a16="http://schemas.microsoft.com/office/drawing/2014/main" id="{B54B7292-D62D-9782-6F89-3787E240633D}"/>
              </a:ext>
            </a:extLst>
          </p:cNvPr>
          <p:cNvSpPr txBox="1"/>
          <p:nvPr/>
        </p:nvSpPr>
        <p:spPr>
          <a:xfrm>
            <a:off x="2451463" y="2702056"/>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Low-rank latent per token</a:t>
            </a:r>
          </a:p>
        </p:txBody>
      </p:sp>
      <p:sp>
        <p:nvSpPr>
          <p:cNvPr id="90" name="Rounded Rectangle 25">
            <a:extLst>
              <a:ext uri="{FF2B5EF4-FFF2-40B4-BE49-F238E27FC236}">
                <a16:creationId xmlns:a16="http://schemas.microsoft.com/office/drawing/2014/main" id="{94F7E702-227D-BEC5-87EF-0CCA72DA2D7A}"/>
              </a:ext>
            </a:extLst>
          </p:cNvPr>
          <p:cNvSpPr/>
          <p:nvPr/>
        </p:nvSpPr>
        <p:spPr>
          <a:xfrm>
            <a:off x="6109063" y="2561198"/>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91" name="TextBox 26">
            <a:extLst>
              <a:ext uri="{FF2B5EF4-FFF2-40B4-BE49-F238E27FC236}">
                <a16:creationId xmlns:a16="http://schemas.microsoft.com/office/drawing/2014/main" id="{C1691769-4223-C84A-7246-D2A64A3A22FF}"/>
              </a:ext>
            </a:extLst>
          </p:cNvPr>
          <p:cNvSpPr txBox="1"/>
          <p:nvPr/>
        </p:nvSpPr>
        <p:spPr>
          <a:xfrm>
            <a:off x="6200502" y="2702056"/>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4× block compression + 128× heavy compression + local window</a:t>
            </a:r>
          </a:p>
        </p:txBody>
      </p:sp>
      <p:sp>
        <p:nvSpPr>
          <p:cNvPr id="92" name="Rounded Rectangle 27">
            <a:extLst>
              <a:ext uri="{FF2B5EF4-FFF2-40B4-BE49-F238E27FC236}">
                <a16:creationId xmlns:a16="http://schemas.microsoft.com/office/drawing/2014/main" id="{E7F67DFD-0D40-9E95-D3DB-7192E22ADA54}"/>
              </a:ext>
            </a:extLst>
          </p:cNvPr>
          <p:cNvSpPr/>
          <p:nvPr/>
        </p:nvSpPr>
        <p:spPr>
          <a:xfrm>
            <a:off x="9858103" y="2561198"/>
            <a:ext cx="1965960"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93" name="TextBox 28">
            <a:extLst>
              <a:ext uri="{FF2B5EF4-FFF2-40B4-BE49-F238E27FC236}">
                <a16:creationId xmlns:a16="http://schemas.microsoft.com/office/drawing/2014/main" id="{98ACB56A-1D89-C07E-E006-D8410B28F870}"/>
              </a:ext>
            </a:extLst>
          </p:cNvPr>
          <p:cNvSpPr txBox="1"/>
          <p:nvPr/>
        </p:nvSpPr>
        <p:spPr>
          <a:xfrm>
            <a:off x="9949542" y="2623637"/>
            <a:ext cx="1783080" cy="350609"/>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Compression becomes sequence-level.</a:t>
            </a:r>
          </a:p>
        </p:txBody>
      </p:sp>
      <p:sp>
        <p:nvSpPr>
          <p:cNvPr id="94" name="Rounded Rectangle 29">
            <a:extLst>
              <a:ext uri="{FF2B5EF4-FFF2-40B4-BE49-F238E27FC236}">
                <a16:creationId xmlns:a16="http://schemas.microsoft.com/office/drawing/2014/main" id="{2CB65C2D-D3E5-584E-463C-02E21E7DE73F}"/>
              </a:ext>
            </a:extLst>
          </p:cNvPr>
          <p:cNvSpPr/>
          <p:nvPr/>
        </p:nvSpPr>
        <p:spPr>
          <a:xfrm>
            <a:off x="485503" y="3036686"/>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95" name="TextBox 30">
            <a:extLst>
              <a:ext uri="{FF2B5EF4-FFF2-40B4-BE49-F238E27FC236}">
                <a16:creationId xmlns:a16="http://schemas.microsoft.com/office/drawing/2014/main" id="{C62349BB-4DDB-00AC-65A2-7FC5925CDF81}"/>
              </a:ext>
            </a:extLst>
          </p:cNvPr>
          <p:cNvSpPr txBox="1"/>
          <p:nvPr/>
        </p:nvSpPr>
        <p:spPr>
          <a:xfrm>
            <a:off x="576943" y="3177544"/>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Residual path</a:t>
            </a:r>
          </a:p>
        </p:txBody>
      </p:sp>
      <p:sp>
        <p:nvSpPr>
          <p:cNvPr id="96" name="Rounded Rectangle 31">
            <a:extLst>
              <a:ext uri="{FF2B5EF4-FFF2-40B4-BE49-F238E27FC236}">
                <a16:creationId xmlns:a16="http://schemas.microsoft.com/office/drawing/2014/main" id="{69EC00EE-4835-F86B-70B5-0E5EC4CC1515}"/>
              </a:ext>
            </a:extLst>
          </p:cNvPr>
          <p:cNvSpPr/>
          <p:nvPr/>
        </p:nvSpPr>
        <p:spPr>
          <a:xfrm>
            <a:off x="2360023" y="3036686"/>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97" name="TextBox 32">
            <a:extLst>
              <a:ext uri="{FF2B5EF4-FFF2-40B4-BE49-F238E27FC236}">
                <a16:creationId xmlns:a16="http://schemas.microsoft.com/office/drawing/2014/main" id="{8FEC3319-4CEB-F210-77D2-A989E176C6AA}"/>
              </a:ext>
            </a:extLst>
          </p:cNvPr>
          <p:cNvSpPr txBox="1"/>
          <p:nvPr/>
        </p:nvSpPr>
        <p:spPr>
          <a:xfrm>
            <a:off x="2451463" y="3177544"/>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Standard residual connections</a:t>
            </a:r>
          </a:p>
        </p:txBody>
      </p:sp>
      <p:sp>
        <p:nvSpPr>
          <p:cNvPr id="98" name="Rounded Rectangle 33">
            <a:extLst>
              <a:ext uri="{FF2B5EF4-FFF2-40B4-BE49-F238E27FC236}">
                <a16:creationId xmlns:a16="http://schemas.microsoft.com/office/drawing/2014/main" id="{7381AB01-7165-CDB5-487A-DFA00E5E42C5}"/>
              </a:ext>
            </a:extLst>
          </p:cNvPr>
          <p:cNvSpPr/>
          <p:nvPr/>
        </p:nvSpPr>
        <p:spPr>
          <a:xfrm>
            <a:off x="6109063" y="3036686"/>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99" name="TextBox 34">
            <a:extLst>
              <a:ext uri="{FF2B5EF4-FFF2-40B4-BE49-F238E27FC236}">
                <a16:creationId xmlns:a16="http://schemas.microsoft.com/office/drawing/2014/main" id="{6CAE1F16-DF49-8B96-64CF-2D7FB92C9623}"/>
              </a:ext>
            </a:extLst>
          </p:cNvPr>
          <p:cNvSpPr txBox="1"/>
          <p:nvPr/>
        </p:nvSpPr>
        <p:spPr>
          <a:xfrm>
            <a:off x="6200502" y="3177544"/>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mHC; 4× residual width in V4 configs</a:t>
            </a:r>
          </a:p>
        </p:txBody>
      </p:sp>
      <p:sp>
        <p:nvSpPr>
          <p:cNvPr id="100" name="Rounded Rectangle 35">
            <a:extLst>
              <a:ext uri="{FF2B5EF4-FFF2-40B4-BE49-F238E27FC236}">
                <a16:creationId xmlns:a16="http://schemas.microsoft.com/office/drawing/2014/main" id="{A7339F1D-2C7E-00BC-991A-496AF71F6C6E}"/>
              </a:ext>
            </a:extLst>
          </p:cNvPr>
          <p:cNvSpPr/>
          <p:nvPr/>
        </p:nvSpPr>
        <p:spPr>
          <a:xfrm>
            <a:off x="9858103" y="3036686"/>
            <a:ext cx="1965960" cy="481973"/>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01" name="TextBox 36">
            <a:extLst>
              <a:ext uri="{FF2B5EF4-FFF2-40B4-BE49-F238E27FC236}">
                <a16:creationId xmlns:a16="http://schemas.microsoft.com/office/drawing/2014/main" id="{D56A7FD1-BE1A-7FC2-14B2-247379C1EE30}"/>
              </a:ext>
            </a:extLst>
          </p:cNvPr>
          <p:cNvSpPr txBox="1"/>
          <p:nvPr/>
        </p:nvSpPr>
        <p:spPr>
          <a:xfrm>
            <a:off x="9949542" y="3099125"/>
            <a:ext cx="1783080" cy="350609"/>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More expressive residual mixing, explicitly stabilized.</a:t>
            </a:r>
          </a:p>
        </p:txBody>
      </p:sp>
      <p:sp>
        <p:nvSpPr>
          <p:cNvPr id="102" name="Rounded Rectangle 37">
            <a:extLst>
              <a:ext uri="{FF2B5EF4-FFF2-40B4-BE49-F238E27FC236}">
                <a16:creationId xmlns:a16="http://schemas.microsoft.com/office/drawing/2014/main" id="{2A7F7ADF-616F-24EC-E7BF-E622DEF50472}"/>
              </a:ext>
            </a:extLst>
          </p:cNvPr>
          <p:cNvSpPr/>
          <p:nvPr/>
        </p:nvSpPr>
        <p:spPr>
          <a:xfrm>
            <a:off x="485503" y="3512174"/>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03" name="TextBox 38">
            <a:extLst>
              <a:ext uri="{FF2B5EF4-FFF2-40B4-BE49-F238E27FC236}">
                <a16:creationId xmlns:a16="http://schemas.microsoft.com/office/drawing/2014/main" id="{6CB2048E-19C4-C974-0A7E-E357933951C1}"/>
              </a:ext>
            </a:extLst>
          </p:cNvPr>
          <p:cNvSpPr txBox="1"/>
          <p:nvPr/>
        </p:nvSpPr>
        <p:spPr>
          <a:xfrm>
            <a:off x="576943" y="3653031"/>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MoE routing</a:t>
            </a:r>
          </a:p>
        </p:txBody>
      </p:sp>
      <p:sp>
        <p:nvSpPr>
          <p:cNvPr id="104" name="Rounded Rectangle 39">
            <a:extLst>
              <a:ext uri="{FF2B5EF4-FFF2-40B4-BE49-F238E27FC236}">
                <a16:creationId xmlns:a16="http://schemas.microsoft.com/office/drawing/2014/main" id="{870417F6-2F96-A137-1BFD-00DEE2E8A2EE}"/>
              </a:ext>
            </a:extLst>
          </p:cNvPr>
          <p:cNvSpPr/>
          <p:nvPr/>
        </p:nvSpPr>
        <p:spPr>
          <a:xfrm>
            <a:off x="2360023" y="3512174"/>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05" name="TextBox 40">
            <a:extLst>
              <a:ext uri="{FF2B5EF4-FFF2-40B4-BE49-F238E27FC236}">
                <a16:creationId xmlns:a16="http://schemas.microsoft.com/office/drawing/2014/main" id="{0D75B357-1BA2-37AA-191D-DF223D296D8B}"/>
              </a:ext>
            </a:extLst>
          </p:cNvPr>
          <p:cNvSpPr txBox="1"/>
          <p:nvPr/>
        </p:nvSpPr>
        <p:spPr>
          <a:xfrm>
            <a:off x="2451463" y="3653031"/>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1 shared + 256 routed; Top-8</a:t>
            </a:r>
          </a:p>
        </p:txBody>
      </p:sp>
      <p:sp>
        <p:nvSpPr>
          <p:cNvPr id="106" name="Rounded Rectangle 41">
            <a:extLst>
              <a:ext uri="{FF2B5EF4-FFF2-40B4-BE49-F238E27FC236}">
                <a16:creationId xmlns:a16="http://schemas.microsoft.com/office/drawing/2014/main" id="{550CCCDE-B483-1F4B-FB12-E94EB039E3AD}"/>
              </a:ext>
            </a:extLst>
          </p:cNvPr>
          <p:cNvSpPr/>
          <p:nvPr/>
        </p:nvSpPr>
        <p:spPr>
          <a:xfrm>
            <a:off x="6109063" y="3512174"/>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07" name="TextBox 42">
            <a:extLst>
              <a:ext uri="{FF2B5EF4-FFF2-40B4-BE49-F238E27FC236}">
                <a16:creationId xmlns:a16="http://schemas.microsoft.com/office/drawing/2014/main" id="{086CA79C-9C10-7766-3081-D3C9D1687D7C}"/>
              </a:ext>
            </a:extLst>
          </p:cNvPr>
          <p:cNvSpPr txBox="1"/>
          <p:nvPr/>
        </p:nvSpPr>
        <p:spPr>
          <a:xfrm>
            <a:off x="6200502" y="3653031"/>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1 shared + 384 routed in Pro; Top-6; Sqrt(Softplus)</a:t>
            </a:r>
          </a:p>
        </p:txBody>
      </p:sp>
      <p:sp>
        <p:nvSpPr>
          <p:cNvPr id="108" name="Rounded Rectangle 43">
            <a:extLst>
              <a:ext uri="{FF2B5EF4-FFF2-40B4-BE49-F238E27FC236}">
                <a16:creationId xmlns:a16="http://schemas.microsoft.com/office/drawing/2014/main" id="{038CCEDA-4B3C-6386-7821-E38B490FAF70}"/>
              </a:ext>
            </a:extLst>
          </p:cNvPr>
          <p:cNvSpPr/>
          <p:nvPr/>
        </p:nvSpPr>
        <p:spPr>
          <a:xfrm>
            <a:off x="9858103" y="3512172"/>
            <a:ext cx="1965960" cy="47549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09" name="TextBox 44">
            <a:extLst>
              <a:ext uri="{FF2B5EF4-FFF2-40B4-BE49-F238E27FC236}">
                <a16:creationId xmlns:a16="http://schemas.microsoft.com/office/drawing/2014/main" id="{18191D62-485A-4C69-08B6-B42456C6B141}"/>
              </a:ext>
            </a:extLst>
          </p:cNvPr>
          <p:cNvSpPr txBox="1"/>
          <p:nvPr/>
        </p:nvSpPr>
        <p:spPr>
          <a:xfrm>
            <a:off x="9951945" y="3571381"/>
            <a:ext cx="1837510" cy="350609"/>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Paradigm retained; routing/system details changed.</a:t>
            </a:r>
          </a:p>
        </p:txBody>
      </p:sp>
      <p:sp>
        <p:nvSpPr>
          <p:cNvPr id="110" name="Rounded Rectangle 45">
            <a:extLst>
              <a:ext uri="{FF2B5EF4-FFF2-40B4-BE49-F238E27FC236}">
                <a16:creationId xmlns:a16="http://schemas.microsoft.com/office/drawing/2014/main" id="{F220F2D1-E598-9562-772E-A8E418D8C18B}"/>
              </a:ext>
            </a:extLst>
          </p:cNvPr>
          <p:cNvSpPr/>
          <p:nvPr/>
        </p:nvSpPr>
        <p:spPr>
          <a:xfrm>
            <a:off x="485503" y="3987662"/>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11" name="TextBox 46">
            <a:extLst>
              <a:ext uri="{FF2B5EF4-FFF2-40B4-BE49-F238E27FC236}">
                <a16:creationId xmlns:a16="http://schemas.microsoft.com/office/drawing/2014/main" id="{FB08D5B6-E01F-73C0-2903-C8FDC79A41F4}"/>
              </a:ext>
            </a:extLst>
          </p:cNvPr>
          <p:cNvSpPr txBox="1"/>
          <p:nvPr/>
        </p:nvSpPr>
        <p:spPr>
          <a:xfrm>
            <a:off x="576943" y="4128519"/>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Optimizer</a:t>
            </a:r>
          </a:p>
        </p:txBody>
      </p:sp>
      <p:sp>
        <p:nvSpPr>
          <p:cNvPr id="112" name="Rounded Rectangle 47">
            <a:extLst>
              <a:ext uri="{FF2B5EF4-FFF2-40B4-BE49-F238E27FC236}">
                <a16:creationId xmlns:a16="http://schemas.microsoft.com/office/drawing/2014/main" id="{EA1B9934-AB6D-5444-CFA4-F5312C2EA6D9}"/>
              </a:ext>
            </a:extLst>
          </p:cNvPr>
          <p:cNvSpPr/>
          <p:nvPr/>
        </p:nvSpPr>
        <p:spPr>
          <a:xfrm>
            <a:off x="2360023" y="3987662"/>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13" name="TextBox 48">
            <a:extLst>
              <a:ext uri="{FF2B5EF4-FFF2-40B4-BE49-F238E27FC236}">
                <a16:creationId xmlns:a16="http://schemas.microsoft.com/office/drawing/2014/main" id="{D65D1527-FC18-AABD-99A3-0533F09146FB}"/>
              </a:ext>
            </a:extLst>
          </p:cNvPr>
          <p:cNvSpPr txBox="1"/>
          <p:nvPr/>
        </p:nvSpPr>
        <p:spPr>
          <a:xfrm>
            <a:off x="2451463" y="4128519"/>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AdamW</a:t>
            </a:r>
          </a:p>
        </p:txBody>
      </p:sp>
      <p:sp>
        <p:nvSpPr>
          <p:cNvPr id="114" name="Rounded Rectangle 49">
            <a:extLst>
              <a:ext uri="{FF2B5EF4-FFF2-40B4-BE49-F238E27FC236}">
                <a16:creationId xmlns:a16="http://schemas.microsoft.com/office/drawing/2014/main" id="{A270CDEC-7BE5-DDBF-6A8A-8C944A6C3D9C}"/>
              </a:ext>
            </a:extLst>
          </p:cNvPr>
          <p:cNvSpPr/>
          <p:nvPr/>
        </p:nvSpPr>
        <p:spPr>
          <a:xfrm>
            <a:off x="6109063" y="3987662"/>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15" name="TextBox 50">
            <a:extLst>
              <a:ext uri="{FF2B5EF4-FFF2-40B4-BE49-F238E27FC236}">
                <a16:creationId xmlns:a16="http://schemas.microsoft.com/office/drawing/2014/main" id="{45F5B25B-670C-54EA-0652-A7CFB157E7FD}"/>
              </a:ext>
            </a:extLst>
          </p:cNvPr>
          <p:cNvSpPr txBox="1"/>
          <p:nvPr/>
        </p:nvSpPr>
        <p:spPr>
          <a:xfrm>
            <a:off x="6200502" y="4128519"/>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Muon for most matrices; AdamW exceptions</a:t>
            </a:r>
          </a:p>
        </p:txBody>
      </p:sp>
      <p:sp>
        <p:nvSpPr>
          <p:cNvPr id="116" name="Rounded Rectangle 51">
            <a:extLst>
              <a:ext uri="{FF2B5EF4-FFF2-40B4-BE49-F238E27FC236}">
                <a16:creationId xmlns:a16="http://schemas.microsoft.com/office/drawing/2014/main" id="{9919DF3B-BE8B-229A-0F38-6060DA85EE03}"/>
              </a:ext>
            </a:extLst>
          </p:cNvPr>
          <p:cNvSpPr/>
          <p:nvPr/>
        </p:nvSpPr>
        <p:spPr>
          <a:xfrm>
            <a:off x="9858103" y="3987662"/>
            <a:ext cx="1965960"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17" name="TextBox 52">
            <a:extLst>
              <a:ext uri="{FF2B5EF4-FFF2-40B4-BE49-F238E27FC236}">
                <a16:creationId xmlns:a16="http://schemas.microsoft.com/office/drawing/2014/main" id="{F5A03618-A791-80BA-AF32-60A6088A2619}"/>
              </a:ext>
            </a:extLst>
          </p:cNvPr>
          <p:cNvSpPr txBox="1"/>
          <p:nvPr/>
        </p:nvSpPr>
        <p:spPr>
          <a:xfrm>
            <a:off x="9949542" y="4050100"/>
            <a:ext cx="1783080" cy="350609"/>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Optimizer is co-designed with the new architecture.</a:t>
            </a:r>
          </a:p>
        </p:txBody>
      </p:sp>
      <p:sp>
        <p:nvSpPr>
          <p:cNvPr id="118" name="Rounded Rectangle 53">
            <a:extLst>
              <a:ext uri="{FF2B5EF4-FFF2-40B4-BE49-F238E27FC236}">
                <a16:creationId xmlns:a16="http://schemas.microsoft.com/office/drawing/2014/main" id="{1EAADA19-4643-5A15-D68E-5078B27F2E8D}"/>
              </a:ext>
            </a:extLst>
          </p:cNvPr>
          <p:cNvSpPr/>
          <p:nvPr/>
        </p:nvSpPr>
        <p:spPr>
          <a:xfrm>
            <a:off x="485503" y="4463149"/>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19" name="TextBox 54">
            <a:extLst>
              <a:ext uri="{FF2B5EF4-FFF2-40B4-BE49-F238E27FC236}">
                <a16:creationId xmlns:a16="http://schemas.microsoft.com/office/drawing/2014/main" id="{06F1A035-D35A-EC69-2B40-30C5824C6E3F}"/>
              </a:ext>
            </a:extLst>
          </p:cNvPr>
          <p:cNvSpPr txBox="1"/>
          <p:nvPr/>
        </p:nvSpPr>
        <p:spPr>
          <a:xfrm>
            <a:off x="576943" y="4604007"/>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Context training</a:t>
            </a:r>
          </a:p>
        </p:txBody>
      </p:sp>
      <p:sp>
        <p:nvSpPr>
          <p:cNvPr id="120" name="Rounded Rectangle 55">
            <a:extLst>
              <a:ext uri="{FF2B5EF4-FFF2-40B4-BE49-F238E27FC236}">
                <a16:creationId xmlns:a16="http://schemas.microsoft.com/office/drawing/2014/main" id="{8DD8B897-F248-6B41-BC96-22FD70978C82}"/>
              </a:ext>
            </a:extLst>
          </p:cNvPr>
          <p:cNvSpPr/>
          <p:nvPr/>
        </p:nvSpPr>
        <p:spPr>
          <a:xfrm>
            <a:off x="2360023" y="4463149"/>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21" name="TextBox 56">
            <a:extLst>
              <a:ext uri="{FF2B5EF4-FFF2-40B4-BE49-F238E27FC236}">
                <a16:creationId xmlns:a16="http://schemas.microsoft.com/office/drawing/2014/main" id="{BF30C6BF-E3AB-F17D-2677-C40A7D6DEB68}"/>
              </a:ext>
            </a:extLst>
          </p:cNvPr>
          <p:cNvSpPr txBox="1"/>
          <p:nvPr/>
        </p:nvSpPr>
        <p:spPr>
          <a:xfrm>
            <a:off x="2451463" y="4604007"/>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4K pretrain → post-training 32K → 128K</a:t>
            </a:r>
          </a:p>
        </p:txBody>
      </p:sp>
      <p:sp>
        <p:nvSpPr>
          <p:cNvPr id="122" name="Rounded Rectangle 57">
            <a:extLst>
              <a:ext uri="{FF2B5EF4-FFF2-40B4-BE49-F238E27FC236}">
                <a16:creationId xmlns:a16="http://schemas.microsoft.com/office/drawing/2014/main" id="{71970658-86BA-6705-9562-4AA843029932}"/>
              </a:ext>
            </a:extLst>
          </p:cNvPr>
          <p:cNvSpPr/>
          <p:nvPr/>
        </p:nvSpPr>
        <p:spPr>
          <a:xfrm>
            <a:off x="6109063" y="4463149"/>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23" name="TextBox 58">
            <a:extLst>
              <a:ext uri="{FF2B5EF4-FFF2-40B4-BE49-F238E27FC236}">
                <a16:creationId xmlns:a16="http://schemas.microsoft.com/office/drawing/2014/main" id="{657A2C28-CD6E-F50F-AFBA-A50C0B2B3BE2}"/>
              </a:ext>
            </a:extLst>
          </p:cNvPr>
          <p:cNvSpPr txBox="1"/>
          <p:nvPr/>
        </p:nvSpPr>
        <p:spPr>
          <a:xfrm>
            <a:off x="6200502" y="4604007"/>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4K → 16K → 64K → 1M; sparsity after 64K</a:t>
            </a:r>
          </a:p>
        </p:txBody>
      </p:sp>
      <p:sp>
        <p:nvSpPr>
          <p:cNvPr id="124" name="Rounded Rectangle 59">
            <a:extLst>
              <a:ext uri="{FF2B5EF4-FFF2-40B4-BE49-F238E27FC236}">
                <a16:creationId xmlns:a16="http://schemas.microsoft.com/office/drawing/2014/main" id="{C9C9E996-4146-B70E-2066-A22E147E759E}"/>
              </a:ext>
            </a:extLst>
          </p:cNvPr>
          <p:cNvSpPr/>
          <p:nvPr/>
        </p:nvSpPr>
        <p:spPr>
          <a:xfrm>
            <a:off x="9858103" y="4463149"/>
            <a:ext cx="1965960"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25" name="TextBox 60">
            <a:extLst>
              <a:ext uri="{FF2B5EF4-FFF2-40B4-BE49-F238E27FC236}">
                <a16:creationId xmlns:a16="http://schemas.microsoft.com/office/drawing/2014/main" id="{5C3BBAAB-E6FC-6F30-ED84-F5B734C7CF39}"/>
              </a:ext>
            </a:extLst>
          </p:cNvPr>
          <p:cNvSpPr txBox="1"/>
          <p:nvPr/>
        </p:nvSpPr>
        <p:spPr>
          <a:xfrm>
            <a:off x="9949542" y="4525588"/>
            <a:ext cx="1783080" cy="350609"/>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Long context is trained, not only extrapolated.</a:t>
            </a:r>
          </a:p>
        </p:txBody>
      </p:sp>
      <p:sp>
        <p:nvSpPr>
          <p:cNvPr id="126" name="Rounded Rectangle 61">
            <a:extLst>
              <a:ext uri="{FF2B5EF4-FFF2-40B4-BE49-F238E27FC236}">
                <a16:creationId xmlns:a16="http://schemas.microsoft.com/office/drawing/2014/main" id="{6F59E530-C734-8F7D-5C9B-0C38DC8B7022}"/>
              </a:ext>
            </a:extLst>
          </p:cNvPr>
          <p:cNvSpPr/>
          <p:nvPr/>
        </p:nvSpPr>
        <p:spPr>
          <a:xfrm>
            <a:off x="485503" y="4938637"/>
            <a:ext cx="187451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27" name="TextBox 62">
            <a:extLst>
              <a:ext uri="{FF2B5EF4-FFF2-40B4-BE49-F238E27FC236}">
                <a16:creationId xmlns:a16="http://schemas.microsoft.com/office/drawing/2014/main" id="{69C80D1C-AA18-C319-5B83-4485668D129C}"/>
              </a:ext>
            </a:extLst>
          </p:cNvPr>
          <p:cNvSpPr txBox="1"/>
          <p:nvPr/>
        </p:nvSpPr>
        <p:spPr>
          <a:xfrm>
            <a:off x="576943" y="5079495"/>
            <a:ext cx="169163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1">
                <a:solidFill>
                  <a:srgbClr val="C2B7FF"/>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MTP</a:t>
            </a:r>
          </a:p>
        </p:txBody>
      </p:sp>
      <p:sp>
        <p:nvSpPr>
          <p:cNvPr id="128" name="Rounded Rectangle 63">
            <a:extLst>
              <a:ext uri="{FF2B5EF4-FFF2-40B4-BE49-F238E27FC236}">
                <a16:creationId xmlns:a16="http://schemas.microsoft.com/office/drawing/2014/main" id="{3D059B4E-DB36-1493-D17B-8BFB56284534}"/>
              </a:ext>
            </a:extLst>
          </p:cNvPr>
          <p:cNvSpPr/>
          <p:nvPr/>
        </p:nvSpPr>
        <p:spPr>
          <a:xfrm>
            <a:off x="2360023" y="4938637"/>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29" name="TextBox 64">
            <a:extLst>
              <a:ext uri="{FF2B5EF4-FFF2-40B4-BE49-F238E27FC236}">
                <a16:creationId xmlns:a16="http://schemas.microsoft.com/office/drawing/2014/main" id="{5D39F9A8-4903-F0C4-12D8-53F7E2E08E40}"/>
              </a:ext>
            </a:extLst>
          </p:cNvPr>
          <p:cNvSpPr txBox="1"/>
          <p:nvPr/>
        </p:nvSpPr>
        <p:spPr>
          <a:xfrm>
            <a:off x="2451463" y="5079495"/>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Depth 1</a:t>
            </a:r>
          </a:p>
        </p:txBody>
      </p:sp>
      <p:sp>
        <p:nvSpPr>
          <p:cNvPr id="130" name="Rounded Rectangle 65">
            <a:extLst>
              <a:ext uri="{FF2B5EF4-FFF2-40B4-BE49-F238E27FC236}">
                <a16:creationId xmlns:a16="http://schemas.microsoft.com/office/drawing/2014/main" id="{CA9DD044-7E5E-B2E3-4D22-47680EAC4717}"/>
              </a:ext>
            </a:extLst>
          </p:cNvPr>
          <p:cNvSpPr/>
          <p:nvPr/>
        </p:nvSpPr>
        <p:spPr>
          <a:xfrm>
            <a:off x="6109063" y="4938637"/>
            <a:ext cx="3749039"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31" name="TextBox 66">
            <a:extLst>
              <a:ext uri="{FF2B5EF4-FFF2-40B4-BE49-F238E27FC236}">
                <a16:creationId xmlns:a16="http://schemas.microsoft.com/office/drawing/2014/main" id="{76D36A60-E2B8-AA6A-5EDD-998571F19F2B}"/>
              </a:ext>
            </a:extLst>
          </p:cNvPr>
          <p:cNvSpPr txBox="1"/>
          <p:nvPr/>
        </p:nvSpPr>
        <p:spPr>
          <a:xfrm>
            <a:off x="6200502" y="5079495"/>
            <a:ext cx="3566159"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Depth 1; configuration retained</a:t>
            </a:r>
          </a:p>
        </p:txBody>
      </p:sp>
      <p:sp>
        <p:nvSpPr>
          <p:cNvPr id="132" name="Rounded Rectangle 67">
            <a:extLst>
              <a:ext uri="{FF2B5EF4-FFF2-40B4-BE49-F238E27FC236}">
                <a16:creationId xmlns:a16="http://schemas.microsoft.com/office/drawing/2014/main" id="{1A176EA4-702B-5342-81BB-D57F7ED8462A}"/>
              </a:ext>
            </a:extLst>
          </p:cNvPr>
          <p:cNvSpPr/>
          <p:nvPr/>
        </p:nvSpPr>
        <p:spPr>
          <a:xfrm>
            <a:off x="9858103" y="4938637"/>
            <a:ext cx="1965960" cy="475488"/>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33" name="TextBox 68">
            <a:extLst>
              <a:ext uri="{FF2B5EF4-FFF2-40B4-BE49-F238E27FC236}">
                <a16:creationId xmlns:a16="http://schemas.microsoft.com/office/drawing/2014/main" id="{1E0B418A-CD04-435D-56FA-9459E9CE3673}"/>
              </a:ext>
            </a:extLst>
          </p:cNvPr>
          <p:cNvSpPr txBox="1"/>
          <p:nvPr/>
        </p:nvSpPr>
        <p:spPr>
          <a:xfrm>
            <a:off x="9949542" y="5079495"/>
            <a:ext cx="1783080" cy="193771"/>
          </a:xfrm>
          <a:prstGeom prst="rect">
            <a:avLst/>
          </a:prstGeom>
          <a:solidFill>
            <a:schemeClr val="accent3">
              <a:lumMod val="20000"/>
              <a:lumOff val="80000"/>
            </a:schemeClr>
          </a:solidFill>
        </p:spPr>
        <p:txBody>
          <a:bodyPr wrap="square" lIns="18288" tIns="18288" rIns="18288" bIns="18288" anchor="ctr">
            <a:spAutoFit/>
          </a:bodyPr>
          <a:lstStyle/>
          <a:p>
            <a:pPr algn="ctr">
              <a:defRPr sz="1019"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Not a V4 architectural change.</a:t>
            </a:r>
          </a:p>
        </p:txBody>
      </p:sp>
      <p:sp>
        <p:nvSpPr>
          <p:cNvPr id="134" name="Rounded Rectangle 69">
            <a:extLst>
              <a:ext uri="{FF2B5EF4-FFF2-40B4-BE49-F238E27FC236}">
                <a16:creationId xmlns:a16="http://schemas.microsoft.com/office/drawing/2014/main" id="{74483A27-B655-60C9-DA16-90091BA4AF92}"/>
              </a:ext>
            </a:extLst>
          </p:cNvPr>
          <p:cNvSpPr/>
          <p:nvPr/>
        </p:nvSpPr>
        <p:spPr>
          <a:xfrm>
            <a:off x="631806" y="5607976"/>
            <a:ext cx="11082528" cy="338328"/>
          </a:xfrm>
          <a:prstGeom prst="roundRect">
            <a:avLst/>
          </a:prstGeom>
          <a:solidFill>
            <a:srgbClr val="FFC000"/>
          </a:solidFill>
          <a:ln w="12700">
            <a:solidFill>
              <a:srgbClr val="91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35" name="TextBox 70">
            <a:extLst>
              <a:ext uri="{FF2B5EF4-FFF2-40B4-BE49-F238E27FC236}">
                <a16:creationId xmlns:a16="http://schemas.microsoft.com/office/drawing/2014/main" id="{2667464F-7AA6-B204-0E65-E31ABD679245}"/>
              </a:ext>
            </a:extLst>
          </p:cNvPr>
          <p:cNvSpPr txBox="1"/>
          <p:nvPr/>
        </p:nvSpPr>
        <p:spPr>
          <a:xfrm>
            <a:off x="778110" y="5662840"/>
            <a:ext cx="10735056" cy="219456"/>
          </a:xfrm>
          <a:prstGeom prst="rect">
            <a:avLst/>
          </a:prstGeom>
          <a:noFill/>
        </p:spPr>
        <p:txBody>
          <a:bodyPr wrap="square" lIns="27432" tIns="27432" rIns="27432" bIns="27432" anchor="ctr">
            <a:spAutoFit/>
          </a:bodyPr>
          <a:lstStyle/>
          <a:p>
            <a:pPr algn="l"/>
            <a:r>
              <a:rPr sz="1060" b="1">
                <a:solidFill>
                  <a:schemeClr val="bg2">
                    <a:lumMod val="10000"/>
                  </a:schemeClr>
                </a:solidFill>
                <a:latin typeface="Times New Roman" panose="02020603050405020304" pitchFamily="18" charset="0"/>
                <a:cs typeface="Times New Roman" panose="02020603050405020304" pitchFamily="18" charset="0"/>
              </a:rPr>
              <a:t>Core shift: </a:t>
            </a:r>
            <a:r>
              <a:rPr sz="1060" b="0">
                <a:solidFill>
                  <a:schemeClr val="bg2">
                    <a:lumMod val="10000"/>
                  </a:schemeClr>
                </a:solidFill>
                <a:latin typeface="Times New Roman" panose="02020603050405020304" pitchFamily="18" charset="0"/>
                <a:cs typeface="Times New Roman" panose="02020603050405020304" pitchFamily="18" charset="0"/>
              </a:rPr>
              <a:t>V3 optimizes the representation of KV; V4 also optimizes how many KV states each query ever needs to attend.</a:t>
            </a:r>
          </a:p>
        </p:txBody>
      </p:sp>
    </p:spTree>
    <p:extLst>
      <p:ext uri="{BB962C8B-B14F-4D97-AF65-F5344CB8AC3E}">
        <p14:creationId xmlns:p14="http://schemas.microsoft.com/office/powerpoint/2010/main" val="1746709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BFD83-F0DB-4515-BA24-0851CF5734F4}"/>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8A1806F-D796-0CC4-105A-569814949098}"/>
              </a:ext>
            </a:extLst>
          </p:cNvPr>
          <p:cNvSpPr>
            <a:spLocks noGrp="1"/>
          </p:cNvSpPr>
          <p:nvPr>
            <p:ph type="body" sz="quarter" idx="13"/>
          </p:nvPr>
        </p:nvSpPr>
        <p:spPr>
          <a:xfrm>
            <a:off x="1094520" y="579314"/>
            <a:ext cx="3686496" cy="222889"/>
          </a:xfrm>
        </p:spPr>
        <p:txBody>
          <a:bodyPr/>
          <a:lstStyle/>
          <a:p>
            <a:r>
              <a:rPr lang="en" altLang="zh-CN" sz="1400" dirty="0"/>
              <a:t>The biggest change: MLA → hybrid CSA + HCA</a:t>
            </a:r>
          </a:p>
        </p:txBody>
      </p:sp>
      <p:sp>
        <p:nvSpPr>
          <p:cNvPr id="4" name="文本框 3">
            <a:extLst>
              <a:ext uri="{FF2B5EF4-FFF2-40B4-BE49-F238E27FC236}">
                <a16:creationId xmlns:a16="http://schemas.microsoft.com/office/drawing/2014/main" id="{FB90630A-F537-CF94-8B66-EFE4E7DB2C08}"/>
              </a:ext>
            </a:extLst>
          </p:cNvPr>
          <p:cNvSpPr txBox="1"/>
          <p:nvPr/>
        </p:nvSpPr>
        <p:spPr>
          <a:xfrm>
            <a:off x="437605" y="1139604"/>
            <a:ext cx="9046029" cy="307777"/>
          </a:xfrm>
          <a:prstGeom prst="rect">
            <a:avLst/>
          </a:prstGeom>
          <a:noFill/>
        </p:spPr>
        <p:txBody>
          <a:bodyPr wrap="square">
            <a:spAutoFit/>
          </a:bodyPr>
          <a:lstStyle/>
          <a:p>
            <a:pPr>
              <a:defRPr sz="1250" b="0">
                <a:solidFill>
                  <a:srgbClr val="AAB5C9"/>
                </a:solidFill>
                <a:latin typeface="Aptos"/>
              </a:defRPr>
            </a:pPr>
            <a:r>
              <a:rPr lang="en" altLang="zh-CN" sz="1400" b="1" dirty="0">
                <a:solidFill>
                  <a:schemeClr val="bg2">
                    <a:lumMod val="10000"/>
                  </a:schemeClr>
                </a:solidFill>
                <a:latin typeface="Times New Roman" panose="02020603050405020304" pitchFamily="18" charset="0"/>
                <a:cs typeface="Times New Roman" panose="02020603050405020304" pitchFamily="18" charset="0"/>
              </a:rPr>
              <a:t>V4 attacks long-context attention with compression first, then sparse or dense attention on the compressed sequence.</a:t>
            </a:r>
          </a:p>
        </p:txBody>
      </p:sp>
      <p:sp>
        <p:nvSpPr>
          <p:cNvPr id="5" name="Rounded Rectangle 5">
            <a:extLst>
              <a:ext uri="{FF2B5EF4-FFF2-40B4-BE49-F238E27FC236}">
                <a16:creationId xmlns:a16="http://schemas.microsoft.com/office/drawing/2014/main" id="{312455CC-A495-5CBC-E181-FE744EE189AE}"/>
              </a:ext>
            </a:extLst>
          </p:cNvPr>
          <p:cNvSpPr/>
          <p:nvPr/>
        </p:nvSpPr>
        <p:spPr>
          <a:xfrm>
            <a:off x="566928" y="1965960"/>
            <a:ext cx="5394960" cy="3977639"/>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6" name="Rounded Rectangle 6">
            <a:extLst>
              <a:ext uri="{FF2B5EF4-FFF2-40B4-BE49-F238E27FC236}">
                <a16:creationId xmlns:a16="http://schemas.microsoft.com/office/drawing/2014/main" id="{555FADCD-3DCD-377E-519D-DE2CBDA3EDA2}"/>
              </a:ext>
            </a:extLst>
          </p:cNvPr>
          <p:cNvSpPr/>
          <p:nvPr/>
        </p:nvSpPr>
        <p:spPr>
          <a:xfrm>
            <a:off x="852221" y="2123281"/>
            <a:ext cx="1051560" cy="310896"/>
          </a:xfrm>
          <a:prstGeom prst="roundRect">
            <a:avLst/>
          </a:prstGeom>
          <a:solidFill>
            <a:schemeClr val="accent3">
              <a:lumMod val="20000"/>
              <a:lumOff val="80000"/>
            </a:schemeClr>
          </a:solidFill>
          <a:ln w="12700">
            <a:solidFill>
              <a:srgbClr val="91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7" name="TextBox 7">
            <a:extLst>
              <a:ext uri="{FF2B5EF4-FFF2-40B4-BE49-F238E27FC236}">
                <a16:creationId xmlns:a16="http://schemas.microsoft.com/office/drawing/2014/main" id="{45413BFF-5D08-AA49-66B8-9670B9CED090}"/>
              </a:ext>
            </a:extLst>
          </p:cNvPr>
          <p:cNvSpPr txBox="1"/>
          <p:nvPr/>
        </p:nvSpPr>
        <p:spPr>
          <a:xfrm>
            <a:off x="852221" y="2175624"/>
            <a:ext cx="1051560"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090E1D"/>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V3 · MLA</a:t>
            </a:r>
          </a:p>
        </p:txBody>
      </p:sp>
      <p:sp>
        <p:nvSpPr>
          <p:cNvPr id="8" name="TextBox 8">
            <a:extLst>
              <a:ext uri="{FF2B5EF4-FFF2-40B4-BE49-F238E27FC236}">
                <a16:creationId xmlns:a16="http://schemas.microsoft.com/office/drawing/2014/main" id="{3527B6E0-6C39-F777-A351-F4C86A471F59}"/>
              </a:ext>
            </a:extLst>
          </p:cNvPr>
          <p:cNvSpPr txBox="1"/>
          <p:nvPr/>
        </p:nvSpPr>
        <p:spPr>
          <a:xfrm>
            <a:off x="1864412" y="2627102"/>
            <a:ext cx="3431933" cy="313932"/>
          </a:xfrm>
          <a:prstGeom prst="rect">
            <a:avLst/>
          </a:prstGeom>
          <a:solidFill>
            <a:schemeClr val="accent3">
              <a:lumMod val="20000"/>
              <a:lumOff val="80000"/>
            </a:schemeClr>
          </a:solidFill>
        </p:spPr>
        <p:txBody>
          <a:bodyPr wrap="square" lIns="18288" tIns="18288" rIns="18288" bIns="18288" anchor="ctr">
            <a:spAutoFit/>
          </a:bodyPr>
          <a:lstStyle/>
          <a:p>
            <a:pPr algn="l">
              <a:defRPr sz="1800" b="1">
                <a:solidFill>
                  <a:srgbClr val="F4F6FA"/>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Per-token latent compression</a:t>
            </a:r>
          </a:p>
        </p:txBody>
      </p:sp>
      <p:sp>
        <p:nvSpPr>
          <p:cNvPr id="9" name="Rounded Rectangle 9">
            <a:extLst>
              <a:ext uri="{FF2B5EF4-FFF2-40B4-BE49-F238E27FC236}">
                <a16:creationId xmlns:a16="http://schemas.microsoft.com/office/drawing/2014/main" id="{7382C862-7B9F-5D62-0350-5E5D2BE41BA9}"/>
              </a:ext>
            </a:extLst>
          </p:cNvPr>
          <p:cNvSpPr/>
          <p:nvPr/>
        </p:nvSpPr>
        <p:spPr>
          <a:xfrm>
            <a:off x="1511810" y="3266030"/>
            <a:ext cx="530352" cy="36576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TextBox 10">
                <a:extLst>
                  <a:ext uri="{FF2B5EF4-FFF2-40B4-BE49-F238E27FC236}">
                    <a16:creationId xmlns:a16="http://schemas.microsoft.com/office/drawing/2014/main" id="{6160C526-24DC-ACA7-3091-26C44307ABD3}"/>
                  </a:ext>
                </a:extLst>
              </p:cNvPr>
              <p:cNvSpPr txBox="1"/>
              <p:nvPr/>
            </p:nvSpPr>
            <p:spPr>
              <a:xfrm>
                <a:off x="1584962" y="3330416"/>
                <a:ext cx="384047" cy="236988"/>
              </a:xfrm>
              <a:prstGeom prst="rect">
                <a:avLst/>
              </a:prstGeom>
              <a:solidFill>
                <a:schemeClr val="accent3">
                  <a:lumMod val="20000"/>
                  <a:lumOff val="80000"/>
                </a:schemeClr>
              </a:solidFill>
            </p:spPr>
            <p:txBody>
              <a:bodyPr wrap="square" lIns="18288" tIns="18288" rIns="18288" bIns="18288" anchor="ctr">
                <a:spAutoFit/>
              </a:bodyPr>
              <a:lstStyle/>
              <a:p>
                <a:pPr algn="ctr">
                  <a:defRPr sz="1300" b="1">
                    <a:solidFill>
                      <a:srgbClr val="F4F6FA"/>
                    </a:solidFill>
                    <a:latin typeface="Aptos"/>
                  </a:defRPr>
                </a:pPr>
                <a14:m>
                  <m:oMathPara xmlns:m="http://schemas.openxmlformats.org/officeDocument/2006/math">
                    <m:oMath>
                      <m:sSub>
                        <m:sSubPr>
                          <m:ctrlPr>
                            <a:rPr lang="en-US" altLang="zh-CN" i="1">
                              <a:solidFill>
                                <a:schemeClr val="bg2">
                                  <a:lumMod val="10000"/>
                                </a:schemeClr>
                              </a:solidFill>
                              <a:latin typeface="Cambria Math" panose="02040503050406030204" pitchFamily="18" charset="0"/>
                              <a:cs typeface="Times New Roman" panose="02020603050405020304" pitchFamily="18" charset="0"/>
                            </a:rPr>
                          </m:ctrlPr>
                        </m:sSubPr>
                        <m:e>
                          <m:r>
                            <m:rPr>
                              <m:sty m:val="p"/>
                            </m:rPr>
                            <a:rPr lang="en-US" altLang="zh-CN" i="1">
                              <a:solidFill>
                                <a:schemeClr val="bg2">
                                  <a:lumMod val="10000"/>
                                </a:schemeClr>
                              </a:solidFill>
                              <a:latin typeface="Cambria Math" panose="02040503050406030204" pitchFamily="18" charset="0"/>
                              <a:cs typeface="Times New Roman" panose="02020603050405020304" pitchFamily="18" charset="0"/>
                            </a:rPr>
                            <m:t>h</m:t>
                          </m:r>
                        </m:e>
                        <m:sub>
                          <m:r>
                            <a:rPr lang="en-US" altLang="zh-CN" b="1" i="1" smtClean="0">
                              <a:solidFill>
                                <a:schemeClr val="bg2">
                                  <a:lumMod val="10000"/>
                                </a:schemeClr>
                              </a:solidFill>
                              <a:latin typeface="Cambria Math" panose="02040503050406030204" pitchFamily="18" charset="0"/>
                              <a:cs typeface="Times New Roman" panose="02020603050405020304" pitchFamily="18" charset="0"/>
                            </a:rPr>
                            <m:t>𝒕</m:t>
                          </m:r>
                        </m:sub>
                      </m:sSub>
                    </m:oMath>
                  </m:oMathPara>
                </a14:m>
                <a:endParaRPr dirty="0">
                  <a:solidFill>
                    <a:schemeClr val="bg2">
                      <a:lumMod val="10000"/>
                    </a:schemeClr>
                  </a:solidFill>
                  <a:latin typeface="Times New Roman" panose="02020603050405020304" pitchFamily="18" charset="0"/>
                  <a:cs typeface="Times New Roman" panose="02020603050405020304" pitchFamily="18" charset="0"/>
                </a:endParaRPr>
              </a:p>
            </p:txBody>
          </p:sp>
        </mc:Choice>
        <mc:Fallback>
          <p:sp>
            <p:nvSpPr>
              <p:cNvPr id="10" name="TextBox 10">
                <a:extLst>
                  <a:ext uri="{FF2B5EF4-FFF2-40B4-BE49-F238E27FC236}">
                    <a16:creationId xmlns:a16="http://schemas.microsoft.com/office/drawing/2014/main" id="{6160C526-24DC-ACA7-3091-26C44307ABD3}"/>
                  </a:ext>
                </a:extLst>
              </p:cNvPr>
              <p:cNvSpPr txBox="1">
                <a:spLocks noRot="1" noChangeAspect="1" noMove="1" noResize="1" noEditPoints="1" noAdjustHandles="1" noChangeArrowheads="1" noChangeShapeType="1" noTextEdit="1"/>
              </p:cNvSpPr>
              <p:nvPr/>
            </p:nvSpPr>
            <p:spPr>
              <a:xfrm>
                <a:off x="1584962" y="3330416"/>
                <a:ext cx="384047" cy="236988"/>
              </a:xfrm>
              <a:prstGeom prst="rect">
                <a:avLst/>
              </a:prstGeom>
              <a:blipFill>
                <a:blip r:embed="rId2"/>
                <a:stretch>
                  <a:fillRect b="-10526"/>
                </a:stretch>
              </a:blipFill>
            </p:spPr>
            <p:txBody>
              <a:bodyPr/>
              <a:lstStyle/>
              <a:p>
                <a:r>
                  <a:rPr lang="zh-CN" altLang="en-US">
                    <a:noFill/>
                  </a:rPr>
                  <a:t> </a:t>
                </a:r>
              </a:p>
            </p:txBody>
          </p:sp>
        </mc:Fallback>
      </mc:AlternateContent>
      <p:sp>
        <p:nvSpPr>
          <p:cNvPr id="11" name="Rounded Rectangle 11">
            <a:extLst>
              <a:ext uri="{FF2B5EF4-FFF2-40B4-BE49-F238E27FC236}">
                <a16:creationId xmlns:a16="http://schemas.microsoft.com/office/drawing/2014/main" id="{C0BD13D1-34FF-323E-0F09-C210310C9B03}"/>
              </a:ext>
            </a:extLst>
          </p:cNvPr>
          <p:cNvSpPr/>
          <p:nvPr/>
        </p:nvSpPr>
        <p:spPr>
          <a:xfrm>
            <a:off x="2279906" y="3266030"/>
            <a:ext cx="658368" cy="36576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TextBox 12">
                <a:extLst>
                  <a:ext uri="{FF2B5EF4-FFF2-40B4-BE49-F238E27FC236}">
                    <a16:creationId xmlns:a16="http://schemas.microsoft.com/office/drawing/2014/main" id="{1F85657F-7C63-B2F1-0818-44B58D0C59B3}"/>
                  </a:ext>
                </a:extLst>
              </p:cNvPr>
              <p:cNvSpPr txBox="1"/>
              <p:nvPr/>
            </p:nvSpPr>
            <p:spPr>
              <a:xfrm>
                <a:off x="2353058" y="3344298"/>
                <a:ext cx="512063" cy="209224"/>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14:m>
                  <m:oMathPara xmlns:m="http://schemas.openxmlformats.org/officeDocument/2006/math">
                    <m:oMath>
                      <m:sSup>
                        <m:sSupPr>
                          <m:ctrlPr>
                            <a:rPr lang="en-US" altLang="zh-CN" b="1" i="1" smtClean="0">
                              <a:solidFill>
                                <a:schemeClr val="bg2">
                                  <a:lumMod val="10000"/>
                                </a:schemeClr>
                              </a:solidFill>
                              <a:latin typeface="Cambria Math" panose="02040503050406030204" pitchFamily="18" charset="0"/>
                              <a:cs typeface="Times New Roman" panose="02020603050405020304" pitchFamily="18" charset="0"/>
                            </a:rPr>
                          </m:ctrlPr>
                        </m:sSupPr>
                        <m:e>
                          <m:r>
                            <a:rPr lang="en-US" altLang="zh-CN" b="1" i="1" smtClean="0">
                              <a:solidFill>
                                <a:schemeClr val="bg2">
                                  <a:lumMod val="10000"/>
                                </a:schemeClr>
                              </a:solidFill>
                              <a:latin typeface="Cambria Math" panose="02040503050406030204" pitchFamily="18" charset="0"/>
                              <a:cs typeface="Times New Roman" panose="02020603050405020304" pitchFamily="18" charset="0"/>
                            </a:rPr>
                            <m:t>𝑾</m:t>
                          </m:r>
                        </m:e>
                        <m:sup>
                          <m:r>
                            <a:rPr lang="en-US" altLang="zh-CN" b="1" i="1" smtClean="0">
                              <a:solidFill>
                                <a:schemeClr val="bg2">
                                  <a:lumMod val="10000"/>
                                </a:schemeClr>
                              </a:solidFill>
                              <a:latin typeface="Cambria Math" panose="02040503050406030204" pitchFamily="18" charset="0"/>
                              <a:cs typeface="Times New Roman" panose="02020603050405020304" pitchFamily="18" charset="0"/>
                            </a:rPr>
                            <m:t>𝑫𝑲𝑽</m:t>
                          </m:r>
                        </m:sup>
                      </m:sSup>
                    </m:oMath>
                  </m:oMathPara>
                </a14:m>
                <a:endParaRPr dirty="0">
                  <a:solidFill>
                    <a:schemeClr val="bg2">
                      <a:lumMod val="10000"/>
                    </a:schemeClr>
                  </a:solidFill>
                  <a:latin typeface="Times New Roman" panose="02020603050405020304" pitchFamily="18" charset="0"/>
                  <a:cs typeface="Times New Roman" panose="02020603050405020304" pitchFamily="18" charset="0"/>
                </a:endParaRPr>
              </a:p>
            </p:txBody>
          </p:sp>
        </mc:Choice>
        <mc:Fallback>
          <p:sp>
            <p:nvSpPr>
              <p:cNvPr id="12" name="TextBox 12">
                <a:extLst>
                  <a:ext uri="{FF2B5EF4-FFF2-40B4-BE49-F238E27FC236}">
                    <a16:creationId xmlns:a16="http://schemas.microsoft.com/office/drawing/2014/main" id="{1F85657F-7C63-B2F1-0818-44B58D0C59B3}"/>
                  </a:ext>
                </a:extLst>
              </p:cNvPr>
              <p:cNvSpPr txBox="1">
                <a:spLocks noRot="1" noChangeAspect="1" noMove="1" noResize="1" noEditPoints="1" noAdjustHandles="1" noChangeArrowheads="1" noChangeShapeType="1" noTextEdit="1"/>
              </p:cNvSpPr>
              <p:nvPr/>
            </p:nvSpPr>
            <p:spPr>
              <a:xfrm>
                <a:off x="2353058" y="3344298"/>
                <a:ext cx="512063" cy="209224"/>
              </a:xfrm>
              <a:prstGeom prst="rect">
                <a:avLst/>
              </a:prstGeom>
              <a:blipFill>
                <a:blip r:embed="rId3"/>
                <a:stretch>
                  <a:fillRect/>
                </a:stretch>
              </a:blipFill>
            </p:spPr>
            <p:txBody>
              <a:bodyPr/>
              <a:lstStyle/>
              <a:p>
                <a:r>
                  <a:rPr lang="zh-CN" altLang="en-US">
                    <a:noFill/>
                  </a:rPr>
                  <a:t> </a:t>
                </a:r>
              </a:p>
            </p:txBody>
          </p:sp>
        </mc:Fallback>
      </mc:AlternateContent>
      <p:sp>
        <p:nvSpPr>
          <p:cNvPr id="13" name="Rounded Rectangle 13">
            <a:extLst>
              <a:ext uri="{FF2B5EF4-FFF2-40B4-BE49-F238E27FC236}">
                <a16:creationId xmlns:a16="http://schemas.microsoft.com/office/drawing/2014/main" id="{E76271B6-88D5-C966-E0BC-C83960B7120E}"/>
              </a:ext>
            </a:extLst>
          </p:cNvPr>
          <p:cNvSpPr/>
          <p:nvPr/>
        </p:nvSpPr>
        <p:spPr>
          <a:xfrm>
            <a:off x="3203450" y="3266030"/>
            <a:ext cx="676656" cy="365760"/>
          </a:xfrm>
          <a:prstGeom prst="roundRect">
            <a:avLst/>
          </a:prstGeom>
          <a:solidFill>
            <a:schemeClr val="accent3">
              <a:lumMod val="20000"/>
              <a:lumOff val="80000"/>
            </a:schemeClr>
          </a:solidFill>
          <a:ln w="12700">
            <a:solidFill>
              <a:srgbClr val="91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TextBox 14">
                <a:extLst>
                  <a:ext uri="{FF2B5EF4-FFF2-40B4-BE49-F238E27FC236}">
                    <a16:creationId xmlns:a16="http://schemas.microsoft.com/office/drawing/2014/main" id="{770329C2-B171-C518-FAEB-81FD73117D75}"/>
                  </a:ext>
                </a:extLst>
              </p:cNvPr>
              <p:cNvSpPr txBox="1"/>
              <p:nvPr/>
            </p:nvSpPr>
            <p:spPr>
              <a:xfrm>
                <a:off x="3276602" y="3343656"/>
                <a:ext cx="530352" cy="210507"/>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14:m>
                  <m:oMathPara xmlns:m="http://schemas.openxmlformats.org/officeDocument/2006/math">
                    <m:oMath>
                      <m:sSubSup>
                        <m:sSubSupPr>
                          <m:ctrlPr>
                            <a:rPr lang="en-US" altLang="zh-CN" b="1" i="1" smtClean="0">
                              <a:solidFill>
                                <a:schemeClr val="bg2">
                                  <a:lumMod val="10000"/>
                                </a:schemeClr>
                              </a:solidFill>
                              <a:latin typeface="Cambria Math" panose="02040503050406030204" pitchFamily="18" charset="0"/>
                              <a:cs typeface="Times New Roman" panose="02020603050405020304" pitchFamily="18" charset="0"/>
                            </a:rPr>
                          </m:ctrlPr>
                        </m:sSubSupPr>
                        <m:e>
                          <m:r>
                            <a:rPr lang="en-US" altLang="zh-CN" b="1" i="1" smtClean="0">
                              <a:solidFill>
                                <a:schemeClr val="bg2">
                                  <a:lumMod val="10000"/>
                                </a:schemeClr>
                              </a:solidFill>
                              <a:latin typeface="Cambria Math" panose="02040503050406030204" pitchFamily="18" charset="0"/>
                              <a:cs typeface="Times New Roman" panose="02020603050405020304" pitchFamily="18" charset="0"/>
                            </a:rPr>
                            <m:t>𝒄</m:t>
                          </m:r>
                        </m:e>
                        <m:sub>
                          <m:r>
                            <a:rPr lang="en-US" altLang="zh-CN" b="1" i="1" smtClean="0">
                              <a:solidFill>
                                <a:schemeClr val="bg2">
                                  <a:lumMod val="10000"/>
                                </a:schemeClr>
                              </a:solidFill>
                              <a:latin typeface="Cambria Math" panose="02040503050406030204" pitchFamily="18" charset="0"/>
                              <a:cs typeface="Times New Roman" panose="02020603050405020304" pitchFamily="18" charset="0"/>
                            </a:rPr>
                            <m:t>𝒕</m:t>
                          </m:r>
                        </m:sub>
                        <m:sup>
                          <m:r>
                            <a:rPr lang="en-US" altLang="zh-CN" b="1" i="1" smtClean="0">
                              <a:solidFill>
                                <a:schemeClr val="bg2">
                                  <a:lumMod val="10000"/>
                                </a:schemeClr>
                              </a:solidFill>
                              <a:latin typeface="Cambria Math" panose="02040503050406030204" pitchFamily="18" charset="0"/>
                              <a:cs typeface="Times New Roman" panose="02020603050405020304" pitchFamily="18" charset="0"/>
                            </a:rPr>
                            <m:t>𝑲𝑽</m:t>
                          </m:r>
                        </m:sup>
                      </m:sSubSup>
                    </m:oMath>
                  </m:oMathPara>
                </a14:m>
                <a:endParaRPr dirty="0">
                  <a:solidFill>
                    <a:schemeClr val="bg2">
                      <a:lumMod val="10000"/>
                    </a:schemeClr>
                  </a:solidFill>
                  <a:latin typeface="Times New Roman" panose="02020603050405020304" pitchFamily="18" charset="0"/>
                  <a:cs typeface="Times New Roman" panose="02020603050405020304" pitchFamily="18" charset="0"/>
                </a:endParaRPr>
              </a:p>
            </p:txBody>
          </p:sp>
        </mc:Choice>
        <mc:Fallback>
          <p:sp>
            <p:nvSpPr>
              <p:cNvPr id="14" name="TextBox 14">
                <a:extLst>
                  <a:ext uri="{FF2B5EF4-FFF2-40B4-BE49-F238E27FC236}">
                    <a16:creationId xmlns:a16="http://schemas.microsoft.com/office/drawing/2014/main" id="{770329C2-B171-C518-FAEB-81FD73117D75}"/>
                  </a:ext>
                </a:extLst>
              </p:cNvPr>
              <p:cNvSpPr txBox="1">
                <a:spLocks noRot="1" noChangeAspect="1" noMove="1" noResize="1" noEditPoints="1" noAdjustHandles="1" noChangeArrowheads="1" noChangeShapeType="1" noTextEdit="1"/>
              </p:cNvSpPr>
              <p:nvPr/>
            </p:nvSpPr>
            <p:spPr>
              <a:xfrm>
                <a:off x="3276602" y="3343656"/>
                <a:ext cx="530352" cy="210507"/>
              </a:xfrm>
              <a:prstGeom prst="rect">
                <a:avLst/>
              </a:prstGeom>
              <a:blipFill>
                <a:blip r:embed="rId4"/>
                <a:stretch>
                  <a:fillRect b="-5882"/>
                </a:stretch>
              </a:blipFill>
            </p:spPr>
            <p:txBody>
              <a:bodyPr/>
              <a:lstStyle/>
              <a:p>
                <a:r>
                  <a:rPr lang="zh-CN" altLang="en-US">
                    <a:noFill/>
                  </a:rPr>
                  <a:t> </a:t>
                </a:r>
              </a:p>
            </p:txBody>
          </p:sp>
        </mc:Fallback>
      </mc:AlternateContent>
      <p:cxnSp>
        <p:nvCxnSpPr>
          <p:cNvPr id="15" name="Connector 15">
            <a:extLst>
              <a:ext uri="{FF2B5EF4-FFF2-40B4-BE49-F238E27FC236}">
                <a16:creationId xmlns:a16="http://schemas.microsoft.com/office/drawing/2014/main" id="{95345D90-35AE-95F5-9142-006CC2568338}"/>
              </a:ext>
            </a:extLst>
          </p:cNvPr>
          <p:cNvCxnSpPr/>
          <p:nvPr/>
        </p:nvCxnSpPr>
        <p:spPr>
          <a:xfrm>
            <a:off x="2042162" y="3448910"/>
            <a:ext cx="237744" cy="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cxnSp>
        <p:nvCxnSpPr>
          <p:cNvPr id="16" name="Connector 16">
            <a:extLst>
              <a:ext uri="{FF2B5EF4-FFF2-40B4-BE49-F238E27FC236}">
                <a16:creationId xmlns:a16="http://schemas.microsoft.com/office/drawing/2014/main" id="{11B8A9DF-C56F-E101-8110-7EE0F4F46EDB}"/>
              </a:ext>
            </a:extLst>
          </p:cNvPr>
          <p:cNvCxnSpPr/>
          <p:nvPr/>
        </p:nvCxnSpPr>
        <p:spPr>
          <a:xfrm>
            <a:off x="2938274" y="3448910"/>
            <a:ext cx="265176" cy="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sp>
        <p:nvSpPr>
          <p:cNvPr id="17" name="Rounded Rectangle 17">
            <a:extLst>
              <a:ext uri="{FF2B5EF4-FFF2-40B4-BE49-F238E27FC236}">
                <a16:creationId xmlns:a16="http://schemas.microsoft.com/office/drawing/2014/main" id="{7966EC2B-434D-23CF-78EC-C8FA1B3D70F5}"/>
              </a:ext>
            </a:extLst>
          </p:cNvPr>
          <p:cNvSpPr/>
          <p:nvPr/>
        </p:nvSpPr>
        <p:spPr>
          <a:xfrm>
            <a:off x="4181857" y="3698013"/>
            <a:ext cx="1225296" cy="420624"/>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18" name="TextBox 18">
            <a:extLst>
              <a:ext uri="{FF2B5EF4-FFF2-40B4-BE49-F238E27FC236}">
                <a16:creationId xmlns:a16="http://schemas.microsoft.com/office/drawing/2014/main" id="{A12032BC-7015-4C69-E63A-8FC9D43C6121}"/>
              </a:ext>
            </a:extLst>
          </p:cNvPr>
          <p:cNvSpPr txBox="1"/>
          <p:nvPr/>
        </p:nvSpPr>
        <p:spPr>
          <a:xfrm>
            <a:off x="4255009" y="3795080"/>
            <a:ext cx="1078992"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Up-project K,V</a:t>
            </a:r>
          </a:p>
        </p:txBody>
      </p:sp>
      <p:sp>
        <p:nvSpPr>
          <p:cNvPr id="20" name="Rounded Rectangle 20">
            <a:extLst>
              <a:ext uri="{FF2B5EF4-FFF2-40B4-BE49-F238E27FC236}">
                <a16:creationId xmlns:a16="http://schemas.microsoft.com/office/drawing/2014/main" id="{80718F61-BD73-628C-832B-9313D2801445}"/>
              </a:ext>
            </a:extLst>
          </p:cNvPr>
          <p:cNvSpPr/>
          <p:nvPr/>
        </p:nvSpPr>
        <p:spPr>
          <a:xfrm>
            <a:off x="1959866" y="4111815"/>
            <a:ext cx="1463040" cy="420624"/>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21" name="TextBox 21">
            <a:extLst>
              <a:ext uri="{FF2B5EF4-FFF2-40B4-BE49-F238E27FC236}">
                <a16:creationId xmlns:a16="http://schemas.microsoft.com/office/drawing/2014/main" id="{062CE36B-EACB-6A4C-8DF0-B9AD1CA90000}"/>
              </a:ext>
            </a:extLst>
          </p:cNvPr>
          <p:cNvSpPr txBox="1"/>
          <p:nvPr/>
        </p:nvSpPr>
        <p:spPr>
          <a:xfrm>
            <a:off x="2050549" y="4207358"/>
            <a:ext cx="1316736" cy="221599"/>
          </a:xfrm>
          <a:prstGeom prst="rect">
            <a:avLst/>
          </a:prstGeom>
          <a:solidFill>
            <a:schemeClr val="accent3">
              <a:lumMod val="20000"/>
              <a:lumOff val="80000"/>
            </a:schemeClr>
          </a:solidFill>
        </p:spPr>
        <p:txBody>
          <a:bodyPr wrap="square" lIns="18288" tIns="18288" rIns="18288" bIns="18288" anchor="ctr">
            <a:spAutoFit/>
          </a:bodyPr>
          <a:lstStyle/>
          <a:p>
            <a:pPr algn="ctr">
              <a:defRPr sz="1200" b="1">
                <a:solidFill>
                  <a:srgbClr val="F4F6FA"/>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Dense MHA</a:t>
            </a:r>
          </a:p>
        </p:txBody>
      </p:sp>
      <p:sp>
        <p:nvSpPr>
          <p:cNvPr id="23" name="TextBox 23">
            <a:extLst>
              <a:ext uri="{FF2B5EF4-FFF2-40B4-BE49-F238E27FC236}">
                <a16:creationId xmlns:a16="http://schemas.microsoft.com/office/drawing/2014/main" id="{A1074CFA-F6F4-3B6C-C17E-EE2766EDDAAD}"/>
              </a:ext>
            </a:extLst>
          </p:cNvPr>
          <p:cNvSpPr txBox="1"/>
          <p:nvPr/>
        </p:nvSpPr>
        <p:spPr>
          <a:xfrm>
            <a:off x="987552" y="4952077"/>
            <a:ext cx="1325880" cy="190821"/>
          </a:xfrm>
          <a:prstGeom prst="rect">
            <a:avLst/>
          </a:prstGeom>
          <a:solidFill>
            <a:schemeClr val="accent3">
              <a:lumMod val="20000"/>
              <a:lumOff val="80000"/>
            </a:schemeClr>
          </a:solidFill>
        </p:spPr>
        <p:txBody>
          <a:bodyPr wrap="square" lIns="18288" tIns="18288" rIns="18288" bIns="18288" anchor="ctr">
            <a:spAutoFit/>
          </a:bodyPr>
          <a:lstStyle/>
          <a:p>
            <a:pPr algn="l">
              <a:defRPr sz="1000" b="1">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Inference cache</a:t>
            </a:r>
          </a:p>
        </p:txBody>
      </p:sp>
      <mc:AlternateContent xmlns:mc="http://schemas.openxmlformats.org/markup-compatibility/2006">
        <mc:Choice xmlns:a14="http://schemas.microsoft.com/office/drawing/2010/main" Requires="a14">
          <p:sp>
            <p:nvSpPr>
              <p:cNvPr id="24" name="TextBox 24">
                <a:extLst>
                  <a:ext uri="{FF2B5EF4-FFF2-40B4-BE49-F238E27FC236}">
                    <a16:creationId xmlns:a16="http://schemas.microsoft.com/office/drawing/2014/main" id="{7AE21B91-01F8-EA24-98C7-73E3CEA5FE6D}"/>
                  </a:ext>
                </a:extLst>
              </p:cNvPr>
              <p:cNvSpPr txBox="1"/>
              <p:nvPr/>
            </p:nvSpPr>
            <p:spPr>
              <a:xfrm>
                <a:off x="1847088" y="4857435"/>
                <a:ext cx="1371600" cy="380104"/>
              </a:xfrm>
              <a:prstGeom prst="rect">
                <a:avLst/>
              </a:prstGeom>
              <a:solidFill>
                <a:schemeClr val="accent3">
                  <a:lumMod val="20000"/>
                  <a:lumOff val="80000"/>
                </a:schemeClr>
              </a:solidFill>
            </p:spPr>
            <p:txBody>
              <a:bodyPr wrap="square" lIns="18288" tIns="18288" rIns="18288" bIns="18288" anchor="ctr">
                <a:spAutoFit/>
              </a:bodyPr>
              <a:lstStyle/>
              <a:p>
                <a:pPr algn="ctr">
                  <a:defRPr sz="1900" b="1">
                    <a:solidFill>
                      <a:srgbClr val="C2B7FF"/>
                    </a:solidFill>
                    <a:latin typeface="Aptos Mono"/>
                  </a:defRPr>
                </a:pPr>
                <a14:m>
                  <m:oMathPara xmlns:m="http://schemas.openxmlformats.org/officeDocument/2006/math">
                    <m:oMath>
                      <m:d>
                        <m:dPr>
                          <m:begChr m:val="["/>
                          <m:endChr m:val="]"/>
                          <m:ctrlPr>
                            <a:rPr lang="en-US" altLang="zh-CN" i="1" smtClean="0">
                              <a:solidFill>
                                <a:schemeClr val="bg2">
                                  <a:lumMod val="10000"/>
                                </a:schemeClr>
                              </a:solidFill>
                              <a:latin typeface="Cambria Math" panose="02040503050406030204" pitchFamily="18" charset="0"/>
                              <a:cs typeface="Times New Roman" panose="02020603050405020304" pitchFamily="18" charset="0"/>
                            </a:rPr>
                          </m:ctrlPr>
                        </m:dPr>
                        <m:e>
                          <m:sSubSup>
                            <m:sSubSupPr>
                              <m:ctrlPr>
                                <a:rPr lang="en-US" altLang="zh-CN" b="1" i="1" smtClean="0">
                                  <a:solidFill>
                                    <a:schemeClr val="bg2">
                                      <a:lumMod val="10000"/>
                                    </a:schemeClr>
                                  </a:solidFill>
                                  <a:latin typeface="Cambria Math" panose="02040503050406030204" pitchFamily="18" charset="0"/>
                                  <a:cs typeface="Times New Roman" panose="02020603050405020304" pitchFamily="18" charset="0"/>
                                </a:rPr>
                              </m:ctrlPr>
                            </m:sSubSupPr>
                            <m:e>
                              <m:r>
                                <a:rPr lang="en-US" altLang="zh-CN" b="1" i="1" smtClean="0">
                                  <a:solidFill>
                                    <a:schemeClr val="bg2">
                                      <a:lumMod val="10000"/>
                                    </a:schemeClr>
                                  </a:solidFill>
                                  <a:latin typeface="Cambria Math" panose="02040503050406030204" pitchFamily="18" charset="0"/>
                                  <a:cs typeface="Times New Roman" panose="02020603050405020304" pitchFamily="18" charset="0"/>
                                </a:rPr>
                                <m:t>𝒄</m:t>
                              </m:r>
                            </m:e>
                            <m:sub>
                              <m:r>
                                <a:rPr lang="en-US" altLang="zh-CN" b="1" i="1" smtClean="0">
                                  <a:solidFill>
                                    <a:schemeClr val="bg2">
                                      <a:lumMod val="10000"/>
                                    </a:schemeClr>
                                  </a:solidFill>
                                  <a:latin typeface="Cambria Math" panose="02040503050406030204" pitchFamily="18" charset="0"/>
                                  <a:cs typeface="Times New Roman" panose="02020603050405020304" pitchFamily="18" charset="0"/>
                                </a:rPr>
                                <m:t>𝒕</m:t>
                              </m:r>
                            </m:sub>
                            <m:sup>
                              <m:r>
                                <a:rPr lang="en-US" altLang="zh-CN" b="1" i="1" smtClean="0">
                                  <a:solidFill>
                                    <a:schemeClr val="bg2">
                                      <a:lumMod val="10000"/>
                                    </a:schemeClr>
                                  </a:solidFill>
                                  <a:latin typeface="Cambria Math" panose="02040503050406030204" pitchFamily="18" charset="0"/>
                                  <a:cs typeface="Times New Roman" panose="02020603050405020304" pitchFamily="18" charset="0"/>
                                </a:rPr>
                                <m:t>𝑲𝑽</m:t>
                              </m:r>
                            </m:sup>
                          </m:sSubSup>
                          <m:r>
                            <a:rPr lang="en-US" altLang="zh-CN" b="1" i="1" smtClean="0">
                              <a:solidFill>
                                <a:schemeClr val="bg2">
                                  <a:lumMod val="10000"/>
                                </a:schemeClr>
                              </a:solidFill>
                              <a:latin typeface="Cambria Math" panose="02040503050406030204" pitchFamily="18" charset="0"/>
                              <a:cs typeface="Times New Roman" panose="02020603050405020304" pitchFamily="18" charset="0"/>
                            </a:rPr>
                            <m:t>,</m:t>
                          </m:r>
                          <m:r>
                            <a:rPr lang="zh-CN" altLang="en-US" b="1" i="1" smtClean="0">
                              <a:solidFill>
                                <a:schemeClr val="bg2">
                                  <a:lumMod val="10000"/>
                                </a:schemeClr>
                              </a:solidFill>
                              <a:latin typeface="Cambria Math" panose="02040503050406030204" pitchFamily="18" charset="0"/>
                              <a:cs typeface="Times New Roman" panose="02020603050405020304" pitchFamily="18" charset="0"/>
                            </a:rPr>
                            <m:t> </m:t>
                          </m:r>
                          <m:sSubSup>
                            <m:sSubSupPr>
                              <m:ctrlPr>
                                <a:rPr lang="en-US" altLang="zh-CN" b="1" i="1" smtClean="0">
                                  <a:solidFill>
                                    <a:schemeClr val="bg2">
                                      <a:lumMod val="10000"/>
                                    </a:schemeClr>
                                  </a:solidFill>
                                  <a:latin typeface="Cambria Math" panose="02040503050406030204" pitchFamily="18" charset="0"/>
                                  <a:cs typeface="Times New Roman" panose="02020603050405020304" pitchFamily="18" charset="0"/>
                                </a:rPr>
                              </m:ctrlPr>
                            </m:sSubSupPr>
                            <m:e>
                              <m:r>
                                <a:rPr lang="en-US" altLang="zh-CN" b="1" i="1" smtClean="0">
                                  <a:solidFill>
                                    <a:schemeClr val="bg2">
                                      <a:lumMod val="10000"/>
                                    </a:schemeClr>
                                  </a:solidFill>
                                  <a:latin typeface="Cambria Math" panose="02040503050406030204" pitchFamily="18" charset="0"/>
                                  <a:cs typeface="Times New Roman" panose="02020603050405020304" pitchFamily="18" charset="0"/>
                                </a:rPr>
                                <m:t>𝑲</m:t>
                              </m:r>
                            </m:e>
                            <m:sub>
                              <m:r>
                                <a:rPr lang="en-US" altLang="zh-CN" b="1" i="1" smtClean="0">
                                  <a:solidFill>
                                    <a:schemeClr val="bg2">
                                      <a:lumMod val="10000"/>
                                    </a:schemeClr>
                                  </a:solidFill>
                                  <a:latin typeface="Cambria Math" panose="02040503050406030204" pitchFamily="18" charset="0"/>
                                  <a:cs typeface="Times New Roman" panose="02020603050405020304" pitchFamily="18" charset="0"/>
                                </a:rPr>
                                <m:t>𝒕</m:t>
                              </m:r>
                            </m:sub>
                            <m:sup>
                              <m:r>
                                <a:rPr lang="en-US" altLang="zh-CN" b="1" i="1" smtClean="0">
                                  <a:solidFill>
                                    <a:schemeClr val="bg2">
                                      <a:lumMod val="10000"/>
                                    </a:schemeClr>
                                  </a:solidFill>
                                  <a:latin typeface="Cambria Math" panose="02040503050406030204" pitchFamily="18" charset="0"/>
                                  <a:cs typeface="Times New Roman" panose="02020603050405020304" pitchFamily="18" charset="0"/>
                                </a:rPr>
                                <m:t>𝑹</m:t>
                              </m:r>
                            </m:sup>
                          </m:sSubSup>
                        </m:e>
                      </m:d>
                    </m:oMath>
                  </m:oMathPara>
                </a14:m>
                <a:endParaRPr dirty="0">
                  <a:solidFill>
                    <a:schemeClr val="bg2">
                      <a:lumMod val="10000"/>
                    </a:schemeClr>
                  </a:solidFill>
                  <a:latin typeface="Times New Roman" panose="02020603050405020304" pitchFamily="18" charset="0"/>
                  <a:cs typeface="Times New Roman" panose="02020603050405020304" pitchFamily="18" charset="0"/>
                </a:endParaRPr>
              </a:p>
            </p:txBody>
          </p:sp>
        </mc:Choice>
        <mc:Fallback>
          <p:sp>
            <p:nvSpPr>
              <p:cNvPr id="24" name="TextBox 24">
                <a:extLst>
                  <a:ext uri="{FF2B5EF4-FFF2-40B4-BE49-F238E27FC236}">
                    <a16:creationId xmlns:a16="http://schemas.microsoft.com/office/drawing/2014/main" id="{7AE21B91-01F8-EA24-98C7-73E3CEA5FE6D}"/>
                  </a:ext>
                </a:extLst>
              </p:cNvPr>
              <p:cNvSpPr txBox="1">
                <a:spLocks noRot="1" noChangeAspect="1" noMove="1" noResize="1" noEditPoints="1" noAdjustHandles="1" noChangeArrowheads="1" noChangeShapeType="1" noTextEdit="1"/>
              </p:cNvSpPr>
              <p:nvPr/>
            </p:nvSpPr>
            <p:spPr>
              <a:xfrm>
                <a:off x="1847088" y="4857435"/>
                <a:ext cx="1371600" cy="3801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TextBox 25">
                <a:extLst>
                  <a:ext uri="{FF2B5EF4-FFF2-40B4-BE49-F238E27FC236}">
                    <a16:creationId xmlns:a16="http://schemas.microsoft.com/office/drawing/2014/main" id="{55E325FC-2BD9-4AB8-A857-5A472BD5659F}"/>
                  </a:ext>
                </a:extLst>
              </p:cNvPr>
              <p:cNvSpPr txBox="1"/>
              <p:nvPr/>
            </p:nvSpPr>
            <p:spPr>
              <a:xfrm>
                <a:off x="987552" y="5430464"/>
                <a:ext cx="4206240" cy="221599"/>
              </a:xfrm>
              <a:prstGeom prst="rect">
                <a:avLst/>
              </a:prstGeom>
              <a:solidFill>
                <a:schemeClr val="accent3">
                  <a:lumMod val="20000"/>
                  <a:lumOff val="80000"/>
                </a:schemeClr>
              </a:solidFill>
            </p:spPr>
            <p:txBody>
              <a:bodyPr wrap="square" lIns="18288" tIns="18288" rIns="18288" bIns="18288" anchor="ctr">
                <a:spAutoFit/>
              </a:bodyPr>
              <a:lstStyle/>
              <a:p>
                <a:pPr algn="l">
                  <a:defRPr sz="1200" b="0">
                    <a:solidFill>
                      <a:srgbClr val="AAB5C9"/>
                    </a:solidFill>
                    <a:latin typeface="Aptos"/>
                  </a:defRPr>
                </a:pPr>
                <a:r>
                  <a:rPr lang="en" dirty="0">
                    <a:solidFill>
                      <a:schemeClr val="bg2">
                        <a:lumMod val="10000"/>
                      </a:schemeClr>
                    </a:solidFill>
                    <a:latin typeface="Times New Roman" panose="02020603050405020304" pitchFamily="18" charset="0"/>
                    <a:cs typeface="Times New Roman" panose="02020603050405020304" pitchFamily="18" charset="0"/>
                  </a:rPr>
                  <a:t>Sequence length is still</a:t>
                </a:r>
                <a:r>
                  <a:rPr lang="en" altLang="zh-CN" dirty="0">
                    <a:solidFill>
                      <a:schemeClr val="bg2">
                        <a:lumMod val="10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 altLang="zh-CN" b="0" i="1" smtClean="0">
                        <a:solidFill>
                          <a:schemeClr val="bg2">
                            <a:lumMod val="10000"/>
                          </a:schemeClr>
                        </a:solidFill>
                        <a:latin typeface="Cambria Math" panose="02040503050406030204" pitchFamily="18" charset="0"/>
                        <a:cs typeface="Times New Roman" panose="02020603050405020304" pitchFamily="18" charset="0"/>
                      </a:rPr>
                      <m:t>𝑁</m:t>
                    </m:r>
                  </m:oMath>
                </a14:m>
                <a:r>
                  <a:rPr lang="en" dirty="0">
                    <a:solidFill>
                      <a:schemeClr val="bg2">
                        <a:lumMod val="10000"/>
                      </a:schemeClr>
                    </a:solidFill>
                    <a:latin typeface="Times New Roman" panose="02020603050405020304" pitchFamily="18" charset="0"/>
                    <a:cs typeface="Times New Roman" panose="02020603050405020304" pitchFamily="18" charset="0"/>
                  </a:rPr>
                  <a:t>.</a:t>
                </a:r>
                <a:endParaRPr dirty="0">
                  <a:solidFill>
                    <a:schemeClr val="bg2">
                      <a:lumMod val="10000"/>
                    </a:schemeClr>
                  </a:solidFill>
                  <a:latin typeface="Times New Roman" panose="02020603050405020304" pitchFamily="18" charset="0"/>
                  <a:cs typeface="Times New Roman" panose="02020603050405020304" pitchFamily="18" charset="0"/>
                </a:endParaRPr>
              </a:p>
            </p:txBody>
          </p:sp>
        </mc:Choice>
        <mc:Fallback>
          <p:sp>
            <p:nvSpPr>
              <p:cNvPr id="25" name="TextBox 25">
                <a:extLst>
                  <a:ext uri="{FF2B5EF4-FFF2-40B4-BE49-F238E27FC236}">
                    <a16:creationId xmlns:a16="http://schemas.microsoft.com/office/drawing/2014/main" id="{55E325FC-2BD9-4AB8-A857-5A472BD5659F}"/>
                  </a:ext>
                </a:extLst>
              </p:cNvPr>
              <p:cNvSpPr txBox="1">
                <a:spLocks noRot="1" noChangeAspect="1" noMove="1" noResize="1" noEditPoints="1" noAdjustHandles="1" noChangeArrowheads="1" noChangeShapeType="1" noTextEdit="1"/>
              </p:cNvSpPr>
              <p:nvPr/>
            </p:nvSpPr>
            <p:spPr>
              <a:xfrm>
                <a:off x="987552" y="5430464"/>
                <a:ext cx="4206240" cy="221599"/>
              </a:xfrm>
              <a:prstGeom prst="rect">
                <a:avLst/>
              </a:prstGeom>
              <a:blipFill>
                <a:blip r:embed="rId6"/>
                <a:stretch>
                  <a:fillRect l="-1506" t="-11111" b="-38889"/>
                </a:stretch>
              </a:blipFill>
            </p:spPr>
            <p:txBody>
              <a:bodyPr/>
              <a:lstStyle/>
              <a:p>
                <a:r>
                  <a:rPr lang="zh-CN" altLang="en-US">
                    <a:noFill/>
                  </a:rPr>
                  <a:t> </a:t>
                </a:r>
              </a:p>
            </p:txBody>
          </p:sp>
        </mc:Fallback>
      </mc:AlternateContent>
      <p:sp>
        <p:nvSpPr>
          <p:cNvPr id="26" name="Rounded Rectangle 26">
            <a:extLst>
              <a:ext uri="{FF2B5EF4-FFF2-40B4-BE49-F238E27FC236}">
                <a16:creationId xmlns:a16="http://schemas.microsoft.com/office/drawing/2014/main" id="{F246E8C3-4E30-0F0F-1572-29CD89F878E5}"/>
              </a:ext>
            </a:extLst>
          </p:cNvPr>
          <p:cNvSpPr/>
          <p:nvPr/>
        </p:nvSpPr>
        <p:spPr>
          <a:xfrm>
            <a:off x="6199632" y="1965960"/>
            <a:ext cx="5431536" cy="3977639"/>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27" name="Rounded Rectangle 27">
            <a:extLst>
              <a:ext uri="{FF2B5EF4-FFF2-40B4-BE49-F238E27FC236}">
                <a16:creationId xmlns:a16="http://schemas.microsoft.com/office/drawing/2014/main" id="{68A85128-6F2A-7D2E-EF1F-5EDB65F977A8}"/>
              </a:ext>
            </a:extLst>
          </p:cNvPr>
          <p:cNvSpPr/>
          <p:nvPr/>
        </p:nvSpPr>
        <p:spPr>
          <a:xfrm>
            <a:off x="6419088" y="2185416"/>
            <a:ext cx="1572768" cy="310896"/>
          </a:xfrm>
          <a:prstGeom prst="roundRect">
            <a:avLst/>
          </a:prstGeom>
          <a:solidFill>
            <a:schemeClr val="accent3">
              <a:lumMod val="20000"/>
              <a:lumOff val="80000"/>
            </a:schemeClr>
          </a:solidFill>
          <a:ln w="12700">
            <a:solidFill>
              <a:srgbClr val="60C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28" name="TextBox 28">
            <a:extLst>
              <a:ext uri="{FF2B5EF4-FFF2-40B4-BE49-F238E27FC236}">
                <a16:creationId xmlns:a16="http://schemas.microsoft.com/office/drawing/2014/main" id="{5697CC03-D2FB-04A3-104B-328FE43AED5A}"/>
              </a:ext>
            </a:extLst>
          </p:cNvPr>
          <p:cNvSpPr txBox="1"/>
          <p:nvPr/>
        </p:nvSpPr>
        <p:spPr>
          <a:xfrm>
            <a:off x="6419088" y="2237759"/>
            <a:ext cx="1572768"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090E1D"/>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 · CSA + HCA</a:t>
            </a:r>
          </a:p>
        </p:txBody>
      </p:sp>
      <p:sp>
        <p:nvSpPr>
          <p:cNvPr id="29" name="TextBox 29">
            <a:extLst>
              <a:ext uri="{FF2B5EF4-FFF2-40B4-BE49-F238E27FC236}">
                <a16:creationId xmlns:a16="http://schemas.microsoft.com/office/drawing/2014/main" id="{79634779-305B-A210-474B-3C88B7CE4995}"/>
              </a:ext>
            </a:extLst>
          </p:cNvPr>
          <p:cNvSpPr txBox="1"/>
          <p:nvPr/>
        </p:nvSpPr>
        <p:spPr>
          <a:xfrm>
            <a:off x="7097445" y="2677805"/>
            <a:ext cx="3967116" cy="313932"/>
          </a:xfrm>
          <a:prstGeom prst="rect">
            <a:avLst/>
          </a:prstGeom>
          <a:solidFill>
            <a:schemeClr val="accent3">
              <a:lumMod val="20000"/>
              <a:lumOff val="80000"/>
            </a:schemeClr>
          </a:solidFill>
        </p:spPr>
        <p:txBody>
          <a:bodyPr wrap="square" lIns="18288" tIns="18288" rIns="18288" bIns="18288" anchor="ctr">
            <a:spAutoFit/>
          </a:bodyPr>
          <a:lstStyle/>
          <a:p>
            <a:pPr algn="l">
              <a:defRPr sz="1800" b="1">
                <a:solidFill>
                  <a:srgbClr val="F4F6FA"/>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Two complementary attention paths</a:t>
            </a:r>
          </a:p>
        </p:txBody>
      </p:sp>
      <p:sp>
        <p:nvSpPr>
          <p:cNvPr id="30" name="Rounded Rectangle 30">
            <a:extLst>
              <a:ext uri="{FF2B5EF4-FFF2-40B4-BE49-F238E27FC236}">
                <a16:creationId xmlns:a16="http://schemas.microsoft.com/office/drawing/2014/main" id="{B2E4AC9D-799F-6915-6061-33DFE7FD5B5F}"/>
              </a:ext>
            </a:extLst>
          </p:cNvPr>
          <p:cNvSpPr/>
          <p:nvPr/>
        </p:nvSpPr>
        <p:spPr>
          <a:xfrm>
            <a:off x="6778752" y="3246737"/>
            <a:ext cx="1353312" cy="36576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31" name="TextBox 31">
            <a:extLst>
              <a:ext uri="{FF2B5EF4-FFF2-40B4-BE49-F238E27FC236}">
                <a16:creationId xmlns:a16="http://schemas.microsoft.com/office/drawing/2014/main" id="{785AF950-EF23-4FE0-A989-777A6FC73E82}"/>
              </a:ext>
            </a:extLst>
          </p:cNvPr>
          <p:cNvSpPr txBox="1"/>
          <p:nvPr/>
        </p:nvSpPr>
        <p:spPr>
          <a:xfrm>
            <a:off x="6851904" y="3326512"/>
            <a:ext cx="1207008"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N hidden states</a:t>
            </a:r>
          </a:p>
        </p:txBody>
      </p:sp>
      <p:sp>
        <p:nvSpPr>
          <p:cNvPr id="32" name="Rounded Rectangle 32">
            <a:extLst>
              <a:ext uri="{FF2B5EF4-FFF2-40B4-BE49-F238E27FC236}">
                <a16:creationId xmlns:a16="http://schemas.microsoft.com/office/drawing/2014/main" id="{7FEE4FE9-3ACC-5E28-F586-A2473FF2D61B}"/>
              </a:ext>
            </a:extLst>
          </p:cNvPr>
          <p:cNvSpPr/>
          <p:nvPr/>
        </p:nvSpPr>
        <p:spPr>
          <a:xfrm>
            <a:off x="8442960" y="3246737"/>
            <a:ext cx="1170432" cy="365760"/>
          </a:xfrm>
          <a:prstGeom prst="roundRect">
            <a:avLst/>
          </a:prstGeom>
          <a:solidFill>
            <a:schemeClr val="accent3">
              <a:lumMod val="20000"/>
              <a:lumOff val="80000"/>
            </a:schemeClr>
          </a:solidFill>
          <a:ln w="12700">
            <a:solidFill>
              <a:srgbClr val="60C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33" name="TextBox 33">
            <a:extLst>
              <a:ext uri="{FF2B5EF4-FFF2-40B4-BE49-F238E27FC236}">
                <a16:creationId xmlns:a16="http://schemas.microsoft.com/office/drawing/2014/main" id="{A9701ECB-E8FD-6C36-7DAC-6F050207092C}"/>
              </a:ext>
            </a:extLst>
          </p:cNvPr>
          <p:cNvSpPr txBox="1"/>
          <p:nvPr/>
        </p:nvSpPr>
        <p:spPr>
          <a:xfrm>
            <a:off x="8516112" y="3326512"/>
            <a:ext cx="1024128"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CSA: m=4</a:t>
            </a:r>
          </a:p>
        </p:txBody>
      </p:sp>
      <p:sp>
        <p:nvSpPr>
          <p:cNvPr id="34" name="Rounded Rectangle 34">
            <a:extLst>
              <a:ext uri="{FF2B5EF4-FFF2-40B4-BE49-F238E27FC236}">
                <a16:creationId xmlns:a16="http://schemas.microsoft.com/office/drawing/2014/main" id="{21D849A2-AD3F-B7CD-4E27-903A4BD0DC64}"/>
              </a:ext>
            </a:extLst>
          </p:cNvPr>
          <p:cNvSpPr/>
          <p:nvPr/>
        </p:nvSpPr>
        <p:spPr>
          <a:xfrm>
            <a:off x="9906000" y="3246737"/>
            <a:ext cx="1170432" cy="365760"/>
          </a:xfrm>
          <a:prstGeom prst="roundRect">
            <a:avLst/>
          </a:prstGeom>
          <a:solidFill>
            <a:schemeClr val="accent3">
              <a:lumMod val="20000"/>
              <a:lumOff val="80000"/>
            </a:schemeClr>
          </a:solidFill>
          <a:ln w="12700">
            <a:solidFill>
              <a:srgbClr val="60C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35" name="TextBox 35">
            <a:extLst>
              <a:ext uri="{FF2B5EF4-FFF2-40B4-BE49-F238E27FC236}">
                <a16:creationId xmlns:a16="http://schemas.microsoft.com/office/drawing/2014/main" id="{017E3C67-88A1-B20F-55FF-1B81D054674A}"/>
              </a:ext>
            </a:extLst>
          </p:cNvPr>
          <p:cNvSpPr txBox="1"/>
          <p:nvPr/>
        </p:nvSpPr>
        <p:spPr>
          <a:xfrm>
            <a:off x="9979152" y="3326512"/>
            <a:ext cx="1024128"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Top-k DSA</a:t>
            </a:r>
          </a:p>
        </p:txBody>
      </p:sp>
      <p:cxnSp>
        <p:nvCxnSpPr>
          <p:cNvPr id="36" name="Connector 36">
            <a:extLst>
              <a:ext uri="{FF2B5EF4-FFF2-40B4-BE49-F238E27FC236}">
                <a16:creationId xmlns:a16="http://schemas.microsoft.com/office/drawing/2014/main" id="{ED382990-D6E5-BFC5-1844-9BD33A419B93}"/>
              </a:ext>
            </a:extLst>
          </p:cNvPr>
          <p:cNvCxnSpPr/>
          <p:nvPr/>
        </p:nvCxnSpPr>
        <p:spPr>
          <a:xfrm>
            <a:off x="8132064" y="3429617"/>
            <a:ext cx="310896" cy="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cxnSp>
        <p:nvCxnSpPr>
          <p:cNvPr id="37" name="Connector 37">
            <a:extLst>
              <a:ext uri="{FF2B5EF4-FFF2-40B4-BE49-F238E27FC236}">
                <a16:creationId xmlns:a16="http://schemas.microsoft.com/office/drawing/2014/main" id="{A8133F98-4071-ADC4-2BBB-E3DB02A0F7F4}"/>
              </a:ext>
            </a:extLst>
          </p:cNvPr>
          <p:cNvCxnSpPr/>
          <p:nvPr/>
        </p:nvCxnSpPr>
        <p:spPr>
          <a:xfrm>
            <a:off x="9613392" y="3429617"/>
            <a:ext cx="292608" cy="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sp>
        <p:nvSpPr>
          <p:cNvPr id="38" name="TextBox 38">
            <a:extLst>
              <a:ext uri="{FF2B5EF4-FFF2-40B4-BE49-F238E27FC236}">
                <a16:creationId xmlns:a16="http://schemas.microsoft.com/office/drawing/2014/main" id="{89F46C2D-24A2-0830-5E01-C3A56100E0FB}"/>
              </a:ext>
            </a:extLst>
          </p:cNvPr>
          <p:cNvSpPr txBox="1"/>
          <p:nvPr/>
        </p:nvSpPr>
        <p:spPr>
          <a:xfrm>
            <a:off x="8388095" y="3739619"/>
            <a:ext cx="1463040" cy="184666"/>
          </a:xfrm>
          <a:prstGeom prst="rect">
            <a:avLst/>
          </a:prstGeom>
          <a:solidFill>
            <a:schemeClr val="accent3">
              <a:lumMod val="20000"/>
              <a:lumOff val="80000"/>
            </a:schemeClr>
          </a:solidFill>
        </p:spPr>
        <p:txBody>
          <a:bodyPr wrap="square" lIns="18288" tIns="18288" rIns="18288" bIns="18288" anchor="ctr">
            <a:spAutoFit/>
          </a:bodyPr>
          <a:lstStyle/>
          <a:p>
            <a:pPr algn="ctr">
              <a:defRPr sz="960" b="0">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N / 4 compressed entries</a:t>
            </a:r>
          </a:p>
        </p:txBody>
      </p:sp>
      <p:sp>
        <p:nvSpPr>
          <p:cNvPr id="39" name="Rounded Rectangle 39">
            <a:extLst>
              <a:ext uri="{FF2B5EF4-FFF2-40B4-BE49-F238E27FC236}">
                <a16:creationId xmlns:a16="http://schemas.microsoft.com/office/drawing/2014/main" id="{836F08B3-4528-780F-A139-27E3F954A7A3}"/>
              </a:ext>
            </a:extLst>
          </p:cNvPr>
          <p:cNvSpPr/>
          <p:nvPr/>
        </p:nvSpPr>
        <p:spPr>
          <a:xfrm>
            <a:off x="6778752" y="4435457"/>
            <a:ext cx="1353312" cy="36576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40" name="TextBox 40">
            <a:extLst>
              <a:ext uri="{FF2B5EF4-FFF2-40B4-BE49-F238E27FC236}">
                <a16:creationId xmlns:a16="http://schemas.microsoft.com/office/drawing/2014/main" id="{D178F9EF-E54F-4A72-547F-5117766EAC13}"/>
              </a:ext>
            </a:extLst>
          </p:cNvPr>
          <p:cNvSpPr txBox="1"/>
          <p:nvPr/>
        </p:nvSpPr>
        <p:spPr>
          <a:xfrm>
            <a:off x="6851904" y="4515232"/>
            <a:ext cx="1207008"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N hidden states</a:t>
            </a:r>
          </a:p>
        </p:txBody>
      </p:sp>
      <p:sp>
        <p:nvSpPr>
          <p:cNvPr id="41" name="Rounded Rectangle 41">
            <a:extLst>
              <a:ext uri="{FF2B5EF4-FFF2-40B4-BE49-F238E27FC236}">
                <a16:creationId xmlns:a16="http://schemas.microsoft.com/office/drawing/2014/main" id="{2D48999D-E679-9514-F7DF-BF86192EA9B5}"/>
              </a:ext>
            </a:extLst>
          </p:cNvPr>
          <p:cNvSpPr/>
          <p:nvPr/>
        </p:nvSpPr>
        <p:spPr>
          <a:xfrm>
            <a:off x="8442960" y="4435457"/>
            <a:ext cx="1225296" cy="365760"/>
          </a:xfrm>
          <a:prstGeom prst="roundRect">
            <a:avLst/>
          </a:prstGeom>
          <a:solidFill>
            <a:schemeClr val="accent3">
              <a:lumMod val="20000"/>
              <a:lumOff val="80000"/>
            </a:schemeClr>
          </a:solidFill>
          <a:ln w="12700">
            <a:solidFill>
              <a:srgbClr val="F8B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2" name="TextBox 42">
                <a:extLst>
                  <a:ext uri="{FF2B5EF4-FFF2-40B4-BE49-F238E27FC236}">
                    <a16:creationId xmlns:a16="http://schemas.microsoft.com/office/drawing/2014/main" id="{13B7A287-8A26-0714-AEED-FEAFE76ED05E}"/>
                  </a:ext>
                </a:extLst>
              </p:cNvPr>
              <p:cNvSpPr txBox="1"/>
              <p:nvPr/>
            </p:nvSpPr>
            <p:spPr>
              <a:xfrm>
                <a:off x="8516112" y="4515233"/>
                <a:ext cx="1078992"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lang="en" dirty="0">
                    <a:solidFill>
                      <a:schemeClr val="bg2">
                        <a:lumMod val="10000"/>
                      </a:schemeClr>
                    </a:solidFill>
                    <a:latin typeface="Times New Roman" panose="02020603050405020304" pitchFamily="18" charset="0"/>
                    <a:cs typeface="Times New Roman" panose="02020603050405020304" pitchFamily="18" charset="0"/>
                  </a:rPr>
                  <a:t>HCA: </a:t>
                </a:r>
                <a14:m>
                  <m:oMath xmlns:m="http://schemas.openxmlformats.org/officeDocument/2006/math">
                    <m:sSup>
                      <m:sSupPr>
                        <m:ctrlPr>
                          <a:rPr lang="ar-AE" altLang="zh-CN" b="1" i="1" smtClean="0">
                            <a:solidFill>
                              <a:schemeClr val="bg2">
                                <a:lumMod val="10000"/>
                              </a:schemeClr>
                            </a:solidFill>
                            <a:latin typeface="Cambria Math" panose="02040503050406030204" pitchFamily="18" charset="0"/>
                            <a:cs typeface="Times New Roman" panose="02020603050405020304" pitchFamily="18" charset="0"/>
                          </a:rPr>
                        </m:ctrlPr>
                      </m:sSupPr>
                      <m:e>
                        <m:r>
                          <a:rPr lang="ar-AE" altLang="zh-CN" b="1" i="1" smtClean="0">
                            <a:solidFill>
                              <a:schemeClr val="bg2">
                                <a:lumMod val="10000"/>
                              </a:schemeClr>
                            </a:solidFill>
                            <a:latin typeface="Cambria Math" panose="02040503050406030204" pitchFamily="18" charset="0"/>
                            <a:cs typeface="Times New Roman" panose="02020603050405020304" pitchFamily="18" charset="0"/>
                          </a:rPr>
                          <m:t>𝒎</m:t>
                        </m:r>
                      </m:e>
                      <m:sup>
                        <m:r>
                          <a:rPr lang="en-US" altLang="zh-CN" b="1" i="1" smtClean="0">
                            <a:solidFill>
                              <a:schemeClr val="bg2">
                                <a:lumMod val="10000"/>
                              </a:schemeClr>
                            </a:solidFill>
                            <a:latin typeface="Cambria Math" panose="02040503050406030204" pitchFamily="18" charset="0"/>
                            <a:cs typeface="Times New Roman" panose="02020603050405020304" pitchFamily="18" charset="0"/>
                          </a:rPr>
                          <m:t>′</m:t>
                        </m:r>
                      </m:sup>
                    </m:sSup>
                  </m:oMath>
                </a14:m>
                <a:r>
                  <a:rPr lang="ar-AE" altLang="zh-CN" dirty="0">
                    <a:solidFill>
                      <a:schemeClr val="bg2">
                        <a:lumMod val="10000"/>
                      </a:schemeClr>
                    </a:solidFill>
                    <a:latin typeface="Times New Roman" panose="02020603050405020304" pitchFamily="18" charset="0"/>
                    <a:cs typeface="Times New Roman" panose="02020603050405020304" pitchFamily="18" charset="0"/>
                  </a:rPr>
                  <a:t> 128 </a:t>
                </a:r>
                <a:r>
                  <a:rPr lang="ar-AE" dirty="0">
                    <a:solidFill>
                      <a:schemeClr val="bg2">
                        <a:lumMod val="10000"/>
                      </a:schemeClr>
                    </a:solidFill>
                    <a:latin typeface="Times New Roman" panose="02020603050405020304" pitchFamily="18" charset="0"/>
                    <a:cs typeface="Times New Roman" panose="02020603050405020304" pitchFamily="18" charset="0"/>
                  </a:rPr>
                  <a:t>=</a:t>
                </a:r>
                <a:endParaRPr dirty="0">
                  <a:solidFill>
                    <a:schemeClr val="bg2">
                      <a:lumMod val="10000"/>
                    </a:schemeClr>
                  </a:solidFill>
                  <a:latin typeface="Times New Roman" panose="02020603050405020304" pitchFamily="18" charset="0"/>
                  <a:cs typeface="Times New Roman" panose="02020603050405020304" pitchFamily="18" charset="0"/>
                </a:endParaRPr>
              </a:p>
            </p:txBody>
          </p:sp>
        </mc:Choice>
        <mc:Fallback>
          <p:sp>
            <p:nvSpPr>
              <p:cNvPr id="42" name="TextBox 42">
                <a:extLst>
                  <a:ext uri="{FF2B5EF4-FFF2-40B4-BE49-F238E27FC236}">
                    <a16:creationId xmlns:a16="http://schemas.microsoft.com/office/drawing/2014/main" id="{13B7A287-8A26-0714-AEED-FEAFE76ED05E}"/>
                  </a:ext>
                </a:extLst>
              </p:cNvPr>
              <p:cNvSpPr txBox="1">
                <a:spLocks noRot="1" noChangeAspect="1" noMove="1" noResize="1" noEditPoints="1" noAdjustHandles="1" noChangeArrowheads="1" noChangeShapeType="1" noTextEdit="1"/>
              </p:cNvSpPr>
              <p:nvPr/>
            </p:nvSpPr>
            <p:spPr>
              <a:xfrm>
                <a:off x="8516112" y="4515233"/>
                <a:ext cx="1078992" cy="206210"/>
              </a:xfrm>
              <a:prstGeom prst="rect">
                <a:avLst/>
              </a:prstGeom>
              <a:blipFill>
                <a:blip r:embed="rId7"/>
                <a:stretch>
                  <a:fillRect t="-11765" b="-35294"/>
                </a:stretch>
              </a:blipFill>
            </p:spPr>
            <p:txBody>
              <a:bodyPr/>
              <a:lstStyle/>
              <a:p>
                <a:r>
                  <a:rPr lang="zh-CN" altLang="en-US">
                    <a:noFill/>
                  </a:rPr>
                  <a:t> </a:t>
                </a:r>
              </a:p>
            </p:txBody>
          </p:sp>
        </mc:Fallback>
      </mc:AlternateContent>
      <p:sp>
        <p:nvSpPr>
          <p:cNvPr id="43" name="Rounded Rectangle 43">
            <a:extLst>
              <a:ext uri="{FF2B5EF4-FFF2-40B4-BE49-F238E27FC236}">
                <a16:creationId xmlns:a16="http://schemas.microsoft.com/office/drawing/2014/main" id="{093049D1-AFEE-DE7A-5EA6-ABE68EA53235}"/>
              </a:ext>
            </a:extLst>
          </p:cNvPr>
          <p:cNvSpPr/>
          <p:nvPr/>
        </p:nvSpPr>
        <p:spPr>
          <a:xfrm>
            <a:off x="9906000" y="4435457"/>
            <a:ext cx="1170432" cy="365760"/>
          </a:xfrm>
          <a:prstGeom prst="roundRect">
            <a:avLst/>
          </a:prstGeom>
          <a:solidFill>
            <a:schemeClr val="accent3">
              <a:lumMod val="20000"/>
              <a:lumOff val="80000"/>
            </a:schemeClr>
          </a:solidFill>
          <a:ln w="12700">
            <a:solidFill>
              <a:srgbClr val="F8B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44" name="TextBox 44">
            <a:extLst>
              <a:ext uri="{FF2B5EF4-FFF2-40B4-BE49-F238E27FC236}">
                <a16:creationId xmlns:a16="http://schemas.microsoft.com/office/drawing/2014/main" id="{2C4E4D6D-7109-C6B2-F886-00E12D25912A}"/>
              </a:ext>
            </a:extLst>
          </p:cNvPr>
          <p:cNvSpPr txBox="1"/>
          <p:nvPr/>
        </p:nvSpPr>
        <p:spPr>
          <a:xfrm>
            <a:off x="9979152" y="4515232"/>
            <a:ext cx="1024128" cy="206210"/>
          </a:xfrm>
          <a:prstGeom prst="rect">
            <a:avLst/>
          </a:prstGeom>
          <a:solidFill>
            <a:schemeClr val="accent3">
              <a:lumMod val="20000"/>
              <a:lumOff val="80000"/>
            </a:schemeClr>
          </a:solidFill>
        </p:spPr>
        <p:txBody>
          <a:bodyPr wrap="square" lIns="18288" tIns="18288" rIns="18288" bIns="18288" anchor="ctr">
            <a:spAutoFit/>
          </a:bodyPr>
          <a:lstStyle/>
          <a:p>
            <a:pPr algn="ctr">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Dense MQA</a:t>
            </a:r>
          </a:p>
        </p:txBody>
      </p:sp>
      <p:cxnSp>
        <p:nvCxnSpPr>
          <p:cNvPr id="45" name="Connector 45">
            <a:extLst>
              <a:ext uri="{FF2B5EF4-FFF2-40B4-BE49-F238E27FC236}">
                <a16:creationId xmlns:a16="http://schemas.microsoft.com/office/drawing/2014/main" id="{A0CAC70C-3C64-A610-DECF-340AAD63BFF9}"/>
              </a:ext>
            </a:extLst>
          </p:cNvPr>
          <p:cNvCxnSpPr/>
          <p:nvPr/>
        </p:nvCxnSpPr>
        <p:spPr>
          <a:xfrm>
            <a:off x="8132064" y="4618337"/>
            <a:ext cx="310896" cy="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cxnSp>
        <p:nvCxnSpPr>
          <p:cNvPr id="46" name="Connector 46">
            <a:extLst>
              <a:ext uri="{FF2B5EF4-FFF2-40B4-BE49-F238E27FC236}">
                <a16:creationId xmlns:a16="http://schemas.microsoft.com/office/drawing/2014/main" id="{8397A629-10FE-9B09-17A1-77A7C04D52E5}"/>
              </a:ext>
            </a:extLst>
          </p:cNvPr>
          <p:cNvCxnSpPr/>
          <p:nvPr/>
        </p:nvCxnSpPr>
        <p:spPr>
          <a:xfrm>
            <a:off x="9668256" y="4618337"/>
            <a:ext cx="237744" cy="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sp>
        <p:nvSpPr>
          <p:cNvPr id="47" name="TextBox 47">
            <a:extLst>
              <a:ext uri="{FF2B5EF4-FFF2-40B4-BE49-F238E27FC236}">
                <a16:creationId xmlns:a16="http://schemas.microsoft.com/office/drawing/2014/main" id="{116CC553-B104-455A-90C2-4971E0D90733}"/>
              </a:ext>
            </a:extLst>
          </p:cNvPr>
          <p:cNvSpPr txBox="1"/>
          <p:nvPr/>
        </p:nvSpPr>
        <p:spPr>
          <a:xfrm>
            <a:off x="8406384" y="4928340"/>
            <a:ext cx="1600200" cy="184666"/>
          </a:xfrm>
          <a:prstGeom prst="rect">
            <a:avLst/>
          </a:prstGeom>
          <a:solidFill>
            <a:schemeClr val="accent3">
              <a:lumMod val="20000"/>
              <a:lumOff val="80000"/>
            </a:schemeClr>
          </a:solidFill>
        </p:spPr>
        <p:txBody>
          <a:bodyPr wrap="square" lIns="18288" tIns="18288" rIns="18288" bIns="18288" anchor="ctr">
            <a:spAutoFit/>
          </a:bodyPr>
          <a:lstStyle/>
          <a:p>
            <a:pPr algn="ctr">
              <a:defRPr sz="960" b="0">
                <a:solidFill>
                  <a:srgbClr val="AAB5C9"/>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N / 128 compressed entries</a:t>
            </a:r>
          </a:p>
        </p:txBody>
      </p:sp>
      <p:sp>
        <p:nvSpPr>
          <p:cNvPr id="48" name="Rounded Rectangle 48">
            <a:extLst>
              <a:ext uri="{FF2B5EF4-FFF2-40B4-BE49-F238E27FC236}">
                <a16:creationId xmlns:a16="http://schemas.microsoft.com/office/drawing/2014/main" id="{F2F5F400-D620-6BE4-756F-06E4B950D32E}"/>
              </a:ext>
            </a:extLst>
          </p:cNvPr>
          <p:cNvSpPr/>
          <p:nvPr/>
        </p:nvSpPr>
        <p:spPr>
          <a:xfrm>
            <a:off x="6778752" y="5313281"/>
            <a:ext cx="4407408" cy="402336"/>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10000"/>
                </a:schemeClr>
              </a:solidFill>
              <a:latin typeface="Times New Roman" panose="02020603050405020304" pitchFamily="18" charset="0"/>
              <a:cs typeface="Times New Roman" panose="02020603050405020304" pitchFamily="18" charset="0"/>
            </a:endParaRPr>
          </a:p>
        </p:txBody>
      </p:sp>
      <p:sp>
        <p:nvSpPr>
          <p:cNvPr id="49" name="TextBox 49">
            <a:extLst>
              <a:ext uri="{FF2B5EF4-FFF2-40B4-BE49-F238E27FC236}">
                <a16:creationId xmlns:a16="http://schemas.microsoft.com/office/drawing/2014/main" id="{90325F14-C245-B4FB-A092-FA9BEF66E568}"/>
              </a:ext>
            </a:extLst>
          </p:cNvPr>
          <p:cNvSpPr txBox="1"/>
          <p:nvPr/>
        </p:nvSpPr>
        <p:spPr>
          <a:xfrm>
            <a:off x="6888480" y="5387670"/>
            <a:ext cx="4151376" cy="216982"/>
          </a:xfrm>
          <a:prstGeom prst="rect">
            <a:avLst/>
          </a:prstGeom>
          <a:solidFill>
            <a:schemeClr val="accent3">
              <a:lumMod val="20000"/>
              <a:lumOff val="80000"/>
            </a:schemeClr>
          </a:solidFill>
        </p:spPr>
        <p:txBody>
          <a:bodyPr wrap="square" lIns="27432" tIns="27432" rIns="27432" bIns="27432" anchor="ctr">
            <a:spAutoFit/>
          </a:bodyPr>
          <a:lstStyle/>
          <a:p>
            <a:pPr algn="l"/>
            <a:r>
              <a:rPr sz="1050" b="1">
                <a:solidFill>
                  <a:schemeClr val="bg2">
                    <a:lumMod val="10000"/>
                  </a:schemeClr>
                </a:solidFill>
                <a:latin typeface="Times New Roman" panose="02020603050405020304" pitchFamily="18" charset="0"/>
                <a:cs typeface="Times New Roman" panose="02020603050405020304" pitchFamily="18" charset="0"/>
              </a:rPr>
              <a:t>local sliding window</a:t>
            </a:r>
            <a:r>
              <a:rPr sz="1050" b="0">
                <a:solidFill>
                  <a:schemeClr val="bg2">
                    <a:lumMod val="10000"/>
                  </a:schemeClr>
                </a:solidFill>
                <a:latin typeface="Times New Roman" panose="02020603050405020304" pitchFamily="18" charset="0"/>
                <a:cs typeface="Times New Roman" panose="02020603050405020304" pitchFamily="18" charset="0"/>
              </a:rPr>
              <a:t> + compressed global context</a:t>
            </a:r>
          </a:p>
        </p:txBody>
      </p:sp>
      <p:cxnSp>
        <p:nvCxnSpPr>
          <p:cNvPr id="50" name="Connector 16">
            <a:extLst>
              <a:ext uri="{FF2B5EF4-FFF2-40B4-BE49-F238E27FC236}">
                <a16:creationId xmlns:a16="http://schemas.microsoft.com/office/drawing/2014/main" id="{6AA02461-708F-5CAA-62D6-F9CB48338BCE}"/>
              </a:ext>
            </a:extLst>
          </p:cNvPr>
          <p:cNvCxnSpPr>
            <a:cxnSpLocks/>
            <a:stCxn id="13" idx="3"/>
            <a:endCxn id="17" idx="0"/>
          </p:cNvCxnSpPr>
          <p:nvPr/>
        </p:nvCxnSpPr>
        <p:spPr>
          <a:xfrm>
            <a:off x="3880106" y="3448910"/>
            <a:ext cx="914399" cy="249103"/>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cxnSp>
        <p:nvCxnSpPr>
          <p:cNvPr id="54" name="Connector 16">
            <a:extLst>
              <a:ext uri="{FF2B5EF4-FFF2-40B4-BE49-F238E27FC236}">
                <a16:creationId xmlns:a16="http://schemas.microsoft.com/office/drawing/2014/main" id="{10C5B6A9-05F4-E19E-90E0-1C154F3B15ED}"/>
              </a:ext>
            </a:extLst>
          </p:cNvPr>
          <p:cNvCxnSpPr>
            <a:cxnSpLocks/>
            <a:stCxn id="20" idx="3"/>
            <a:endCxn id="17" idx="2"/>
          </p:cNvCxnSpPr>
          <p:nvPr/>
        </p:nvCxnSpPr>
        <p:spPr>
          <a:xfrm flipV="1">
            <a:off x="3422906" y="4118637"/>
            <a:ext cx="1371599" cy="203490"/>
          </a:xfrm>
          <a:prstGeom prst="line">
            <a:avLst/>
          </a:prstGeom>
          <a:ln w="12700">
            <a:solidFill>
              <a:srgbClr val="3240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6702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0205A-6938-1F28-D455-DA12184F92C6}"/>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DBB64D25-CD96-6035-82FC-1B6BD644020F}"/>
              </a:ext>
            </a:extLst>
          </p:cNvPr>
          <p:cNvSpPr>
            <a:spLocks noGrp="1"/>
          </p:cNvSpPr>
          <p:nvPr>
            <p:ph type="body" sz="quarter" idx="13"/>
          </p:nvPr>
        </p:nvSpPr>
        <p:spPr>
          <a:xfrm>
            <a:off x="1094519" y="579314"/>
            <a:ext cx="3828545" cy="222889"/>
          </a:xfrm>
        </p:spPr>
        <p:txBody>
          <a:bodyPr/>
          <a:lstStyle/>
          <a:p>
            <a:r>
              <a:rPr lang="en" altLang="zh-CN" sz="1400" dirty="0"/>
              <a:t>CSA in detail: compress → index → select → attend</a:t>
            </a:r>
          </a:p>
        </p:txBody>
      </p:sp>
      <p:pic>
        <p:nvPicPr>
          <p:cNvPr id="4" name="图片 3">
            <a:extLst>
              <a:ext uri="{FF2B5EF4-FFF2-40B4-BE49-F238E27FC236}">
                <a16:creationId xmlns:a16="http://schemas.microsoft.com/office/drawing/2014/main" id="{4CEA0071-4FBD-ADB4-768F-942A2B45C020}"/>
              </a:ext>
            </a:extLst>
          </p:cNvPr>
          <p:cNvPicPr>
            <a:picLocks noChangeAspect="1"/>
          </p:cNvPicPr>
          <p:nvPr/>
        </p:nvPicPr>
        <p:blipFill>
          <a:blip r:embed="rId2"/>
          <a:srcRect l="1540" t="-1" b="2102"/>
          <a:stretch>
            <a:fillRect/>
          </a:stretch>
        </p:blipFill>
        <p:spPr>
          <a:xfrm>
            <a:off x="365659" y="1939397"/>
            <a:ext cx="7652657" cy="3816350"/>
          </a:xfrm>
          <a:prstGeom prst="rect">
            <a:avLst/>
          </a:prstGeom>
        </p:spPr>
      </p:pic>
      <p:sp>
        <p:nvSpPr>
          <p:cNvPr id="5" name="Rounded Rectangle 43">
            <a:extLst>
              <a:ext uri="{FF2B5EF4-FFF2-40B4-BE49-F238E27FC236}">
                <a16:creationId xmlns:a16="http://schemas.microsoft.com/office/drawing/2014/main" id="{CB869BC0-6203-90F9-1598-627230FFDDF8}"/>
              </a:ext>
            </a:extLst>
          </p:cNvPr>
          <p:cNvSpPr/>
          <p:nvPr/>
        </p:nvSpPr>
        <p:spPr>
          <a:xfrm>
            <a:off x="8443061" y="1848526"/>
            <a:ext cx="3383280" cy="4114800"/>
          </a:xfrm>
          <a:prstGeom prst="roundRect">
            <a:avLst/>
          </a:prstGeom>
          <a:solidFill>
            <a:srgbClr val="161F37"/>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Rounded Rectangle 44">
            <a:extLst>
              <a:ext uri="{FF2B5EF4-FFF2-40B4-BE49-F238E27FC236}">
                <a16:creationId xmlns:a16="http://schemas.microsoft.com/office/drawing/2014/main" id="{2CDA3F36-F276-A345-DA28-530BD1938020}"/>
              </a:ext>
            </a:extLst>
          </p:cNvPr>
          <p:cNvSpPr/>
          <p:nvPr/>
        </p:nvSpPr>
        <p:spPr>
          <a:xfrm>
            <a:off x="8680805" y="2104558"/>
            <a:ext cx="1463040" cy="310896"/>
          </a:xfrm>
          <a:prstGeom prst="roundRect">
            <a:avLst/>
          </a:prstGeom>
          <a:solidFill>
            <a:srgbClr val="60C5FF"/>
          </a:solidFill>
          <a:ln w="12700">
            <a:solidFill>
              <a:srgbClr val="60C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45">
            <a:extLst>
              <a:ext uri="{FF2B5EF4-FFF2-40B4-BE49-F238E27FC236}">
                <a16:creationId xmlns:a16="http://schemas.microsoft.com/office/drawing/2014/main" id="{0C883347-698F-35A9-5F68-1F8FCDE89600}"/>
              </a:ext>
            </a:extLst>
          </p:cNvPr>
          <p:cNvSpPr txBox="1"/>
          <p:nvPr/>
        </p:nvSpPr>
        <p:spPr>
          <a:xfrm>
            <a:off x="8680805" y="2156901"/>
            <a:ext cx="1463040" cy="206210"/>
          </a:xfrm>
          <a:prstGeom prst="rect">
            <a:avLst/>
          </a:prstGeom>
          <a:noFill/>
        </p:spPr>
        <p:txBody>
          <a:bodyPr wrap="square" lIns="18288" tIns="18288" rIns="18288" bIns="18288" anchor="ctr">
            <a:spAutoFit/>
          </a:bodyPr>
          <a:lstStyle/>
          <a:p>
            <a:pPr algn="ctr">
              <a:defRPr sz="1100" b="1">
                <a:solidFill>
                  <a:srgbClr val="090E1D"/>
                </a:solidFill>
                <a:latin typeface="Aptos"/>
              </a:defRPr>
            </a:pPr>
            <a:r>
              <a:rPr>
                <a:latin typeface="Times New Roman" panose="02020603050405020304" pitchFamily="18" charset="0"/>
                <a:cs typeface="Times New Roman" panose="02020603050405020304" pitchFamily="18" charset="0"/>
              </a:rPr>
              <a:t>V4-PRO CONFIG</a:t>
            </a:r>
          </a:p>
        </p:txBody>
      </p:sp>
      <p:sp>
        <p:nvSpPr>
          <p:cNvPr id="8" name="TextBox 46">
            <a:extLst>
              <a:ext uri="{FF2B5EF4-FFF2-40B4-BE49-F238E27FC236}">
                <a16:creationId xmlns:a16="http://schemas.microsoft.com/office/drawing/2014/main" id="{54447D9F-F2D0-B8DB-198A-8B8B0963BDE8}"/>
              </a:ext>
            </a:extLst>
          </p:cNvPr>
          <p:cNvSpPr txBox="1"/>
          <p:nvPr/>
        </p:nvSpPr>
        <p:spPr>
          <a:xfrm>
            <a:off x="8680805" y="2639191"/>
            <a:ext cx="1097280" cy="375487"/>
          </a:xfrm>
          <a:prstGeom prst="rect">
            <a:avLst/>
          </a:prstGeom>
          <a:noFill/>
        </p:spPr>
        <p:txBody>
          <a:bodyPr wrap="square" lIns="18288" tIns="18288" rIns="18288" bIns="18288" anchor="ctr">
            <a:spAutoFit/>
          </a:bodyPr>
          <a:lstStyle/>
          <a:p>
            <a:pPr algn="l">
              <a:defRPr sz="2200" b="1">
                <a:solidFill>
                  <a:srgbClr val="60C5FF"/>
                </a:solidFill>
                <a:latin typeface="Aptos Mono"/>
              </a:defRPr>
            </a:pPr>
            <a:r>
              <a:rPr>
                <a:latin typeface="Times New Roman" panose="02020603050405020304" pitchFamily="18" charset="0"/>
                <a:cs typeface="Times New Roman" panose="02020603050405020304" pitchFamily="18" charset="0"/>
              </a:rPr>
              <a:t>m = 4</a:t>
            </a:r>
          </a:p>
        </p:txBody>
      </p:sp>
      <p:sp>
        <p:nvSpPr>
          <p:cNvPr id="9" name="TextBox 47">
            <a:extLst>
              <a:ext uri="{FF2B5EF4-FFF2-40B4-BE49-F238E27FC236}">
                <a16:creationId xmlns:a16="http://schemas.microsoft.com/office/drawing/2014/main" id="{24D3DE2E-0963-107A-950F-C3D536C2EC54}"/>
              </a:ext>
            </a:extLst>
          </p:cNvPr>
          <p:cNvSpPr txBox="1"/>
          <p:nvPr/>
        </p:nvSpPr>
        <p:spPr>
          <a:xfrm>
            <a:off x="8680805" y="2982382"/>
            <a:ext cx="2743200" cy="402336"/>
          </a:xfrm>
          <a:prstGeom prst="rect">
            <a:avLst/>
          </a:prstGeom>
          <a:noFill/>
        </p:spPr>
        <p:txBody>
          <a:bodyPr wrap="square" lIns="18288" tIns="18288" rIns="18288" bIns="18288" anchor="ctr">
            <a:spAutoFit/>
          </a:bodyPr>
          <a:lstStyle/>
          <a:p>
            <a:pPr algn="l">
              <a:defRPr sz="1200" b="0">
                <a:solidFill>
                  <a:srgbClr val="F4F6FA"/>
                </a:solidFill>
                <a:latin typeface="Aptos"/>
              </a:defRPr>
            </a:pPr>
            <a:r>
              <a:rPr>
                <a:latin typeface="Times New Roman" panose="02020603050405020304" pitchFamily="18" charset="0"/>
                <a:cs typeface="Times New Roman" panose="02020603050405020304" pitchFamily="18" charset="0"/>
              </a:rPr>
              <a:t>4 original KV positions → 1 compressed entry</a:t>
            </a:r>
          </a:p>
        </p:txBody>
      </p:sp>
      <p:sp>
        <p:nvSpPr>
          <p:cNvPr id="10" name="TextBox 48">
            <a:extLst>
              <a:ext uri="{FF2B5EF4-FFF2-40B4-BE49-F238E27FC236}">
                <a16:creationId xmlns:a16="http://schemas.microsoft.com/office/drawing/2014/main" id="{529F1E60-8C00-706B-FE7B-6248F016C51D}"/>
              </a:ext>
            </a:extLst>
          </p:cNvPr>
          <p:cNvSpPr txBox="1"/>
          <p:nvPr/>
        </p:nvSpPr>
        <p:spPr>
          <a:xfrm>
            <a:off x="8680805" y="3578123"/>
            <a:ext cx="1920240" cy="344710"/>
          </a:xfrm>
          <a:prstGeom prst="rect">
            <a:avLst/>
          </a:prstGeom>
          <a:noFill/>
        </p:spPr>
        <p:txBody>
          <a:bodyPr wrap="square" lIns="18288" tIns="18288" rIns="18288" bIns="18288" anchor="ctr">
            <a:spAutoFit/>
          </a:bodyPr>
          <a:lstStyle/>
          <a:p>
            <a:pPr algn="l">
              <a:defRPr sz="2000" b="1">
                <a:solidFill>
                  <a:srgbClr val="C2B7FF"/>
                </a:solidFill>
                <a:latin typeface="Aptos Mono"/>
              </a:defRPr>
            </a:pPr>
            <a:r>
              <a:rPr lang="en" dirty="0">
                <a:latin typeface="Times New Roman" panose="02020603050405020304" pitchFamily="18" charset="0"/>
                <a:cs typeface="Times New Roman" panose="02020603050405020304" pitchFamily="18" charset="0"/>
              </a:rPr>
              <a:t>T</a:t>
            </a:r>
            <a:r>
              <a:rPr dirty="0">
                <a:latin typeface="Times New Roman" panose="02020603050405020304" pitchFamily="18" charset="0"/>
                <a:cs typeface="Times New Roman" panose="02020603050405020304" pitchFamily="18" charset="0"/>
              </a:rPr>
              <a:t>op</a:t>
            </a:r>
            <a:r>
              <a:rPr lang="en-US" altLang="zh-CN" dirty="0">
                <a:latin typeface="Times New Roman" panose="02020603050405020304" pitchFamily="18" charset="0"/>
                <a:cs typeface="Times New Roman" panose="02020603050405020304" pitchFamily="18" charset="0"/>
              </a:rPr>
              <a:t>-</a:t>
            </a:r>
            <a:r>
              <a:rPr dirty="0">
                <a:latin typeface="Times New Roman" panose="02020603050405020304" pitchFamily="18" charset="0"/>
                <a:cs typeface="Times New Roman" panose="02020603050405020304" pitchFamily="18" charset="0"/>
              </a:rPr>
              <a:t>k = 1024</a:t>
            </a:r>
          </a:p>
        </p:txBody>
      </p:sp>
      <p:sp>
        <p:nvSpPr>
          <p:cNvPr id="11" name="TextBox 49">
            <a:extLst>
              <a:ext uri="{FF2B5EF4-FFF2-40B4-BE49-F238E27FC236}">
                <a16:creationId xmlns:a16="http://schemas.microsoft.com/office/drawing/2014/main" id="{E3430F8E-9682-F7E5-5DCE-CA8D9BB03BBE}"/>
              </a:ext>
            </a:extLst>
          </p:cNvPr>
          <p:cNvSpPr txBox="1"/>
          <p:nvPr/>
        </p:nvSpPr>
        <p:spPr>
          <a:xfrm>
            <a:off x="8680805" y="3978006"/>
            <a:ext cx="2606040" cy="221599"/>
          </a:xfrm>
          <a:prstGeom prst="rect">
            <a:avLst/>
          </a:prstGeom>
          <a:noFill/>
        </p:spPr>
        <p:txBody>
          <a:bodyPr wrap="square" lIns="18288" tIns="18288" rIns="18288" bIns="18288" anchor="ctr">
            <a:spAutoFit/>
          </a:bodyPr>
          <a:lstStyle/>
          <a:p>
            <a:pPr algn="l">
              <a:defRPr sz="1200" b="0">
                <a:solidFill>
                  <a:srgbClr val="F4F6FA"/>
                </a:solidFill>
                <a:latin typeface="Aptos"/>
              </a:defRPr>
            </a:pPr>
            <a:r>
              <a:rPr>
                <a:latin typeface="Times New Roman" panose="02020603050405020304" pitchFamily="18" charset="0"/>
                <a:cs typeface="Times New Roman" panose="02020603050405020304" pitchFamily="18" charset="0"/>
              </a:rPr>
              <a:t>selected compressed entries per query</a:t>
            </a:r>
          </a:p>
        </p:txBody>
      </p:sp>
      <p:sp>
        <p:nvSpPr>
          <p:cNvPr id="12" name="TextBox 50">
            <a:extLst>
              <a:ext uri="{FF2B5EF4-FFF2-40B4-BE49-F238E27FC236}">
                <a16:creationId xmlns:a16="http://schemas.microsoft.com/office/drawing/2014/main" id="{93B64232-918E-61C7-7910-966B00D5C1B2}"/>
              </a:ext>
            </a:extLst>
          </p:cNvPr>
          <p:cNvSpPr txBox="1"/>
          <p:nvPr/>
        </p:nvSpPr>
        <p:spPr>
          <a:xfrm>
            <a:off x="8680805" y="4529099"/>
            <a:ext cx="1920240" cy="344710"/>
          </a:xfrm>
          <a:prstGeom prst="rect">
            <a:avLst/>
          </a:prstGeom>
          <a:noFill/>
        </p:spPr>
        <p:txBody>
          <a:bodyPr wrap="square" lIns="18288" tIns="18288" rIns="18288" bIns="18288" anchor="ctr">
            <a:spAutoFit/>
          </a:bodyPr>
          <a:lstStyle/>
          <a:p>
            <a:pPr algn="l">
              <a:defRPr sz="2000" b="1">
                <a:solidFill>
                  <a:srgbClr val="7DD7A0"/>
                </a:solidFill>
                <a:latin typeface="Aptos Mono"/>
              </a:defRPr>
            </a:pPr>
            <a:r>
              <a:rPr>
                <a:latin typeface="Times New Roman" panose="02020603050405020304" pitchFamily="18" charset="0"/>
                <a:cs typeface="Times New Roman" panose="02020603050405020304" pitchFamily="18" charset="0"/>
              </a:rPr>
              <a:t>window = 128</a:t>
            </a:r>
          </a:p>
        </p:txBody>
      </p:sp>
      <p:sp>
        <p:nvSpPr>
          <p:cNvPr id="13" name="TextBox 51">
            <a:extLst>
              <a:ext uri="{FF2B5EF4-FFF2-40B4-BE49-F238E27FC236}">
                <a16:creationId xmlns:a16="http://schemas.microsoft.com/office/drawing/2014/main" id="{22E9F374-21A6-BC87-529F-B2F9F82F4B21}"/>
              </a:ext>
            </a:extLst>
          </p:cNvPr>
          <p:cNvSpPr txBox="1"/>
          <p:nvPr/>
        </p:nvSpPr>
        <p:spPr>
          <a:xfrm>
            <a:off x="8680805" y="4928982"/>
            <a:ext cx="2606040" cy="221599"/>
          </a:xfrm>
          <a:prstGeom prst="rect">
            <a:avLst/>
          </a:prstGeom>
          <a:noFill/>
        </p:spPr>
        <p:txBody>
          <a:bodyPr wrap="square" lIns="18288" tIns="18288" rIns="18288" bIns="18288" anchor="ctr">
            <a:spAutoFit/>
          </a:bodyPr>
          <a:lstStyle/>
          <a:p>
            <a:pPr algn="l">
              <a:defRPr sz="1200" b="0">
                <a:solidFill>
                  <a:srgbClr val="F4F6FA"/>
                </a:solidFill>
                <a:latin typeface="Aptos"/>
              </a:defRPr>
            </a:pPr>
            <a:r>
              <a:rPr>
                <a:latin typeface="Times New Roman" panose="02020603050405020304" pitchFamily="18" charset="0"/>
                <a:cs typeface="Times New Roman" panose="02020603050405020304" pitchFamily="18" charset="0"/>
              </a:rPr>
              <a:t>recent KV entries kept for local detail</a:t>
            </a:r>
          </a:p>
        </p:txBody>
      </p:sp>
      <p:sp>
        <p:nvSpPr>
          <p:cNvPr id="14" name="Rounded Rectangle 52">
            <a:extLst>
              <a:ext uri="{FF2B5EF4-FFF2-40B4-BE49-F238E27FC236}">
                <a16:creationId xmlns:a16="http://schemas.microsoft.com/office/drawing/2014/main" id="{183998B6-3829-297B-B414-95044BFA88FC}"/>
              </a:ext>
            </a:extLst>
          </p:cNvPr>
          <p:cNvSpPr/>
          <p:nvPr/>
        </p:nvSpPr>
        <p:spPr>
          <a:xfrm>
            <a:off x="8680805" y="5423830"/>
            <a:ext cx="2724912" cy="310896"/>
          </a:xfrm>
          <a:prstGeom prst="roundRect">
            <a:avLst/>
          </a:prstGeom>
          <a:solidFill>
            <a:srgbClr val="090E1D"/>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TextBox 53">
            <a:extLst>
              <a:ext uri="{FF2B5EF4-FFF2-40B4-BE49-F238E27FC236}">
                <a16:creationId xmlns:a16="http://schemas.microsoft.com/office/drawing/2014/main" id="{B8BCC445-0EEE-0578-BFD2-7502663945EC}"/>
              </a:ext>
            </a:extLst>
          </p:cNvPr>
          <p:cNvSpPr txBox="1"/>
          <p:nvPr/>
        </p:nvSpPr>
        <p:spPr>
          <a:xfrm>
            <a:off x="8753957" y="5478570"/>
            <a:ext cx="2578608" cy="183127"/>
          </a:xfrm>
          <a:prstGeom prst="rect">
            <a:avLst/>
          </a:prstGeom>
          <a:noFill/>
        </p:spPr>
        <p:txBody>
          <a:bodyPr wrap="square" lIns="18288" tIns="18288" rIns="18288" bIns="18288" anchor="ctr">
            <a:spAutoFit/>
          </a:bodyPr>
          <a:lstStyle/>
          <a:p>
            <a:pPr algn="ctr">
              <a:defRPr sz="950" b="0">
                <a:solidFill>
                  <a:srgbClr val="AAB5C9"/>
                </a:solidFill>
                <a:latin typeface="Aptos"/>
              </a:defRPr>
            </a:pPr>
            <a:r>
              <a:rPr>
                <a:latin typeface="Times New Roman" panose="02020603050405020304" pitchFamily="18" charset="0"/>
                <a:cs typeface="Times New Roman" panose="02020603050405020304" pitchFamily="18" charset="0"/>
              </a:rPr>
              <a:t>Conceptual sequence: N → N/4 → sparse top-k</a:t>
            </a:r>
          </a:p>
        </p:txBody>
      </p:sp>
      <p:sp>
        <p:nvSpPr>
          <p:cNvPr id="17" name="文本框 16">
            <a:extLst>
              <a:ext uri="{FF2B5EF4-FFF2-40B4-BE49-F238E27FC236}">
                <a16:creationId xmlns:a16="http://schemas.microsoft.com/office/drawing/2014/main" id="{D4CC5E54-1A42-D1CA-CD84-CA9629DEBFAE}"/>
              </a:ext>
            </a:extLst>
          </p:cNvPr>
          <p:cNvSpPr txBox="1"/>
          <p:nvPr/>
        </p:nvSpPr>
        <p:spPr>
          <a:xfrm>
            <a:off x="484908" y="1102253"/>
            <a:ext cx="8451273" cy="307777"/>
          </a:xfrm>
          <a:prstGeom prst="rect">
            <a:avLst/>
          </a:prstGeom>
          <a:noFill/>
        </p:spPr>
        <p:txBody>
          <a:bodyPr wrap="square">
            <a:spAutoFit/>
          </a:bodyPr>
          <a:lstStyle/>
          <a:p>
            <a:pPr>
              <a:defRPr sz="1250" b="0">
                <a:solidFill>
                  <a:srgbClr val="AAB5C9"/>
                </a:solidFill>
                <a:latin typeface="Aptos"/>
              </a:defRPr>
            </a:pPr>
            <a:r>
              <a:rPr lang="en" altLang="zh-CN" sz="1400" b="1" dirty="0">
                <a:solidFill>
                  <a:schemeClr val="bg2">
                    <a:lumMod val="10000"/>
                  </a:schemeClr>
                </a:solidFill>
                <a:latin typeface="Times New Roman" panose="02020603050405020304" pitchFamily="18" charset="0"/>
                <a:cs typeface="Times New Roman" panose="02020603050405020304" pitchFamily="18" charset="0"/>
              </a:rPr>
              <a:t>This is the main long-range path: reduce KV entries first, then spend sparse attention only where needed.</a:t>
            </a:r>
          </a:p>
        </p:txBody>
      </p:sp>
    </p:spTree>
    <p:extLst>
      <p:ext uri="{BB962C8B-B14F-4D97-AF65-F5344CB8AC3E}">
        <p14:creationId xmlns:p14="http://schemas.microsoft.com/office/powerpoint/2010/main" val="8886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5F2BC-EB59-F9A8-4185-AD00216E4DAB}"/>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EDE52E9A-7E32-98CF-562B-AD2BE6205BEA}"/>
              </a:ext>
            </a:extLst>
          </p:cNvPr>
          <p:cNvSpPr>
            <a:spLocks noGrp="1"/>
          </p:cNvSpPr>
          <p:nvPr>
            <p:ph type="body" sz="quarter" idx="13"/>
          </p:nvPr>
        </p:nvSpPr>
        <p:spPr>
          <a:xfrm>
            <a:off x="1094520" y="579314"/>
            <a:ext cx="3686496" cy="222889"/>
          </a:xfrm>
        </p:spPr>
        <p:txBody>
          <a:bodyPr/>
          <a:lstStyle/>
          <a:p>
            <a:r>
              <a:rPr lang="en" altLang="zh-CN" sz="1400" dirty="0"/>
              <a:t>HCA: the second attention path</a:t>
            </a:r>
          </a:p>
        </p:txBody>
      </p:sp>
      <p:pic>
        <p:nvPicPr>
          <p:cNvPr id="4" name="图片 3">
            <a:extLst>
              <a:ext uri="{FF2B5EF4-FFF2-40B4-BE49-F238E27FC236}">
                <a16:creationId xmlns:a16="http://schemas.microsoft.com/office/drawing/2014/main" id="{A08B919C-11C9-F9B6-7F33-2D28393F5CAF}"/>
              </a:ext>
            </a:extLst>
          </p:cNvPr>
          <p:cNvPicPr>
            <a:picLocks noChangeAspect="1"/>
          </p:cNvPicPr>
          <p:nvPr/>
        </p:nvPicPr>
        <p:blipFill>
          <a:blip r:embed="rId2"/>
          <a:stretch>
            <a:fillRect/>
          </a:stretch>
        </p:blipFill>
        <p:spPr>
          <a:xfrm>
            <a:off x="903222" y="2436876"/>
            <a:ext cx="5003800" cy="3086100"/>
          </a:xfrm>
          <a:prstGeom prst="rect">
            <a:avLst/>
          </a:prstGeom>
        </p:spPr>
      </p:pic>
      <p:sp>
        <p:nvSpPr>
          <p:cNvPr id="6" name="文本框 5">
            <a:extLst>
              <a:ext uri="{FF2B5EF4-FFF2-40B4-BE49-F238E27FC236}">
                <a16:creationId xmlns:a16="http://schemas.microsoft.com/office/drawing/2014/main" id="{38D10DCD-7AF1-56AC-E0AE-610F42BEF670}"/>
              </a:ext>
            </a:extLst>
          </p:cNvPr>
          <p:cNvSpPr txBox="1"/>
          <p:nvPr/>
        </p:nvSpPr>
        <p:spPr>
          <a:xfrm>
            <a:off x="457199" y="1154041"/>
            <a:ext cx="10806546" cy="307777"/>
          </a:xfrm>
          <a:prstGeom prst="rect">
            <a:avLst/>
          </a:prstGeom>
          <a:noFill/>
        </p:spPr>
        <p:txBody>
          <a:bodyPr wrap="square">
            <a:spAutoFit/>
          </a:bodyPr>
          <a:lstStyle/>
          <a:p>
            <a:pPr>
              <a:defRPr sz="1250" b="0">
                <a:solidFill>
                  <a:srgbClr val="AAB5C9"/>
                </a:solidFill>
                <a:latin typeface="Aptos"/>
              </a:defRPr>
            </a:pPr>
            <a:r>
              <a:rPr lang="en" altLang="zh-CN" sz="1400" b="1" dirty="0">
                <a:solidFill>
                  <a:schemeClr val="bg2">
                    <a:lumMod val="10000"/>
                  </a:schemeClr>
                </a:solidFill>
                <a:latin typeface="Times New Roman" panose="02020603050405020304" pitchFamily="18" charset="0"/>
                <a:cs typeface="Times New Roman" panose="02020603050405020304" pitchFamily="18" charset="0"/>
              </a:rPr>
              <a:t>HCA goes further: extremely compress the sequence and then use dense attention because the compressed sequence is already tiny.</a:t>
            </a:r>
          </a:p>
        </p:txBody>
      </p:sp>
      <p:sp>
        <p:nvSpPr>
          <p:cNvPr id="7" name="Rounded Rectangle 31">
            <a:extLst>
              <a:ext uri="{FF2B5EF4-FFF2-40B4-BE49-F238E27FC236}">
                <a16:creationId xmlns:a16="http://schemas.microsoft.com/office/drawing/2014/main" id="{718F87C0-D61A-DC93-D6A6-D934728CF15B}"/>
              </a:ext>
            </a:extLst>
          </p:cNvPr>
          <p:cNvSpPr/>
          <p:nvPr/>
        </p:nvSpPr>
        <p:spPr>
          <a:xfrm>
            <a:off x="7139524" y="1931670"/>
            <a:ext cx="3840480" cy="4096512"/>
          </a:xfrm>
          <a:prstGeom prst="roundRect">
            <a:avLst/>
          </a:prstGeom>
          <a:solidFill>
            <a:srgbClr val="161F37"/>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Rounded Rectangle 32">
            <a:extLst>
              <a:ext uri="{FF2B5EF4-FFF2-40B4-BE49-F238E27FC236}">
                <a16:creationId xmlns:a16="http://schemas.microsoft.com/office/drawing/2014/main" id="{5106FA87-C51B-6239-7F2D-5F76673E3FCC}"/>
              </a:ext>
            </a:extLst>
          </p:cNvPr>
          <p:cNvSpPr/>
          <p:nvPr/>
        </p:nvSpPr>
        <p:spPr>
          <a:xfrm>
            <a:off x="7377267" y="2187702"/>
            <a:ext cx="1481328" cy="310896"/>
          </a:xfrm>
          <a:prstGeom prst="roundRect">
            <a:avLst/>
          </a:prstGeom>
          <a:solidFill>
            <a:srgbClr val="9178FF"/>
          </a:solidFill>
          <a:ln w="12700">
            <a:solidFill>
              <a:srgbClr val="91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33">
            <a:extLst>
              <a:ext uri="{FF2B5EF4-FFF2-40B4-BE49-F238E27FC236}">
                <a16:creationId xmlns:a16="http://schemas.microsoft.com/office/drawing/2014/main" id="{AC5285BA-47F4-3839-7CF4-C67B62F4841A}"/>
              </a:ext>
            </a:extLst>
          </p:cNvPr>
          <p:cNvSpPr txBox="1"/>
          <p:nvPr/>
        </p:nvSpPr>
        <p:spPr>
          <a:xfrm>
            <a:off x="7377267" y="2240045"/>
            <a:ext cx="1481328" cy="206210"/>
          </a:xfrm>
          <a:prstGeom prst="rect">
            <a:avLst/>
          </a:prstGeom>
          <a:noFill/>
        </p:spPr>
        <p:txBody>
          <a:bodyPr wrap="square" lIns="18288" tIns="18288" rIns="18288" bIns="18288" anchor="ctr">
            <a:spAutoFit/>
          </a:bodyPr>
          <a:lstStyle/>
          <a:p>
            <a:pPr algn="ctr">
              <a:defRPr sz="1100" b="1">
                <a:solidFill>
                  <a:srgbClr val="090E1D"/>
                </a:solidFill>
                <a:latin typeface="Aptos"/>
              </a:defRPr>
            </a:pPr>
            <a:r>
              <a:rPr>
                <a:latin typeface="Times New Roman" panose="02020603050405020304" pitchFamily="18" charset="0"/>
                <a:cs typeface="Times New Roman" panose="02020603050405020304" pitchFamily="18" charset="0"/>
              </a:rPr>
              <a:t>WHY KEEP BOTH?</a:t>
            </a:r>
          </a:p>
        </p:txBody>
      </p:sp>
      <p:sp>
        <p:nvSpPr>
          <p:cNvPr id="10" name="TextBox 34">
            <a:extLst>
              <a:ext uri="{FF2B5EF4-FFF2-40B4-BE49-F238E27FC236}">
                <a16:creationId xmlns:a16="http://schemas.microsoft.com/office/drawing/2014/main" id="{65E9C8BB-F027-7D72-D3A1-E98AF976FEFD}"/>
              </a:ext>
            </a:extLst>
          </p:cNvPr>
          <p:cNvSpPr txBox="1"/>
          <p:nvPr/>
        </p:nvSpPr>
        <p:spPr>
          <a:xfrm>
            <a:off x="7413844" y="2901312"/>
            <a:ext cx="914400" cy="236988"/>
          </a:xfrm>
          <a:prstGeom prst="rect">
            <a:avLst/>
          </a:prstGeom>
          <a:noFill/>
        </p:spPr>
        <p:txBody>
          <a:bodyPr wrap="square" lIns="18288" tIns="18288" rIns="18288" bIns="18288" anchor="ctr">
            <a:spAutoFit/>
          </a:bodyPr>
          <a:lstStyle/>
          <a:p>
            <a:pPr algn="l">
              <a:defRPr sz="1300" b="1">
                <a:solidFill>
                  <a:srgbClr val="60C5FF"/>
                </a:solidFill>
                <a:latin typeface="Aptos"/>
              </a:defRPr>
            </a:pPr>
            <a:r>
              <a:rPr>
                <a:latin typeface="Times New Roman" panose="02020603050405020304" pitchFamily="18" charset="0"/>
                <a:cs typeface="Times New Roman" panose="02020603050405020304" pitchFamily="18" charset="0"/>
              </a:rPr>
              <a:t>CSA</a:t>
            </a:r>
          </a:p>
        </p:txBody>
      </p:sp>
      <p:sp>
        <p:nvSpPr>
          <p:cNvPr id="11" name="TextBox 35">
            <a:extLst>
              <a:ext uri="{FF2B5EF4-FFF2-40B4-BE49-F238E27FC236}">
                <a16:creationId xmlns:a16="http://schemas.microsoft.com/office/drawing/2014/main" id="{E3EB212D-0AB9-668B-4EC8-89C32E49EF0D}"/>
              </a:ext>
            </a:extLst>
          </p:cNvPr>
          <p:cNvSpPr txBox="1"/>
          <p:nvPr/>
        </p:nvSpPr>
        <p:spPr>
          <a:xfrm>
            <a:off x="8364820" y="2920548"/>
            <a:ext cx="960120" cy="198516"/>
          </a:xfrm>
          <a:prstGeom prst="rect">
            <a:avLst/>
          </a:prstGeom>
          <a:noFill/>
        </p:spPr>
        <p:txBody>
          <a:bodyPr wrap="square" lIns="18288" tIns="18288" rIns="18288" bIns="18288" anchor="ctr">
            <a:spAutoFit/>
          </a:bodyPr>
          <a:lstStyle/>
          <a:p>
            <a:pPr algn="l">
              <a:defRPr sz="1050" b="1">
                <a:solidFill>
                  <a:srgbClr val="F4F6FA"/>
                </a:solidFill>
                <a:latin typeface="Aptos Mono"/>
              </a:defRPr>
            </a:pPr>
            <a:r>
              <a:rPr>
                <a:latin typeface="Times New Roman" panose="02020603050405020304" pitchFamily="18" charset="0"/>
                <a:cs typeface="Times New Roman" panose="02020603050405020304" pitchFamily="18" charset="0"/>
              </a:rPr>
              <a:t>m = 4</a:t>
            </a:r>
          </a:p>
        </p:txBody>
      </p:sp>
      <p:sp>
        <p:nvSpPr>
          <p:cNvPr id="12" name="TextBox 36">
            <a:extLst>
              <a:ext uri="{FF2B5EF4-FFF2-40B4-BE49-F238E27FC236}">
                <a16:creationId xmlns:a16="http://schemas.microsoft.com/office/drawing/2014/main" id="{BF3B930E-5236-7579-6153-5741B0B83B27}"/>
              </a:ext>
            </a:extLst>
          </p:cNvPr>
          <p:cNvSpPr txBox="1"/>
          <p:nvPr/>
        </p:nvSpPr>
        <p:spPr>
          <a:xfrm>
            <a:off x="9370660" y="2938836"/>
            <a:ext cx="1078992" cy="198516"/>
          </a:xfrm>
          <a:prstGeom prst="rect">
            <a:avLst/>
          </a:prstGeom>
          <a:noFill/>
        </p:spPr>
        <p:txBody>
          <a:bodyPr wrap="square" lIns="18288" tIns="18288" rIns="18288" bIns="18288" anchor="ctr">
            <a:spAutoFit/>
          </a:bodyPr>
          <a:lstStyle/>
          <a:p>
            <a:pPr algn="l">
              <a:defRPr sz="1050" b="0">
                <a:solidFill>
                  <a:srgbClr val="F4F6FA"/>
                </a:solidFill>
                <a:latin typeface="Aptos"/>
              </a:defRPr>
            </a:pPr>
            <a:r>
              <a:rPr>
                <a:latin typeface="Times New Roman" panose="02020603050405020304" pitchFamily="18" charset="0"/>
                <a:cs typeface="Times New Roman" panose="02020603050405020304" pitchFamily="18" charset="0"/>
              </a:rPr>
              <a:t>compress + sparse</a:t>
            </a:r>
          </a:p>
        </p:txBody>
      </p:sp>
      <p:sp>
        <p:nvSpPr>
          <p:cNvPr id="13" name="TextBox 37">
            <a:extLst>
              <a:ext uri="{FF2B5EF4-FFF2-40B4-BE49-F238E27FC236}">
                <a16:creationId xmlns:a16="http://schemas.microsoft.com/office/drawing/2014/main" id="{98E76855-0E95-7C2C-68B8-25DC37A6C083}"/>
              </a:ext>
            </a:extLst>
          </p:cNvPr>
          <p:cNvSpPr txBox="1"/>
          <p:nvPr/>
        </p:nvSpPr>
        <p:spPr>
          <a:xfrm>
            <a:off x="7413844" y="3405179"/>
            <a:ext cx="3090672" cy="198516"/>
          </a:xfrm>
          <a:prstGeom prst="rect">
            <a:avLst/>
          </a:prstGeom>
          <a:noFill/>
        </p:spPr>
        <p:txBody>
          <a:bodyPr wrap="square" lIns="18288" tIns="18288" rIns="18288" bIns="18288" anchor="ctr">
            <a:spAutoFit/>
          </a:bodyPr>
          <a:lstStyle/>
          <a:p>
            <a:pPr algn="l">
              <a:defRPr sz="1050" b="0">
                <a:solidFill>
                  <a:srgbClr val="AAB5C9"/>
                </a:solidFill>
                <a:latin typeface="Aptos"/>
              </a:defRPr>
            </a:pPr>
            <a:r>
              <a:rPr dirty="0">
                <a:latin typeface="Times New Roman" panose="02020603050405020304" pitchFamily="18" charset="0"/>
                <a:cs typeface="Times New Roman" panose="02020603050405020304" pitchFamily="18" charset="0"/>
              </a:rPr>
              <a:t>preserve fine-grained</a:t>
            </a:r>
            <a:r>
              <a:rPr lang="zh-CN" altLang="en-US" dirty="0">
                <a:latin typeface="Times New Roman" panose="02020603050405020304" pitchFamily="18" charset="0"/>
                <a:cs typeface="Times New Roman" panose="02020603050405020304" pitchFamily="18" charset="0"/>
              </a:rPr>
              <a:t> </a:t>
            </a:r>
            <a:r>
              <a:rPr lang="en" dirty="0">
                <a:latin typeface="Times New Roman" panose="02020603050405020304" pitchFamily="18" charset="0"/>
                <a:cs typeface="Times New Roman" panose="02020603050405020304" pitchFamily="18" charset="0"/>
              </a:rPr>
              <a:t>l</a:t>
            </a:r>
            <a:r>
              <a:rPr dirty="0" err="1">
                <a:latin typeface="Times New Roman" panose="02020603050405020304" pitchFamily="18" charset="0"/>
                <a:cs typeface="Times New Roman" panose="02020603050405020304" pitchFamily="18" charset="0"/>
              </a:rPr>
              <a:t>ong</a:t>
            </a:r>
            <a:r>
              <a:rPr dirty="0">
                <a:latin typeface="Times New Roman" panose="02020603050405020304" pitchFamily="18" charset="0"/>
                <a:cs typeface="Times New Roman" panose="02020603050405020304" pitchFamily="18" charset="0"/>
              </a:rPr>
              <a:t>-range retrieval</a:t>
            </a:r>
          </a:p>
        </p:txBody>
      </p:sp>
      <p:sp>
        <p:nvSpPr>
          <p:cNvPr id="14" name="TextBox 38">
            <a:extLst>
              <a:ext uri="{FF2B5EF4-FFF2-40B4-BE49-F238E27FC236}">
                <a16:creationId xmlns:a16="http://schemas.microsoft.com/office/drawing/2014/main" id="{995799F1-9C31-5D1B-6F44-D64C28067582}"/>
              </a:ext>
            </a:extLst>
          </p:cNvPr>
          <p:cNvSpPr txBox="1"/>
          <p:nvPr/>
        </p:nvSpPr>
        <p:spPr>
          <a:xfrm>
            <a:off x="7413844" y="3833999"/>
            <a:ext cx="914400" cy="236988"/>
          </a:xfrm>
          <a:prstGeom prst="rect">
            <a:avLst/>
          </a:prstGeom>
          <a:noFill/>
        </p:spPr>
        <p:txBody>
          <a:bodyPr wrap="square" lIns="18288" tIns="18288" rIns="18288" bIns="18288" anchor="ctr">
            <a:spAutoFit/>
          </a:bodyPr>
          <a:lstStyle/>
          <a:p>
            <a:pPr algn="l">
              <a:defRPr sz="1300" b="1">
                <a:solidFill>
                  <a:srgbClr val="F8B04C"/>
                </a:solidFill>
                <a:latin typeface="Aptos"/>
              </a:defRPr>
            </a:pPr>
            <a:r>
              <a:rPr>
                <a:latin typeface="Times New Roman" panose="02020603050405020304" pitchFamily="18" charset="0"/>
                <a:cs typeface="Times New Roman" panose="02020603050405020304" pitchFamily="18" charset="0"/>
              </a:rPr>
              <a:t>HCA</a:t>
            </a:r>
          </a:p>
        </p:txBody>
      </p:sp>
      <mc:AlternateContent xmlns:mc="http://schemas.openxmlformats.org/markup-compatibility/2006">
        <mc:Choice xmlns:a14="http://schemas.microsoft.com/office/drawing/2010/main" Requires="a14">
          <p:sp>
            <p:nvSpPr>
              <p:cNvPr id="15" name="TextBox 39">
                <a:extLst>
                  <a:ext uri="{FF2B5EF4-FFF2-40B4-BE49-F238E27FC236}">
                    <a16:creationId xmlns:a16="http://schemas.microsoft.com/office/drawing/2014/main" id="{CEE54D8F-22C7-3A9E-FB17-62BFBE88681E}"/>
                  </a:ext>
                </a:extLst>
              </p:cNvPr>
              <p:cNvSpPr txBox="1"/>
              <p:nvPr/>
            </p:nvSpPr>
            <p:spPr>
              <a:xfrm>
                <a:off x="8364820" y="3853235"/>
                <a:ext cx="960120" cy="198516"/>
              </a:xfrm>
              <a:prstGeom prst="rect">
                <a:avLst/>
              </a:prstGeom>
              <a:noFill/>
            </p:spPr>
            <p:txBody>
              <a:bodyPr wrap="square" lIns="18288" tIns="18288" rIns="18288" bIns="18288" anchor="ctr">
                <a:spAutoFit/>
              </a:bodyPr>
              <a:lstStyle/>
              <a:p>
                <a:pPr>
                  <a:defRPr sz="1050" b="1">
                    <a:solidFill>
                      <a:srgbClr val="F4F6FA"/>
                    </a:solidFill>
                    <a:latin typeface="Aptos Mono"/>
                  </a:defRPr>
                </a:pPr>
                <a14:m>
                  <m:oMath xmlns:m="http://schemas.openxmlformats.org/officeDocument/2006/math">
                    <m:sSup>
                      <m:sSupPr>
                        <m:ctrlPr>
                          <a:rPr lang="ar-AE" altLang="zh-CN" b="1" i="1">
                            <a:solidFill>
                              <a:schemeClr val="bg1"/>
                            </a:solidFill>
                            <a:latin typeface="Cambria Math" panose="02040503050406030204" pitchFamily="18" charset="0"/>
                            <a:cs typeface="Times New Roman" panose="02020603050405020304" pitchFamily="18" charset="0"/>
                          </a:rPr>
                        </m:ctrlPr>
                      </m:sSupPr>
                      <m:e>
                        <m:r>
                          <a:rPr lang="ar-AE" altLang="zh-CN" b="1" i="1">
                            <a:solidFill>
                              <a:schemeClr val="bg1"/>
                            </a:solidFill>
                            <a:latin typeface="Cambria Math" panose="02040503050406030204" pitchFamily="18" charset="0"/>
                            <a:cs typeface="Times New Roman" panose="02020603050405020304" pitchFamily="18" charset="0"/>
                          </a:rPr>
                          <m:t>𝒎</m:t>
                        </m:r>
                      </m:e>
                      <m:sup>
                        <m:r>
                          <a:rPr lang="ar-AE" altLang="zh-CN" b="1" i="1">
                            <a:solidFill>
                              <a:schemeClr val="bg1"/>
                            </a:solidFill>
                            <a:latin typeface="Cambria Math" panose="02040503050406030204" pitchFamily="18" charset="0"/>
                            <a:cs typeface="Times New Roman" panose="02020603050405020304" pitchFamily="18" charset="0"/>
                          </a:rPr>
                          <m:t>′</m:t>
                        </m:r>
                      </m:sup>
                    </m:sSup>
                  </m:oMath>
                </a14:m>
                <a:r>
                  <a:rPr lang="ar-AE" altLang="zh-CN" dirty="0">
                    <a:solidFill>
                      <a:schemeClr val="bg1"/>
                    </a:solidFill>
                    <a:latin typeface="Times New Roman" panose="02020603050405020304" pitchFamily="18" charset="0"/>
                    <a:cs typeface="Times New Roman" panose="02020603050405020304" pitchFamily="18" charset="0"/>
                  </a:rPr>
                  <a:t> </a:t>
                </a:r>
                <a:r>
                  <a:rPr lang="ar-AE" dirty="0">
                    <a:solidFill>
                      <a:schemeClr val="bg1"/>
                    </a:solidFill>
                    <a:latin typeface="Times New Roman" panose="02020603050405020304" pitchFamily="18" charset="0"/>
                    <a:cs typeface="Times New Roman" panose="02020603050405020304" pitchFamily="18" charset="0"/>
                  </a:rPr>
                  <a:t>= 128</a:t>
                </a:r>
              </a:p>
            </p:txBody>
          </p:sp>
        </mc:Choice>
        <mc:Fallback>
          <p:sp>
            <p:nvSpPr>
              <p:cNvPr id="15" name="TextBox 39">
                <a:extLst>
                  <a:ext uri="{FF2B5EF4-FFF2-40B4-BE49-F238E27FC236}">
                    <a16:creationId xmlns:a16="http://schemas.microsoft.com/office/drawing/2014/main" id="{CEE54D8F-22C7-3A9E-FB17-62BFBE88681E}"/>
                  </a:ext>
                </a:extLst>
              </p:cNvPr>
              <p:cNvSpPr txBox="1">
                <a:spLocks noRot="1" noChangeAspect="1" noMove="1" noResize="1" noEditPoints="1" noAdjustHandles="1" noChangeArrowheads="1" noChangeShapeType="1" noTextEdit="1"/>
              </p:cNvSpPr>
              <p:nvPr/>
            </p:nvSpPr>
            <p:spPr>
              <a:xfrm>
                <a:off x="8364820" y="3853235"/>
                <a:ext cx="960120" cy="198516"/>
              </a:xfrm>
              <a:prstGeom prst="rect">
                <a:avLst/>
              </a:prstGeom>
              <a:blipFill>
                <a:blip r:embed="rId3"/>
                <a:stretch>
                  <a:fillRect l="-1299" t="-11765" b="-23529"/>
                </a:stretch>
              </a:blipFill>
            </p:spPr>
            <p:txBody>
              <a:bodyPr/>
              <a:lstStyle/>
              <a:p>
                <a:r>
                  <a:rPr lang="zh-CN" altLang="en-US">
                    <a:noFill/>
                  </a:rPr>
                  <a:t> </a:t>
                </a:r>
              </a:p>
            </p:txBody>
          </p:sp>
        </mc:Fallback>
      </mc:AlternateContent>
      <p:sp>
        <p:nvSpPr>
          <p:cNvPr id="16" name="TextBox 40">
            <a:extLst>
              <a:ext uri="{FF2B5EF4-FFF2-40B4-BE49-F238E27FC236}">
                <a16:creationId xmlns:a16="http://schemas.microsoft.com/office/drawing/2014/main" id="{DC62E15F-7D01-D6D1-E824-BBF0B4127DAC}"/>
              </a:ext>
            </a:extLst>
          </p:cNvPr>
          <p:cNvSpPr txBox="1"/>
          <p:nvPr/>
        </p:nvSpPr>
        <p:spPr>
          <a:xfrm>
            <a:off x="9370660" y="3871523"/>
            <a:ext cx="1078992" cy="198516"/>
          </a:xfrm>
          <a:prstGeom prst="rect">
            <a:avLst/>
          </a:prstGeom>
          <a:noFill/>
        </p:spPr>
        <p:txBody>
          <a:bodyPr wrap="square" lIns="18288" tIns="18288" rIns="18288" bIns="18288" anchor="ctr">
            <a:spAutoFit/>
          </a:bodyPr>
          <a:lstStyle/>
          <a:p>
            <a:pPr algn="l">
              <a:defRPr sz="1050" b="0">
                <a:solidFill>
                  <a:srgbClr val="F4F6FA"/>
                </a:solidFill>
                <a:latin typeface="Aptos"/>
              </a:defRPr>
            </a:pPr>
            <a:r>
              <a:rPr>
                <a:latin typeface="Times New Roman" panose="02020603050405020304" pitchFamily="18" charset="0"/>
                <a:cs typeface="Times New Roman" panose="02020603050405020304" pitchFamily="18" charset="0"/>
              </a:rPr>
              <a:t>compress + dense</a:t>
            </a:r>
          </a:p>
        </p:txBody>
      </p:sp>
      <p:sp>
        <p:nvSpPr>
          <p:cNvPr id="17" name="TextBox 41">
            <a:extLst>
              <a:ext uri="{FF2B5EF4-FFF2-40B4-BE49-F238E27FC236}">
                <a16:creationId xmlns:a16="http://schemas.microsoft.com/office/drawing/2014/main" id="{E7CD4314-FB0B-6721-372F-C49865962C89}"/>
              </a:ext>
            </a:extLst>
          </p:cNvPr>
          <p:cNvSpPr txBox="1"/>
          <p:nvPr/>
        </p:nvSpPr>
        <p:spPr>
          <a:xfrm>
            <a:off x="7413843" y="4337866"/>
            <a:ext cx="3410675" cy="198516"/>
          </a:xfrm>
          <a:prstGeom prst="rect">
            <a:avLst/>
          </a:prstGeom>
          <a:noFill/>
        </p:spPr>
        <p:txBody>
          <a:bodyPr wrap="square" lIns="18288" tIns="18288" rIns="18288" bIns="18288" anchor="ctr">
            <a:spAutoFit/>
          </a:bodyPr>
          <a:lstStyle/>
          <a:p>
            <a:pPr algn="l">
              <a:defRPr sz="1050" b="0">
                <a:solidFill>
                  <a:srgbClr val="AAB5C9"/>
                </a:solidFill>
                <a:latin typeface="Aptos"/>
              </a:defRPr>
            </a:pPr>
            <a:r>
              <a:rPr dirty="0">
                <a:latin typeface="Times New Roman" panose="02020603050405020304" pitchFamily="18" charset="0"/>
                <a:cs typeface="Times New Roman" panose="02020603050405020304" pitchFamily="18" charset="0"/>
              </a:rPr>
              <a:t>very cheap global</a:t>
            </a:r>
            <a:r>
              <a:rPr lang="zh-CN" alt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mixing</a:t>
            </a:r>
          </a:p>
        </p:txBody>
      </p:sp>
      <p:sp>
        <p:nvSpPr>
          <p:cNvPr id="18" name="TextBox 42">
            <a:extLst>
              <a:ext uri="{FF2B5EF4-FFF2-40B4-BE49-F238E27FC236}">
                <a16:creationId xmlns:a16="http://schemas.microsoft.com/office/drawing/2014/main" id="{24F77E5C-D7F6-1695-CE62-3A99EEF34C24}"/>
              </a:ext>
            </a:extLst>
          </p:cNvPr>
          <p:cNvSpPr txBox="1"/>
          <p:nvPr/>
        </p:nvSpPr>
        <p:spPr>
          <a:xfrm>
            <a:off x="7413844" y="4766687"/>
            <a:ext cx="914400" cy="236988"/>
          </a:xfrm>
          <a:prstGeom prst="rect">
            <a:avLst/>
          </a:prstGeom>
          <a:noFill/>
        </p:spPr>
        <p:txBody>
          <a:bodyPr wrap="square" lIns="18288" tIns="18288" rIns="18288" bIns="18288" anchor="ctr">
            <a:spAutoFit/>
          </a:bodyPr>
          <a:lstStyle/>
          <a:p>
            <a:pPr algn="l">
              <a:defRPr sz="1300" b="1">
                <a:solidFill>
                  <a:srgbClr val="7DD7A0"/>
                </a:solidFill>
                <a:latin typeface="Aptos"/>
              </a:defRPr>
            </a:pPr>
            <a:r>
              <a:rPr>
                <a:latin typeface="Times New Roman" panose="02020603050405020304" pitchFamily="18" charset="0"/>
                <a:cs typeface="Times New Roman" panose="02020603050405020304" pitchFamily="18" charset="0"/>
              </a:rPr>
              <a:t>Window</a:t>
            </a:r>
          </a:p>
        </p:txBody>
      </p:sp>
      <p:sp>
        <p:nvSpPr>
          <p:cNvPr id="19" name="TextBox 43">
            <a:extLst>
              <a:ext uri="{FF2B5EF4-FFF2-40B4-BE49-F238E27FC236}">
                <a16:creationId xmlns:a16="http://schemas.microsoft.com/office/drawing/2014/main" id="{2FE4AEF8-ACA7-9CA1-5D1D-F1ABD8347E6F}"/>
              </a:ext>
            </a:extLst>
          </p:cNvPr>
          <p:cNvSpPr txBox="1"/>
          <p:nvPr/>
        </p:nvSpPr>
        <p:spPr>
          <a:xfrm>
            <a:off x="8364820" y="4785923"/>
            <a:ext cx="960120" cy="198516"/>
          </a:xfrm>
          <a:prstGeom prst="rect">
            <a:avLst/>
          </a:prstGeom>
          <a:noFill/>
        </p:spPr>
        <p:txBody>
          <a:bodyPr wrap="square" lIns="18288" tIns="18288" rIns="18288" bIns="18288" anchor="ctr">
            <a:spAutoFit/>
          </a:bodyPr>
          <a:lstStyle/>
          <a:p>
            <a:pPr algn="l">
              <a:defRPr sz="1050" b="1">
                <a:solidFill>
                  <a:srgbClr val="F4F6FA"/>
                </a:solidFill>
                <a:latin typeface="Aptos Mono"/>
              </a:defRPr>
            </a:pPr>
            <a:r>
              <a:rPr>
                <a:latin typeface="Times New Roman" panose="02020603050405020304" pitchFamily="18" charset="0"/>
                <a:cs typeface="Times New Roman" panose="02020603050405020304" pitchFamily="18" charset="0"/>
              </a:rPr>
              <a:t>128 tokens</a:t>
            </a:r>
          </a:p>
        </p:txBody>
      </p:sp>
      <p:sp>
        <p:nvSpPr>
          <p:cNvPr id="20" name="TextBox 44">
            <a:extLst>
              <a:ext uri="{FF2B5EF4-FFF2-40B4-BE49-F238E27FC236}">
                <a16:creationId xmlns:a16="http://schemas.microsoft.com/office/drawing/2014/main" id="{D18E6422-CF06-E9D0-813A-ABF569348E2E}"/>
              </a:ext>
            </a:extLst>
          </p:cNvPr>
          <p:cNvSpPr txBox="1"/>
          <p:nvPr/>
        </p:nvSpPr>
        <p:spPr>
          <a:xfrm>
            <a:off x="9370660" y="4723420"/>
            <a:ext cx="1078992" cy="360099"/>
          </a:xfrm>
          <a:prstGeom prst="rect">
            <a:avLst/>
          </a:prstGeom>
          <a:noFill/>
        </p:spPr>
        <p:txBody>
          <a:bodyPr wrap="square" lIns="18288" tIns="18288" rIns="18288" bIns="18288" anchor="ctr">
            <a:spAutoFit/>
          </a:bodyPr>
          <a:lstStyle/>
          <a:p>
            <a:pPr algn="l">
              <a:defRPr sz="1050" b="0">
                <a:solidFill>
                  <a:srgbClr val="F4F6FA"/>
                </a:solidFill>
                <a:latin typeface="Aptos"/>
              </a:defRPr>
            </a:pPr>
            <a:r>
              <a:rPr>
                <a:latin typeface="Times New Roman" panose="02020603050405020304" pitchFamily="18" charset="0"/>
                <a:cs typeface="Times New Roman" panose="02020603050405020304" pitchFamily="18" charset="0"/>
              </a:rPr>
              <a:t>uncompressed local</a:t>
            </a:r>
          </a:p>
        </p:txBody>
      </p:sp>
      <p:sp>
        <p:nvSpPr>
          <p:cNvPr id="21" name="TextBox 45">
            <a:extLst>
              <a:ext uri="{FF2B5EF4-FFF2-40B4-BE49-F238E27FC236}">
                <a16:creationId xmlns:a16="http://schemas.microsoft.com/office/drawing/2014/main" id="{B1DC908C-D552-91CC-617E-39788EBB8862}"/>
              </a:ext>
            </a:extLst>
          </p:cNvPr>
          <p:cNvSpPr txBox="1"/>
          <p:nvPr/>
        </p:nvSpPr>
        <p:spPr>
          <a:xfrm>
            <a:off x="7413844" y="5152059"/>
            <a:ext cx="3090672" cy="198516"/>
          </a:xfrm>
          <a:prstGeom prst="rect">
            <a:avLst/>
          </a:prstGeom>
          <a:noFill/>
        </p:spPr>
        <p:txBody>
          <a:bodyPr wrap="square" lIns="18288" tIns="18288" rIns="18288" bIns="18288" anchor="ctr">
            <a:spAutoFit/>
          </a:bodyPr>
          <a:lstStyle/>
          <a:p>
            <a:pPr algn="l">
              <a:defRPr sz="1050" b="0">
                <a:solidFill>
                  <a:srgbClr val="AAB5C9"/>
                </a:solidFill>
                <a:latin typeface="Aptos"/>
              </a:defRPr>
            </a:pPr>
            <a:r>
              <a:rPr dirty="0">
                <a:latin typeface="Times New Roman" panose="02020603050405020304" pitchFamily="18" charset="0"/>
                <a:cs typeface="Times New Roman" panose="02020603050405020304" pitchFamily="18" charset="0"/>
              </a:rPr>
              <a:t>recency / exact</a:t>
            </a:r>
            <a:r>
              <a:rPr lang="zh-CN" alt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local dependencies</a:t>
            </a:r>
          </a:p>
        </p:txBody>
      </p:sp>
      <p:sp>
        <p:nvSpPr>
          <p:cNvPr id="22" name="Rounded Rectangle 46">
            <a:extLst>
              <a:ext uri="{FF2B5EF4-FFF2-40B4-BE49-F238E27FC236}">
                <a16:creationId xmlns:a16="http://schemas.microsoft.com/office/drawing/2014/main" id="{8CD99BA7-8EB1-0F03-A32B-A1098FDCFA5B}"/>
              </a:ext>
            </a:extLst>
          </p:cNvPr>
          <p:cNvSpPr/>
          <p:nvPr/>
        </p:nvSpPr>
        <p:spPr>
          <a:xfrm>
            <a:off x="7503102" y="5522976"/>
            <a:ext cx="3145536" cy="310896"/>
          </a:xfrm>
          <a:prstGeom prst="roundRect">
            <a:avLst/>
          </a:prstGeom>
          <a:solidFill>
            <a:srgbClr val="090E1D"/>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47">
            <a:extLst>
              <a:ext uri="{FF2B5EF4-FFF2-40B4-BE49-F238E27FC236}">
                <a16:creationId xmlns:a16="http://schemas.microsoft.com/office/drawing/2014/main" id="{30FA3E19-3651-AC93-B5F0-05110652CE01}"/>
              </a:ext>
            </a:extLst>
          </p:cNvPr>
          <p:cNvSpPr txBox="1"/>
          <p:nvPr/>
        </p:nvSpPr>
        <p:spPr>
          <a:xfrm>
            <a:off x="7594543" y="5578486"/>
            <a:ext cx="2944368" cy="181588"/>
          </a:xfrm>
          <a:prstGeom prst="rect">
            <a:avLst/>
          </a:prstGeom>
          <a:noFill/>
        </p:spPr>
        <p:txBody>
          <a:bodyPr wrap="square" lIns="18288" tIns="18288" rIns="18288" bIns="18288" anchor="ctr">
            <a:spAutoFit/>
          </a:bodyPr>
          <a:lstStyle/>
          <a:p>
            <a:pPr algn="ctr">
              <a:defRPr sz="940" b="1">
                <a:solidFill>
                  <a:srgbClr val="C2B7FF"/>
                </a:solidFill>
                <a:latin typeface="Aptos"/>
              </a:defRPr>
            </a:pPr>
            <a:r>
              <a:rPr>
                <a:latin typeface="Times New Roman" panose="02020603050405020304" pitchFamily="18" charset="0"/>
                <a:cs typeface="Times New Roman" panose="02020603050405020304" pitchFamily="18" charset="0"/>
              </a:rPr>
              <a:t>Hybrid = allocate different attention roles across layers</a:t>
            </a:r>
          </a:p>
        </p:txBody>
      </p:sp>
    </p:spTree>
    <p:extLst>
      <p:ext uri="{BB962C8B-B14F-4D97-AF65-F5344CB8AC3E}">
        <p14:creationId xmlns:p14="http://schemas.microsoft.com/office/powerpoint/2010/main" val="3595353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99825-40C9-5164-A2FE-D990317EDF10}"/>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CFFE9FB-C60F-6B9B-AE51-85B797471AC4}"/>
              </a:ext>
            </a:extLst>
          </p:cNvPr>
          <p:cNvSpPr>
            <a:spLocks noGrp="1"/>
          </p:cNvSpPr>
          <p:nvPr>
            <p:ph type="body" sz="quarter" idx="13"/>
          </p:nvPr>
        </p:nvSpPr>
        <p:spPr>
          <a:xfrm>
            <a:off x="1094520" y="579314"/>
            <a:ext cx="3686496" cy="222889"/>
          </a:xfrm>
        </p:spPr>
        <p:txBody>
          <a:bodyPr/>
          <a:lstStyle/>
          <a:p>
            <a:r>
              <a:rPr lang="en" altLang="zh-CN" sz="1400" dirty="0"/>
              <a:t>KV cache and FLOPs: the quantitative payoff</a:t>
            </a:r>
          </a:p>
        </p:txBody>
      </p:sp>
      <p:sp>
        <p:nvSpPr>
          <p:cNvPr id="3" name="TextBox 4">
            <a:extLst>
              <a:ext uri="{FF2B5EF4-FFF2-40B4-BE49-F238E27FC236}">
                <a16:creationId xmlns:a16="http://schemas.microsoft.com/office/drawing/2014/main" id="{B6AC769E-BE28-8B46-8202-3E37D2EF0C71}"/>
              </a:ext>
            </a:extLst>
          </p:cNvPr>
          <p:cNvSpPr txBox="1"/>
          <p:nvPr/>
        </p:nvSpPr>
        <p:spPr>
          <a:xfrm>
            <a:off x="521208" y="1076248"/>
            <a:ext cx="10881360" cy="252377"/>
          </a:xfrm>
          <a:prstGeom prst="rect">
            <a:avLst/>
          </a:prstGeom>
          <a:noFill/>
        </p:spPr>
        <p:txBody>
          <a:bodyPr wrap="square" lIns="18288" tIns="18288" rIns="18288" bIns="18288" anchor="ctr">
            <a:spAutoFit/>
          </a:bodyPr>
          <a:lstStyle/>
          <a:p>
            <a:pPr>
              <a:defRPr sz="1250" b="0">
                <a:solidFill>
                  <a:srgbClr val="AAB5C9"/>
                </a:solidFill>
                <a:latin typeface="Aptos"/>
              </a:defRPr>
            </a:pPr>
            <a:r>
              <a:rPr sz="1400" b="1" dirty="0">
                <a:solidFill>
                  <a:schemeClr val="bg2">
                    <a:lumMod val="10000"/>
                  </a:schemeClr>
                </a:solidFill>
                <a:latin typeface="Times New Roman" panose="02020603050405020304" pitchFamily="18" charset="0"/>
                <a:cs typeface="Times New Roman" panose="02020603050405020304" pitchFamily="18" charset="0"/>
              </a:rPr>
              <a:t>The V4 paper reports its headline long-context efficiency numbers against DeepSeek-V3.2 </a:t>
            </a:r>
            <a:r>
              <a:rPr lang="en-US" altLang="zh-CN" sz="1400" b="1" dirty="0">
                <a:solidFill>
                  <a:schemeClr val="bg2">
                    <a:lumMod val="10000"/>
                  </a:schemeClr>
                </a:solidFill>
                <a:latin typeface="Times New Roman" panose="02020603050405020304" pitchFamily="18" charset="0"/>
                <a:cs typeface="Times New Roman" panose="02020603050405020304" pitchFamily="18" charset="0"/>
              </a:rPr>
              <a:t>-</a:t>
            </a:r>
            <a:r>
              <a:rPr sz="1400" b="1" dirty="0">
                <a:solidFill>
                  <a:schemeClr val="bg2">
                    <a:lumMod val="10000"/>
                  </a:schemeClr>
                </a:solidFill>
                <a:latin typeface="Times New Roman" panose="02020603050405020304" pitchFamily="18" charset="0"/>
                <a:cs typeface="Times New Roman" panose="02020603050405020304" pitchFamily="18" charset="0"/>
              </a:rPr>
              <a:t> not the original V3.</a:t>
            </a:r>
          </a:p>
        </p:txBody>
      </p:sp>
      <p:sp>
        <p:nvSpPr>
          <p:cNvPr id="4" name="Rounded Rectangle 5">
            <a:extLst>
              <a:ext uri="{FF2B5EF4-FFF2-40B4-BE49-F238E27FC236}">
                <a16:creationId xmlns:a16="http://schemas.microsoft.com/office/drawing/2014/main" id="{B45F61C6-7448-55D0-7AB3-58E09B7DD6F2}"/>
              </a:ext>
            </a:extLst>
          </p:cNvPr>
          <p:cNvSpPr/>
          <p:nvPr/>
        </p:nvSpPr>
        <p:spPr>
          <a:xfrm>
            <a:off x="566928" y="1920240"/>
            <a:ext cx="6629400" cy="416052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ounded Rectangle 6">
            <a:extLst>
              <a:ext uri="{FF2B5EF4-FFF2-40B4-BE49-F238E27FC236}">
                <a16:creationId xmlns:a16="http://schemas.microsoft.com/office/drawing/2014/main" id="{64839A65-300A-988D-8503-0BDC7732375A}"/>
              </a:ext>
            </a:extLst>
          </p:cNvPr>
          <p:cNvSpPr/>
          <p:nvPr/>
        </p:nvSpPr>
        <p:spPr>
          <a:xfrm>
            <a:off x="804672" y="2176272"/>
            <a:ext cx="2057400" cy="310896"/>
          </a:xfrm>
          <a:prstGeom prst="roundRect">
            <a:avLst/>
          </a:prstGeom>
          <a:solidFill>
            <a:srgbClr val="9178FF"/>
          </a:solidFill>
          <a:ln w="12700">
            <a:solidFill>
              <a:srgbClr val="91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7">
            <a:extLst>
              <a:ext uri="{FF2B5EF4-FFF2-40B4-BE49-F238E27FC236}">
                <a16:creationId xmlns:a16="http://schemas.microsoft.com/office/drawing/2014/main" id="{8314DE98-2528-B7B7-AAC9-516EC18ADD39}"/>
              </a:ext>
            </a:extLst>
          </p:cNvPr>
          <p:cNvSpPr txBox="1"/>
          <p:nvPr/>
        </p:nvSpPr>
        <p:spPr>
          <a:xfrm>
            <a:off x="804672" y="2228615"/>
            <a:ext cx="2057400" cy="206210"/>
          </a:xfrm>
          <a:prstGeom prst="rect">
            <a:avLst/>
          </a:prstGeom>
          <a:noFill/>
        </p:spPr>
        <p:txBody>
          <a:bodyPr wrap="square" lIns="18288" tIns="18288" rIns="18288" bIns="18288" anchor="ctr">
            <a:spAutoFit/>
          </a:bodyPr>
          <a:lstStyle/>
          <a:p>
            <a:pPr algn="ctr">
              <a:defRPr sz="1100" b="1">
                <a:solidFill>
                  <a:srgbClr val="090E1D"/>
                </a:solidFill>
                <a:latin typeface="Aptos"/>
              </a:defRPr>
            </a:pPr>
            <a:r>
              <a:rPr>
                <a:latin typeface="Times New Roman" panose="02020603050405020304" pitchFamily="18" charset="0"/>
                <a:cs typeface="Times New Roman" panose="02020603050405020304" pitchFamily="18" charset="0"/>
              </a:rPr>
              <a:t>REPORTED AT 1M CONTEXT</a:t>
            </a:r>
          </a:p>
        </p:txBody>
      </p:sp>
      <p:sp>
        <p:nvSpPr>
          <p:cNvPr id="7" name="TextBox 8">
            <a:extLst>
              <a:ext uri="{FF2B5EF4-FFF2-40B4-BE49-F238E27FC236}">
                <a16:creationId xmlns:a16="http://schemas.microsoft.com/office/drawing/2014/main" id="{871A1B0B-79D6-D710-A265-9FB572BE146D}"/>
              </a:ext>
            </a:extLst>
          </p:cNvPr>
          <p:cNvSpPr txBox="1"/>
          <p:nvPr/>
        </p:nvSpPr>
        <p:spPr>
          <a:xfrm>
            <a:off x="804672" y="2525387"/>
            <a:ext cx="3657600" cy="206210"/>
          </a:xfrm>
          <a:prstGeom prst="rect">
            <a:avLst/>
          </a:prstGeom>
          <a:noFill/>
        </p:spPr>
        <p:txBody>
          <a:bodyPr wrap="square" lIns="18288" tIns="18288" rIns="18288" bIns="18288" anchor="ctr">
            <a:spAutoFit/>
          </a:bodyPr>
          <a:lstStyle/>
          <a:p>
            <a:pPr algn="l">
              <a:defRPr sz="1100" b="0">
                <a:solidFill>
                  <a:srgbClr val="AAB5C9"/>
                </a:solidFill>
                <a:latin typeface="Aptos"/>
              </a:defRPr>
            </a:pPr>
            <a:r>
              <a:rPr b="1" dirty="0">
                <a:solidFill>
                  <a:schemeClr val="bg2">
                    <a:lumMod val="10000"/>
                  </a:schemeClr>
                </a:solidFill>
                <a:latin typeface="Times New Roman" panose="02020603050405020304" pitchFamily="18" charset="0"/>
                <a:cs typeface="Times New Roman" panose="02020603050405020304" pitchFamily="18" charset="0"/>
              </a:rPr>
              <a:t>% of V3.2 baseline (lower is better)</a:t>
            </a:r>
          </a:p>
        </p:txBody>
      </p:sp>
      <p:sp>
        <p:nvSpPr>
          <p:cNvPr id="8" name="TextBox 9">
            <a:extLst>
              <a:ext uri="{FF2B5EF4-FFF2-40B4-BE49-F238E27FC236}">
                <a16:creationId xmlns:a16="http://schemas.microsoft.com/office/drawing/2014/main" id="{48926BF7-5B38-5EF9-DEE1-4206536FB47F}"/>
              </a:ext>
            </a:extLst>
          </p:cNvPr>
          <p:cNvSpPr txBox="1"/>
          <p:nvPr/>
        </p:nvSpPr>
        <p:spPr>
          <a:xfrm>
            <a:off x="999745" y="2932703"/>
            <a:ext cx="1572768" cy="206210"/>
          </a:xfrm>
          <a:prstGeom prst="rect">
            <a:avLst/>
          </a:prstGeom>
          <a:noFill/>
        </p:spPr>
        <p:txBody>
          <a:bodyPr wrap="square" lIns="18288" tIns="18288" rIns="18288" bIns="18288" anchor="ctr">
            <a:spAutoFit/>
          </a:bodyPr>
          <a:lstStyle/>
          <a:p>
            <a:pPr algn="l">
              <a:defRPr sz="1100" b="1">
                <a:solidFill>
                  <a:srgbClr val="F4F6FA"/>
                </a:solidFill>
                <a:latin typeface="Aptos"/>
              </a:defRPr>
            </a:pPr>
            <a:r>
              <a:rPr dirty="0">
                <a:solidFill>
                  <a:schemeClr val="bg2">
                    <a:lumMod val="10000"/>
                  </a:schemeClr>
                </a:solidFill>
                <a:latin typeface="Times New Roman" panose="02020603050405020304" pitchFamily="18" charset="0"/>
                <a:cs typeface="Times New Roman" panose="02020603050405020304" pitchFamily="18" charset="0"/>
              </a:rPr>
              <a:t>V4-Pro · FLOPs</a:t>
            </a:r>
          </a:p>
        </p:txBody>
      </p:sp>
      <p:sp>
        <p:nvSpPr>
          <p:cNvPr id="9" name="Rounded Rectangle 10">
            <a:extLst>
              <a:ext uri="{FF2B5EF4-FFF2-40B4-BE49-F238E27FC236}">
                <a16:creationId xmlns:a16="http://schemas.microsoft.com/office/drawing/2014/main" id="{5207601A-8B4F-BA91-81D8-2ADB8AA64564}"/>
              </a:ext>
            </a:extLst>
          </p:cNvPr>
          <p:cNvSpPr/>
          <p:nvPr/>
        </p:nvSpPr>
        <p:spPr>
          <a:xfrm>
            <a:off x="2590801" y="2898648"/>
            <a:ext cx="3291840" cy="219456"/>
          </a:xfrm>
          <a:prstGeom prst="roundRect">
            <a:avLst/>
          </a:prstGeom>
          <a:solidFill>
            <a:schemeClr val="bg1">
              <a:lumMod val="85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Rounded Rectangle 11">
            <a:extLst>
              <a:ext uri="{FF2B5EF4-FFF2-40B4-BE49-F238E27FC236}">
                <a16:creationId xmlns:a16="http://schemas.microsoft.com/office/drawing/2014/main" id="{CF8F8B8A-9BB0-F81F-DFF2-86C34EB7D4A6}"/>
              </a:ext>
            </a:extLst>
          </p:cNvPr>
          <p:cNvSpPr/>
          <p:nvPr/>
        </p:nvSpPr>
        <p:spPr>
          <a:xfrm>
            <a:off x="2590801" y="2898648"/>
            <a:ext cx="888796" cy="219456"/>
          </a:xfrm>
          <a:prstGeom prst="roundRect">
            <a:avLst/>
          </a:prstGeom>
          <a:solidFill>
            <a:srgbClr val="60C5FF"/>
          </a:solidFill>
          <a:ln w="12700">
            <a:solidFill>
              <a:srgbClr val="60C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2">
            <a:extLst>
              <a:ext uri="{FF2B5EF4-FFF2-40B4-BE49-F238E27FC236}">
                <a16:creationId xmlns:a16="http://schemas.microsoft.com/office/drawing/2014/main" id="{0041AC68-9225-62C6-7629-87A373789BA0}"/>
              </a:ext>
            </a:extLst>
          </p:cNvPr>
          <p:cNvSpPr txBox="1"/>
          <p:nvPr/>
        </p:nvSpPr>
        <p:spPr>
          <a:xfrm>
            <a:off x="6001513" y="2879288"/>
            <a:ext cx="621792" cy="221599"/>
          </a:xfrm>
          <a:prstGeom prst="rect">
            <a:avLst/>
          </a:prstGeom>
          <a:noFill/>
        </p:spPr>
        <p:txBody>
          <a:bodyPr wrap="square" lIns="18288" tIns="18288" rIns="18288" bIns="18288" anchor="ctr">
            <a:spAutoFit/>
          </a:bodyPr>
          <a:lstStyle/>
          <a:p>
            <a:pPr algn="r">
              <a:defRPr sz="1200" b="1">
                <a:solidFill>
                  <a:srgbClr val="60C5FF"/>
                </a:solidFill>
                <a:latin typeface="Aptos"/>
              </a:defRPr>
            </a:pPr>
            <a:r>
              <a:rPr>
                <a:latin typeface="Times New Roman" panose="02020603050405020304" pitchFamily="18" charset="0"/>
                <a:cs typeface="Times New Roman" panose="02020603050405020304" pitchFamily="18" charset="0"/>
              </a:rPr>
              <a:t>27.0%</a:t>
            </a:r>
          </a:p>
        </p:txBody>
      </p:sp>
      <p:sp>
        <p:nvSpPr>
          <p:cNvPr id="12" name="TextBox 13">
            <a:extLst>
              <a:ext uri="{FF2B5EF4-FFF2-40B4-BE49-F238E27FC236}">
                <a16:creationId xmlns:a16="http://schemas.microsoft.com/office/drawing/2014/main" id="{949495EE-16E7-E1BB-52E2-AE21CBBBF70F}"/>
              </a:ext>
            </a:extLst>
          </p:cNvPr>
          <p:cNvSpPr txBox="1"/>
          <p:nvPr/>
        </p:nvSpPr>
        <p:spPr>
          <a:xfrm>
            <a:off x="1018033" y="3719087"/>
            <a:ext cx="1572768" cy="206210"/>
          </a:xfrm>
          <a:prstGeom prst="rect">
            <a:avLst/>
          </a:prstGeom>
          <a:noFill/>
        </p:spPr>
        <p:txBody>
          <a:bodyPr wrap="square" lIns="18288" tIns="18288" rIns="18288" bIns="18288" anchor="ctr">
            <a:spAutoFit/>
          </a:bodyPr>
          <a:lstStyle/>
          <a:p>
            <a:pPr algn="l">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V4-Pro · KV cache</a:t>
            </a:r>
          </a:p>
        </p:txBody>
      </p:sp>
      <p:sp>
        <p:nvSpPr>
          <p:cNvPr id="13" name="Rounded Rectangle 14">
            <a:extLst>
              <a:ext uri="{FF2B5EF4-FFF2-40B4-BE49-F238E27FC236}">
                <a16:creationId xmlns:a16="http://schemas.microsoft.com/office/drawing/2014/main" id="{DED842C0-0473-A300-483F-5D634E5DC602}"/>
              </a:ext>
            </a:extLst>
          </p:cNvPr>
          <p:cNvSpPr/>
          <p:nvPr/>
        </p:nvSpPr>
        <p:spPr>
          <a:xfrm>
            <a:off x="2590801" y="3721608"/>
            <a:ext cx="3291840" cy="219456"/>
          </a:xfrm>
          <a:prstGeom prst="roundRect">
            <a:avLst/>
          </a:prstGeom>
          <a:solidFill>
            <a:schemeClr val="bg1">
              <a:lumMod val="85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Rounded Rectangle 15">
            <a:extLst>
              <a:ext uri="{FF2B5EF4-FFF2-40B4-BE49-F238E27FC236}">
                <a16:creationId xmlns:a16="http://schemas.microsoft.com/office/drawing/2014/main" id="{AA96E3BB-E0AC-7F73-9616-342AE928A07D}"/>
              </a:ext>
            </a:extLst>
          </p:cNvPr>
          <p:cNvSpPr/>
          <p:nvPr/>
        </p:nvSpPr>
        <p:spPr>
          <a:xfrm>
            <a:off x="2590801" y="3721608"/>
            <a:ext cx="329184" cy="219456"/>
          </a:xfrm>
          <a:prstGeom prst="roundRect">
            <a:avLst/>
          </a:prstGeom>
          <a:solidFill>
            <a:srgbClr val="F8B04C"/>
          </a:solidFill>
          <a:ln w="12700">
            <a:solidFill>
              <a:srgbClr val="F8B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TextBox 16">
            <a:extLst>
              <a:ext uri="{FF2B5EF4-FFF2-40B4-BE49-F238E27FC236}">
                <a16:creationId xmlns:a16="http://schemas.microsoft.com/office/drawing/2014/main" id="{56F1F8BA-CF97-841A-0614-8E34E44F98F9}"/>
              </a:ext>
            </a:extLst>
          </p:cNvPr>
          <p:cNvSpPr txBox="1"/>
          <p:nvPr/>
        </p:nvSpPr>
        <p:spPr>
          <a:xfrm>
            <a:off x="6001513" y="3702248"/>
            <a:ext cx="621792" cy="221599"/>
          </a:xfrm>
          <a:prstGeom prst="rect">
            <a:avLst/>
          </a:prstGeom>
          <a:noFill/>
        </p:spPr>
        <p:txBody>
          <a:bodyPr wrap="square" lIns="18288" tIns="18288" rIns="18288" bIns="18288" anchor="ctr">
            <a:spAutoFit/>
          </a:bodyPr>
          <a:lstStyle/>
          <a:p>
            <a:pPr algn="r">
              <a:defRPr sz="1200" b="1">
                <a:solidFill>
                  <a:srgbClr val="F8B04C"/>
                </a:solidFill>
                <a:latin typeface="Aptos"/>
              </a:defRPr>
            </a:pPr>
            <a:r>
              <a:rPr>
                <a:latin typeface="Times New Roman" panose="02020603050405020304" pitchFamily="18" charset="0"/>
                <a:cs typeface="Times New Roman" panose="02020603050405020304" pitchFamily="18" charset="0"/>
              </a:rPr>
              <a:t>10.0%</a:t>
            </a:r>
          </a:p>
        </p:txBody>
      </p:sp>
      <p:sp>
        <p:nvSpPr>
          <p:cNvPr id="16" name="TextBox 17">
            <a:extLst>
              <a:ext uri="{FF2B5EF4-FFF2-40B4-BE49-F238E27FC236}">
                <a16:creationId xmlns:a16="http://schemas.microsoft.com/office/drawing/2014/main" id="{A74A1730-608D-3D6C-CCD2-B936895F06AF}"/>
              </a:ext>
            </a:extLst>
          </p:cNvPr>
          <p:cNvSpPr txBox="1"/>
          <p:nvPr/>
        </p:nvSpPr>
        <p:spPr>
          <a:xfrm>
            <a:off x="1018033" y="4542047"/>
            <a:ext cx="1572768" cy="206210"/>
          </a:xfrm>
          <a:prstGeom prst="rect">
            <a:avLst/>
          </a:prstGeom>
          <a:noFill/>
        </p:spPr>
        <p:txBody>
          <a:bodyPr wrap="square" lIns="18288" tIns="18288" rIns="18288" bIns="18288" anchor="ctr">
            <a:spAutoFit/>
          </a:bodyPr>
          <a:lstStyle/>
          <a:p>
            <a:pPr algn="l">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V4-Flash · FLOPs</a:t>
            </a:r>
          </a:p>
        </p:txBody>
      </p:sp>
      <p:sp>
        <p:nvSpPr>
          <p:cNvPr id="17" name="Rounded Rectangle 18">
            <a:extLst>
              <a:ext uri="{FF2B5EF4-FFF2-40B4-BE49-F238E27FC236}">
                <a16:creationId xmlns:a16="http://schemas.microsoft.com/office/drawing/2014/main" id="{659882B3-5A2F-EE9D-5476-59AB610143E0}"/>
              </a:ext>
            </a:extLst>
          </p:cNvPr>
          <p:cNvSpPr/>
          <p:nvPr/>
        </p:nvSpPr>
        <p:spPr>
          <a:xfrm>
            <a:off x="2590801" y="4544568"/>
            <a:ext cx="3291840" cy="219456"/>
          </a:xfrm>
          <a:prstGeom prst="roundRect">
            <a:avLst/>
          </a:prstGeom>
          <a:solidFill>
            <a:schemeClr val="bg1">
              <a:lumMod val="85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Rounded Rectangle 19">
            <a:extLst>
              <a:ext uri="{FF2B5EF4-FFF2-40B4-BE49-F238E27FC236}">
                <a16:creationId xmlns:a16="http://schemas.microsoft.com/office/drawing/2014/main" id="{93273DD2-CE06-CCF5-8F9C-0DCCCF464C66}"/>
              </a:ext>
            </a:extLst>
          </p:cNvPr>
          <p:cNvSpPr/>
          <p:nvPr/>
        </p:nvSpPr>
        <p:spPr>
          <a:xfrm>
            <a:off x="2590801" y="4544568"/>
            <a:ext cx="335767" cy="219456"/>
          </a:xfrm>
          <a:prstGeom prst="roundRect">
            <a:avLst/>
          </a:prstGeom>
          <a:solidFill>
            <a:srgbClr val="60C5FF"/>
          </a:solidFill>
          <a:ln w="12700">
            <a:solidFill>
              <a:srgbClr val="60C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20">
            <a:extLst>
              <a:ext uri="{FF2B5EF4-FFF2-40B4-BE49-F238E27FC236}">
                <a16:creationId xmlns:a16="http://schemas.microsoft.com/office/drawing/2014/main" id="{B72FCD4E-96AB-538A-38AB-FF599E82DD0D}"/>
              </a:ext>
            </a:extLst>
          </p:cNvPr>
          <p:cNvSpPr txBox="1"/>
          <p:nvPr/>
        </p:nvSpPr>
        <p:spPr>
          <a:xfrm>
            <a:off x="6001513" y="4525208"/>
            <a:ext cx="621792" cy="221599"/>
          </a:xfrm>
          <a:prstGeom prst="rect">
            <a:avLst/>
          </a:prstGeom>
          <a:noFill/>
        </p:spPr>
        <p:txBody>
          <a:bodyPr wrap="square" lIns="18288" tIns="18288" rIns="18288" bIns="18288" anchor="ctr">
            <a:spAutoFit/>
          </a:bodyPr>
          <a:lstStyle/>
          <a:p>
            <a:pPr algn="r">
              <a:defRPr sz="1200" b="1">
                <a:solidFill>
                  <a:srgbClr val="60C5FF"/>
                </a:solidFill>
                <a:latin typeface="Aptos"/>
              </a:defRPr>
            </a:pPr>
            <a:r>
              <a:rPr>
                <a:latin typeface="Times New Roman" panose="02020603050405020304" pitchFamily="18" charset="0"/>
                <a:cs typeface="Times New Roman" panose="02020603050405020304" pitchFamily="18" charset="0"/>
              </a:rPr>
              <a:t>10.2%</a:t>
            </a:r>
          </a:p>
        </p:txBody>
      </p:sp>
      <p:sp>
        <p:nvSpPr>
          <p:cNvPr id="20" name="TextBox 21">
            <a:extLst>
              <a:ext uri="{FF2B5EF4-FFF2-40B4-BE49-F238E27FC236}">
                <a16:creationId xmlns:a16="http://schemas.microsoft.com/office/drawing/2014/main" id="{BABD8DC5-55F9-5F10-CA2D-76418A585AAD}"/>
              </a:ext>
            </a:extLst>
          </p:cNvPr>
          <p:cNvSpPr txBox="1"/>
          <p:nvPr/>
        </p:nvSpPr>
        <p:spPr>
          <a:xfrm>
            <a:off x="1018033" y="5365007"/>
            <a:ext cx="1572768" cy="206210"/>
          </a:xfrm>
          <a:prstGeom prst="rect">
            <a:avLst/>
          </a:prstGeom>
          <a:noFill/>
        </p:spPr>
        <p:txBody>
          <a:bodyPr wrap="square" lIns="18288" tIns="18288" rIns="18288" bIns="18288" anchor="ctr">
            <a:spAutoFit/>
          </a:bodyPr>
          <a:lstStyle/>
          <a:p>
            <a:pPr algn="l">
              <a:defRPr sz="1100" b="1">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V4-Flash · KV cache</a:t>
            </a:r>
          </a:p>
        </p:txBody>
      </p:sp>
      <p:sp>
        <p:nvSpPr>
          <p:cNvPr id="21" name="Rounded Rectangle 22">
            <a:extLst>
              <a:ext uri="{FF2B5EF4-FFF2-40B4-BE49-F238E27FC236}">
                <a16:creationId xmlns:a16="http://schemas.microsoft.com/office/drawing/2014/main" id="{2AEB0207-0BD3-5FD3-BC6C-CC181FAC39CA}"/>
              </a:ext>
            </a:extLst>
          </p:cNvPr>
          <p:cNvSpPr/>
          <p:nvPr/>
        </p:nvSpPr>
        <p:spPr>
          <a:xfrm>
            <a:off x="2590801" y="5367528"/>
            <a:ext cx="3291840" cy="219456"/>
          </a:xfrm>
          <a:prstGeom prst="roundRect">
            <a:avLst/>
          </a:prstGeom>
          <a:solidFill>
            <a:schemeClr val="bg1">
              <a:lumMod val="85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ounded Rectangle 23">
            <a:extLst>
              <a:ext uri="{FF2B5EF4-FFF2-40B4-BE49-F238E27FC236}">
                <a16:creationId xmlns:a16="http://schemas.microsoft.com/office/drawing/2014/main" id="{C92853EC-F43C-5708-BA18-32A542DC85EA}"/>
              </a:ext>
            </a:extLst>
          </p:cNvPr>
          <p:cNvSpPr/>
          <p:nvPr/>
        </p:nvSpPr>
        <p:spPr>
          <a:xfrm>
            <a:off x="2590801" y="5367528"/>
            <a:ext cx="240304" cy="219456"/>
          </a:xfrm>
          <a:prstGeom prst="roundRect">
            <a:avLst/>
          </a:prstGeom>
          <a:solidFill>
            <a:srgbClr val="F8B04C"/>
          </a:solidFill>
          <a:ln w="12700">
            <a:solidFill>
              <a:srgbClr val="F8B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4">
            <a:extLst>
              <a:ext uri="{FF2B5EF4-FFF2-40B4-BE49-F238E27FC236}">
                <a16:creationId xmlns:a16="http://schemas.microsoft.com/office/drawing/2014/main" id="{132E424E-4BAD-F4A4-1495-8CA7CF290286}"/>
              </a:ext>
            </a:extLst>
          </p:cNvPr>
          <p:cNvSpPr txBox="1"/>
          <p:nvPr/>
        </p:nvSpPr>
        <p:spPr>
          <a:xfrm>
            <a:off x="6001513" y="5348168"/>
            <a:ext cx="621792" cy="221599"/>
          </a:xfrm>
          <a:prstGeom prst="rect">
            <a:avLst/>
          </a:prstGeom>
          <a:noFill/>
        </p:spPr>
        <p:txBody>
          <a:bodyPr wrap="square" lIns="18288" tIns="18288" rIns="18288" bIns="18288" anchor="ctr">
            <a:spAutoFit/>
          </a:bodyPr>
          <a:lstStyle/>
          <a:p>
            <a:pPr algn="r">
              <a:defRPr sz="1200" b="1">
                <a:solidFill>
                  <a:srgbClr val="F8B04C"/>
                </a:solidFill>
                <a:latin typeface="Aptos"/>
              </a:defRPr>
            </a:pPr>
            <a:r>
              <a:rPr>
                <a:latin typeface="Times New Roman" panose="02020603050405020304" pitchFamily="18" charset="0"/>
                <a:cs typeface="Times New Roman" panose="02020603050405020304" pitchFamily="18" charset="0"/>
              </a:rPr>
              <a:t>7.3%</a:t>
            </a:r>
          </a:p>
        </p:txBody>
      </p:sp>
      <p:sp>
        <p:nvSpPr>
          <p:cNvPr id="24" name="TextBox 25">
            <a:extLst>
              <a:ext uri="{FF2B5EF4-FFF2-40B4-BE49-F238E27FC236}">
                <a16:creationId xmlns:a16="http://schemas.microsoft.com/office/drawing/2014/main" id="{E98419C7-EF44-39C1-4EA0-88AEAF77E872}"/>
              </a:ext>
            </a:extLst>
          </p:cNvPr>
          <p:cNvSpPr txBox="1"/>
          <p:nvPr/>
        </p:nvSpPr>
        <p:spPr>
          <a:xfrm>
            <a:off x="3902965" y="3165768"/>
            <a:ext cx="1417320" cy="183127"/>
          </a:xfrm>
          <a:prstGeom prst="rect">
            <a:avLst/>
          </a:prstGeom>
          <a:noFill/>
        </p:spPr>
        <p:txBody>
          <a:bodyPr wrap="square" lIns="18288" tIns="18288" rIns="18288" bIns="18288" anchor="ctr">
            <a:spAutoFit/>
          </a:bodyPr>
          <a:lstStyle/>
          <a:p>
            <a:pPr algn="l">
              <a:defRPr sz="950" b="0">
                <a:solidFill>
                  <a:srgbClr val="60C5FF"/>
                </a:solidFill>
                <a:latin typeface="Aptos"/>
              </a:defRPr>
            </a:pPr>
            <a:r>
              <a:rPr dirty="0">
                <a:latin typeface="Times New Roman" panose="02020603050405020304" pitchFamily="18" charset="0"/>
                <a:cs typeface="Times New Roman" panose="02020603050405020304" pitchFamily="18" charset="0"/>
              </a:rPr>
              <a:t>≈ 3.7× lower</a:t>
            </a:r>
          </a:p>
        </p:txBody>
      </p:sp>
      <p:sp>
        <p:nvSpPr>
          <p:cNvPr id="25" name="TextBox 26">
            <a:extLst>
              <a:ext uri="{FF2B5EF4-FFF2-40B4-BE49-F238E27FC236}">
                <a16:creationId xmlns:a16="http://schemas.microsoft.com/office/drawing/2014/main" id="{B1ACAA88-701D-8BAF-3ED6-21B50EBBCE28}"/>
              </a:ext>
            </a:extLst>
          </p:cNvPr>
          <p:cNvSpPr txBox="1"/>
          <p:nvPr/>
        </p:nvSpPr>
        <p:spPr>
          <a:xfrm>
            <a:off x="3902965" y="3959228"/>
            <a:ext cx="1417320" cy="183127"/>
          </a:xfrm>
          <a:prstGeom prst="rect">
            <a:avLst/>
          </a:prstGeom>
          <a:noFill/>
        </p:spPr>
        <p:txBody>
          <a:bodyPr wrap="square" lIns="18288" tIns="18288" rIns="18288" bIns="18288" anchor="ctr">
            <a:spAutoFit/>
          </a:bodyPr>
          <a:lstStyle/>
          <a:p>
            <a:pPr algn="l">
              <a:defRPr sz="950" b="0">
                <a:solidFill>
                  <a:srgbClr val="F8B04C"/>
                </a:solidFill>
                <a:latin typeface="Aptos"/>
              </a:defRPr>
            </a:pPr>
            <a:r>
              <a:rPr dirty="0">
                <a:latin typeface="Times New Roman" panose="02020603050405020304" pitchFamily="18" charset="0"/>
                <a:cs typeface="Times New Roman" panose="02020603050405020304" pitchFamily="18" charset="0"/>
              </a:rPr>
              <a:t>≈ 9.5× smaller</a:t>
            </a:r>
          </a:p>
        </p:txBody>
      </p:sp>
      <p:sp>
        <p:nvSpPr>
          <p:cNvPr id="26" name="TextBox 27">
            <a:extLst>
              <a:ext uri="{FF2B5EF4-FFF2-40B4-BE49-F238E27FC236}">
                <a16:creationId xmlns:a16="http://schemas.microsoft.com/office/drawing/2014/main" id="{3C3399ED-92E1-098B-D7E0-75F9F2A3373E}"/>
              </a:ext>
            </a:extLst>
          </p:cNvPr>
          <p:cNvSpPr txBox="1"/>
          <p:nvPr/>
        </p:nvSpPr>
        <p:spPr>
          <a:xfrm>
            <a:off x="3902965" y="4773044"/>
            <a:ext cx="1417320" cy="183127"/>
          </a:xfrm>
          <a:prstGeom prst="rect">
            <a:avLst/>
          </a:prstGeom>
          <a:noFill/>
        </p:spPr>
        <p:txBody>
          <a:bodyPr wrap="square" lIns="18288" tIns="18288" rIns="18288" bIns="18288" anchor="ctr">
            <a:spAutoFit/>
          </a:bodyPr>
          <a:lstStyle/>
          <a:p>
            <a:pPr algn="l">
              <a:defRPr sz="950" b="0">
                <a:solidFill>
                  <a:srgbClr val="60C5FF"/>
                </a:solidFill>
                <a:latin typeface="Aptos"/>
              </a:defRPr>
            </a:pPr>
            <a:r>
              <a:rPr>
                <a:latin typeface="Times New Roman" panose="02020603050405020304" pitchFamily="18" charset="0"/>
                <a:cs typeface="Times New Roman" panose="02020603050405020304" pitchFamily="18" charset="0"/>
              </a:rPr>
              <a:t>≈ 9.8× lower</a:t>
            </a:r>
          </a:p>
        </p:txBody>
      </p:sp>
      <p:sp>
        <p:nvSpPr>
          <p:cNvPr id="27" name="TextBox 28">
            <a:extLst>
              <a:ext uri="{FF2B5EF4-FFF2-40B4-BE49-F238E27FC236}">
                <a16:creationId xmlns:a16="http://schemas.microsoft.com/office/drawing/2014/main" id="{EE766E62-C7AC-ED14-CA40-398399F855B1}"/>
              </a:ext>
            </a:extLst>
          </p:cNvPr>
          <p:cNvSpPr txBox="1"/>
          <p:nvPr/>
        </p:nvSpPr>
        <p:spPr>
          <a:xfrm>
            <a:off x="3902965" y="5614292"/>
            <a:ext cx="1417320" cy="183127"/>
          </a:xfrm>
          <a:prstGeom prst="rect">
            <a:avLst/>
          </a:prstGeom>
          <a:noFill/>
        </p:spPr>
        <p:txBody>
          <a:bodyPr wrap="square" lIns="18288" tIns="18288" rIns="18288" bIns="18288" anchor="ctr">
            <a:spAutoFit/>
          </a:bodyPr>
          <a:lstStyle/>
          <a:p>
            <a:pPr algn="l">
              <a:defRPr sz="950" b="0">
                <a:solidFill>
                  <a:srgbClr val="F8B04C"/>
                </a:solidFill>
                <a:latin typeface="Aptos"/>
              </a:defRPr>
            </a:pPr>
            <a:r>
              <a:rPr>
                <a:latin typeface="Times New Roman" panose="02020603050405020304" pitchFamily="18" charset="0"/>
                <a:cs typeface="Times New Roman" panose="02020603050405020304" pitchFamily="18" charset="0"/>
              </a:rPr>
              <a:t>≈ 13.7× smaller</a:t>
            </a:r>
          </a:p>
        </p:txBody>
      </p:sp>
      <p:sp>
        <p:nvSpPr>
          <p:cNvPr id="28" name="Rounded Rectangle 29">
            <a:extLst>
              <a:ext uri="{FF2B5EF4-FFF2-40B4-BE49-F238E27FC236}">
                <a16:creationId xmlns:a16="http://schemas.microsoft.com/office/drawing/2014/main" id="{1B021D1B-3B75-E94A-5F37-5BE3620B2947}"/>
              </a:ext>
            </a:extLst>
          </p:cNvPr>
          <p:cNvSpPr/>
          <p:nvPr/>
        </p:nvSpPr>
        <p:spPr>
          <a:xfrm>
            <a:off x="7424927" y="1920240"/>
            <a:ext cx="4206240" cy="4160520"/>
          </a:xfrm>
          <a:prstGeom prst="roundRect">
            <a:avLst/>
          </a:prstGeom>
          <a:solidFill>
            <a:schemeClr val="accent3">
              <a:lumMod val="20000"/>
              <a:lumOff val="80000"/>
            </a:schemeClr>
          </a:solidFill>
          <a:ln w="12700">
            <a:solidFill>
              <a:srgbClr val="3240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Rounded Rectangle 30">
            <a:extLst>
              <a:ext uri="{FF2B5EF4-FFF2-40B4-BE49-F238E27FC236}">
                <a16:creationId xmlns:a16="http://schemas.microsoft.com/office/drawing/2014/main" id="{B1652C06-1DB6-0B7F-D637-CED0D8EC66D5}"/>
              </a:ext>
            </a:extLst>
          </p:cNvPr>
          <p:cNvSpPr/>
          <p:nvPr/>
        </p:nvSpPr>
        <p:spPr>
          <a:xfrm>
            <a:off x="7662672" y="2176272"/>
            <a:ext cx="2039110" cy="310896"/>
          </a:xfrm>
          <a:prstGeom prst="roundRect">
            <a:avLst/>
          </a:prstGeom>
          <a:solidFill>
            <a:srgbClr val="F8B04C"/>
          </a:solidFill>
          <a:ln w="12700">
            <a:solidFill>
              <a:srgbClr val="F8B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31">
            <a:extLst>
              <a:ext uri="{FF2B5EF4-FFF2-40B4-BE49-F238E27FC236}">
                <a16:creationId xmlns:a16="http://schemas.microsoft.com/office/drawing/2014/main" id="{3566B869-4245-4591-4F17-AC96B8DA01C9}"/>
              </a:ext>
            </a:extLst>
          </p:cNvPr>
          <p:cNvSpPr txBox="1"/>
          <p:nvPr/>
        </p:nvSpPr>
        <p:spPr>
          <a:xfrm>
            <a:off x="7662671" y="2228615"/>
            <a:ext cx="2039111" cy="206210"/>
          </a:xfrm>
          <a:prstGeom prst="rect">
            <a:avLst/>
          </a:prstGeom>
          <a:noFill/>
        </p:spPr>
        <p:txBody>
          <a:bodyPr wrap="square" lIns="18288" tIns="18288" rIns="18288" bIns="18288" anchor="ctr">
            <a:spAutoFit/>
          </a:bodyPr>
          <a:lstStyle/>
          <a:p>
            <a:pPr algn="ctr">
              <a:defRPr sz="1100" b="1">
                <a:solidFill>
                  <a:srgbClr val="090E1D"/>
                </a:solidFill>
                <a:latin typeface="Aptos"/>
              </a:defRPr>
            </a:pPr>
            <a:r>
              <a:rPr>
                <a:latin typeface="Times New Roman" panose="02020603050405020304" pitchFamily="18" charset="0"/>
                <a:cs typeface="Times New Roman" panose="02020603050405020304" pitchFamily="18" charset="0"/>
              </a:rPr>
              <a:t>WHY THE CACHE SHRINKS</a:t>
            </a:r>
          </a:p>
        </p:txBody>
      </p:sp>
      <p:sp>
        <p:nvSpPr>
          <p:cNvPr id="31" name="TextBox 32">
            <a:extLst>
              <a:ext uri="{FF2B5EF4-FFF2-40B4-BE49-F238E27FC236}">
                <a16:creationId xmlns:a16="http://schemas.microsoft.com/office/drawing/2014/main" id="{6D0EC0A1-9B92-10B3-64EB-C18F3FD42EA4}"/>
              </a:ext>
            </a:extLst>
          </p:cNvPr>
          <p:cNvSpPr txBox="1"/>
          <p:nvPr/>
        </p:nvSpPr>
        <p:spPr>
          <a:xfrm>
            <a:off x="7662672" y="2923291"/>
            <a:ext cx="164592" cy="261610"/>
          </a:xfrm>
          <a:prstGeom prst="rect">
            <a:avLst/>
          </a:prstGeom>
          <a:noFill/>
        </p:spPr>
        <p:txBody>
          <a:bodyPr wrap="square" lIns="18288" tIns="18288" rIns="18288" bIns="18288" anchor="ctr">
            <a:spAutoFit/>
          </a:bodyPr>
          <a:lstStyle/>
          <a:p>
            <a:pPr algn="l">
              <a:defRPr sz="1460" b="1">
                <a:solidFill>
                  <a:srgbClr val="9178FF"/>
                </a:solidFill>
                <a:latin typeface="Aptos"/>
              </a:defRPr>
            </a:pPr>
            <a:r>
              <a:rPr>
                <a:latin typeface="Times New Roman" panose="02020603050405020304" pitchFamily="18" charset="0"/>
                <a:cs typeface="Times New Roman" panose="02020603050405020304" pitchFamily="18" charset="0"/>
              </a:rPr>
              <a:t>•</a:t>
            </a:r>
          </a:p>
        </p:txBody>
      </p:sp>
      <p:sp>
        <p:nvSpPr>
          <p:cNvPr id="32" name="TextBox 33">
            <a:extLst>
              <a:ext uri="{FF2B5EF4-FFF2-40B4-BE49-F238E27FC236}">
                <a16:creationId xmlns:a16="http://schemas.microsoft.com/office/drawing/2014/main" id="{1CB37417-7ABA-D9CC-FEDC-8B71EBC2610C}"/>
              </a:ext>
            </a:extLst>
          </p:cNvPr>
          <p:cNvSpPr txBox="1"/>
          <p:nvPr/>
        </p:nvSpPr>
        <p:spPr>
          <a:xfrm>
            <a:off x="7863840" y="2744780"/>
            <a:ext cx="3328415" cy="618631"/>
          </a:xfrm>
          <a:prstGeom prst="rect">
            <a:avLst/>
          </a:prstGeom>
          <a:noFill/>
        </p:spPr>
        <p:txBody>
          <a:bodyPr wrap="square" lIns="18288" tIns="18288" rIns="18288" bIns="18288" anchor="ctr">
            <a:spAutoFit/>
          </a:bodyPr>
          <a:lstStyle/>
          <a:p>
            <a:pPr algn="l">
              <a:defRPr sz="1260"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MLA already stores a compact latent state. V4 additionally reduces the number of stored KV entries with m = 4 / 128.</a:t>
            </a:r>
          </a:p>
        </p:txBody>
      </p:sp>
      <p:sp>
        <p:nvSpPr>
          <p:cNvPr id="33" name="TextBox 34">
            <a:extLst>
              <a:ext uri="{FF2B5EF4-FFF2-40B4-BE49-F238E27FC236}">
                <a16:creationId xmlns:a16="http://schemas.microsoft.com/office/drawing/2014/main" id="{94F24B1E-DE8D-05EB-3BA8-2ACB90C92A60}"/>
              </a:ext>
            </a:extLst>
          </p:cNvPr>
          <p:cNvSpPr txBox="1"/>
          <p:nvPr/>
        </p:nvSpPr>
        <p:spPr>
          <a:xfrm>
            <a:off x="7662672" y="3846835"/>
            <a:ext cx="164592" cy="261610"/>
          </a:xfrm>
          <a:prstGeom prst="rect">
            <a:avLst/>
          </a:prstGeom>
          <a:noFill/>
        </p:spPr>
        <p:txBody>
          <a:bodyPr wrap="square" lIns="18288" tIns="18288" rIns="18288" bIns="18288" anchor="ctr">
            <a:spAutoFit/>
          </a:bodyPr>
          <a:lstStyle/>
          <a:p>
            <a:pPr algn="l">
              <a:defRPr sz="1460" b="1">
                <a:solidFill>
                  <a:srgbClr val="60C5FF"/>
                </a:solidFill>
                <a:latin typeface="Aptos"/>
              </a:defRPr>
            </a:pPr>
            <a:r>
              <a:rPr>
                <a:latin typeface="Times New Roman" panose="02020603050405020304" pitchFamily="18" charset="0"/>
                <a:cs typeface="Times New Roman" panose="02020603050405020304" pitchFamily="18" charset="0"/>
              </a:rPr>
              <a:t>•</a:t>
            </a:r>
          </a:p>
        </p:txBody>
      </p:sp>
      <p:sp>
        <p:nvSpPr>
          <p:cNvPr id="34" name="TextBox 35">
            <a:extLst>
              <a:ext uri="{FF2B5EF4-FFF2-40B4-BE49-F238E27FC236}">
                <a16:creationId xmlns:a16="http://schemas.microsoft.com/office/drawing/2014/main" id="{42C9AE35-061C-CE08-6884-BB8C7ECEBF1C}"/>
              </a:ext>
            </a:extLst>
          </p:cNvPr>
          <p:cNvSpPr txBox="1"/>
          <p:nvPr/>
        </p:nvSpPr>
        <p:spPr>
          <a:xfrm>
            <a:off x="7863840" y="3668324"/>
            <a:ext cx="3328415" cy="618631"/>
          </a:xfrm>
          <a:prstGeom prst="rect">
            <a:avLst/>
          </a:prstGeom>
          <a:noFill/>
        </p:spPr>
        <p:txBody>
          <a:bodyPr wrap="square" lIns="18288" tIns="18288" rIns="18288" bIns="18288" anchor="ctr">
            <a:spAutoFit/>
          </a:bodyPr>
          <a:lstStyle/>
          <a:p>
            <a:pPr algn="l">
              <a:defRPr sz="1260"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CSA selects only top-k compressed entries for core attention; HCA uses dense attention on an extremely short compressed sequence.</a:t>
            </a:r>
          </a:p>
        </p:txBody>
      </p:sp>
      <p:sp>
        <p:nvSpPr>
          <p:cNvPr id="35" name="TextBox 36">
            <a:extLst>
              <a:ext uri="{FF2B5EF4-FFF2-40B4-BE49-F238E27FC236}">
                <a16:creationId xmlns:a16="http://schemas.microsoft.com/office/drawing/2014/main" id="{8473D077-3468-1E9F-C9DE-61C994FF84B2}"/>
              </a:ext>
            </a:extLst>
          </p:cNvPr>
          <p:cNvSpPr txBox="1"/>
          <p:nvPr/>
        </p:nvSpPr>
        <p:spPr>
          <a:xfrm>
            <a:off x="7662672" y="4788667"/>
            <a:ext cx="164592" cy="261610"/>
          </a:xfrm>
          <a:prstGeom prst="rect">
            <a:avLst/>
          </a:prstGeom>
          <a:noFill/>
        </p:spPr>
        <p:txBody>
          <a:bodyPr wrap="square" lIns="18288" tIns="18288" rIns="18288" bIns="18288" anchor="ctr">
            <a:spAutoFit/>
          </a:bodyPr>
          <a:lstStyle/>
          <a:p>
            <a:pPr algn="l">
              <a:defRPr sz="1460" b="1">
                <a:solidFill>
                  <a:srgbClr val="7DD7A0"/>
                </a:solidFill>
                <a:latin typeface="Aptos"/>
              </a:defRPr>
            </a:pPr>
            <a:r>
              <a:rPr>
                <a:latin typeface="Times New Roman" panose="02020603050405020304" pitchFamily="18" charset="0"/>
                <a:cs typeface="Times New Roman" panose="02020603050405020304" pitchFamily="18" charset="0"/>
              </a:rPr>
              <a:t>•</a:t>
            </a:r>
          </a:p>
        </p:txBody>
      </p:sp>
      <p:sp>
        <p:nvSpPr>
          <p:cNvPr id="36" name="TextBox 37">
            <a:extLst>
              <a:ext uri="{FF2B5EF4-FFF2-40B4-BE49-F238E27FC236}">
                <a16:creationId xmlns:a16="http://schemas.microsoft.com/office/drawing/2014/main" id="{B04B09B2-35CF-2C63-9F27-F7017F9E8799}"/>
              </a:ext>
            </a:extLst>
          </p:cNvPr>
          <p:cNvSpPr txBox="1"/>
          <p:nvPr/>
        </p:nvSpPr>
        <p:spPr>
          <a:xfrm>
            <a:off x="7863840" y="4610156"/>
            <a:ext cx="3328415" cy="618631"/>
          </a:xfrm>
          <a:prstGeom prst="rect">
            <a:avLst/>
          </a:prstGeom>
          <a:noFill/>
        </p:spPr>
        <p:txBody>
          <a:bodyPr wrap="square" lIns="18288" tIns="18288" rIns="18288" bIns="18288" anchor="ctr">
            <a:spAutoFit/>
          </a:bodyPr>
          <a:lstStyle/>
          <a:p>
            <a:pPr algn="l">
              <a:defRPr sz="1260" b="0">
                <a:solidFill>
                  <a:srgbClr val="F4F6FA"/>
                </a:solidFill>
                <a:latin typeface="Aptos"/>
              </a:defRPr>
            </a:pPr>
            <a:r>
              <a:rPr>
                <a:solidFill>
                  <a:schemeClr val="bg2">
                    <a:lumMod val="10000"/>
                  </a:schemeClr>
                </a:solidFill>
                <a:latin typeface="Times New Roman" panose="02020603050405020304" pitchFamily="18" charset="0"/>
                <a:cs typeface="Times New Roman" panose="02020603050405020304" pitchFamily="18" charset="0"/>
              </a:rPr>
              <a:t>The 1M-context claim is therefore an architectural + systems result, not simply a larger position-embedding limit.</a:t>
            </a:r>
          </a:p>
        </p:txBody>
      </p:sp>
      <p:sp>
        <p:nvSpPr>
          <p:cNvPr id="37" name="Rounded Rectangle 38">
            <a:extLst>
              <a:ext uri="{FF2B5EF4-FFF2-40B4-BE49-F238E27FC236}">
                <a16:creationId xmlns:a16="http://schemas.microsoft.com/office/drawing/2014/main" id="{BEBDD4E7-CF9D-E3B1-B4A8-43697805277B}"/>
              </a:ext>
            </a:extLst>
          </p:cNvPr>
          <p:cNvSpPr/>
          <p:nvPr/>
        </p:nvSpPr>
        <p:spPr>
          <a:xfrm>
            <a:off x="7827264" y="5577840"/>
            <a:ext cx="3511296" cy="320040"/>
          </a:xfrm>
          <a:prstGeom prst="roundRect">
            <a:avLst/>
          </a:prstGeom>
          <a:solidFill>
            <a:srgbClr val="2D1E1E"/>
          </a:solidFill>
          <a:ln w="12700">
            <a:solidFill>
              <a:srgbClr val="F3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9">
            <a:extLst>
              <a:ext uri="{FF2B5EF4-FFF2-40B4-BE49-F238E27FC236}">
                <a16:creationId xmlns:a16="http://schemas.microsoft.com/office/drawing/2014/main" id="{0E98D2C6-7EE5-2E62-CAC8-89D55872847E}"/>
              </a:ext>
            </a:extLst>
          </p:cNvPr>
          <p:cNvSpPr txBox="1"/>
          <p:nvPr/>
        </p:nvSpPr>
        <p:spPr>
          <a:xfrm>
            <a:off x="7918704" y="5637877"/>
            <a:ext cx="3328416" cy="190821"/>
          </a:xfrm>
          <a:prstGeom prst="rect">
            <a:avLst/>
          </a:prstGeom>
          <a:noFill/>
        </p:spPr>
        <p:txBody>
          <a:bodyPr wrap="square" lIns="18288" tIns="18288" rIns="18288" bIns="18288" anchor="ctr">
            <a:spAutoFit/>
          </a:bodyPr>
          <a:lstStyle/>
          <a:p>
            <a:pPr algn="ctr">
              <a:defRPr sz="1000" b="1">
                <a:solidFill>
                  <a:srgbClr val="F37575"/>
                </a:solidFill>
                <a:latin typeface="Aptos"/>
              </a:defRPr>
            </a:pPr>
            <a:r>
              <a:rPr>
                <a:latin typeface="Times New Roman" panose="02020603050405020304" pitchFamily="18" charset="0"/>
                <a:cs typeface="Times New Roman" panose="02020603050405020304" pitchFamily="18" charset="0"/>
              </a:rPr>
              <a:t>Comparison baseline in the paper: V3.2</a:t>
            </a:r>
          </a:p>
        </p:txBody>
      </p:sp>
    </p:spTree>
    <p:extLst>
      <p:ext uri="{BB962C8B-B14F-4D97-AF65-F5344CB8AC3E}">
        <p14:creationId xmlns:p14="http://schemas.microsoft.com/office/powerpoint/2010/main" val="4241056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13094-7D94-C2B8-FC1E-8F53209C39F8}"/>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5F26318D-847D-1841-2649-A7C1A5A1138E}"/>
              </a:ext>
            </a:extLst>
          </p:cNvPr>
          <p:cNvSpPr>
            <a:spLocks noGrp="1"/>
          </p:cNvSpPr>
          <p:nvPr>
            <p:ph type="body" sz="quarter" idx="13"/>
          </p:nvPr>
        </p:nvSpPr>
        <p:spPr>
          <a:xfrm>
            <a:off x="1094519" y="579314"/>
            <a:ext cx="5518931" cy="222889"/>
          </a:xfrm>
        </p:spPr>
        <p:txBody>
          <a:bodyPr/>
          <a:lstStyle/>
          <a:p>
            <a:r>
              <a:rPr lang="zh-CN" altLang="zh-CN" sz="1400" dirty="0"/>
              <a:t>mHC: Stable Multi-Stream Residual Connections</a:t>
            </a:r>
          </a:p>
        </p:txBody>
      </p:sp>
      <p:sp>
        <p:nvSpPr>
          <p:cNvPr id="3" name="TextBox 4">
            <a:extLst>
              <a:ext uri="{FF2B5EF4-FFF2-40B4-BE49-F238E27FC236}">
                <a16:creationId xmlns:a16="http://schemas.microsoft.com/office/drawing/2014/main" id="{65215EBD-9959-67BF-A573-EDD301AF991E}"/>
              </a:ext>
            </a:extLst>
          </p:cNvPr>
          <p:cNvSpPr txBox="1"/>
          <p:nvPr/>
        </p:nvSpPr>
        <p:spPr>
          <a:xfrm>
            <a:off x="655320" y="1004830"/>
            <a:ext cx="10881360" cy="252377"/>
          </a:xfrm>
          <a:prstGeom prst="rect">
            <a:avLst/>
          </a:prstGeom>
          <a:noFill/>
        </p:spPr>
        <p:txBody>
          <a:bodyPr wrap="square" lIns="18288" tIns="18288" rIns="18288" bIns="18288" anchor="ctr">
            <a:spAutoFit/>
          </a:bodyPr>
          <a:lstStyle/>
          <a:p>
            <a:pPr>
              <a:defRPr sz="1250" b="0">
                <a:solidFill>
                  <a:srgbClr val="AAB5C9"/>
                </a:solidFill>
                <a:latin typeface="Aptos"/>
              </a:defRPr>
            </a:pPr>
            <a:r>
              <a:rPr lang="zh-CN" altLang="zh-CN" sz="1400" b="1" dirty="0">
                <a:solidFill>
                  <a:schemeClr val="bg2">
                    <a:lumMod val="10000"/>
                  </a:schemeClr>
                </a:solidFill>
                <a:latin typeface="Times New Roman" panose="02020603050405020304" pitchFamily="18" charset="0"/>
                <a:cs typeface="Times New Roman" panose="02020603050405020304" pitchFamily="18" charset="0"/>
              </a:rPr>
              <a:t>Expanding the residual stream while constraining cross-stream mixing</a:t>
            </a:r>
          </a:p>
        </p:txBody>
      </p:sp>
      <p:pic>
        <p:nvPicPr>
          <p:cNvPr id="5" name="图片 4">
            <a:extLst>
              <a:ext uri="{FF2B5EF4-FFF2-40B4-BE49-F238E27FC236}">
                <a16:creationId xmlns:a16="http://schemas.microsoft.com/office/drawing/2014/main" id="{207A6B16-27FC-071F-18DC-F8A29D9FE624}"/>
              </a:ext>
            </a:extLst>
          </p:cNvPr>
          <p:cNvPicPr>
            <a:picLocks noChangeAspect="1"/>
          </p:cNvPicPr>
          <p:nvPr/>
        </p:nvPicPr>
        <p:blipFill>
          <a:blip r:embed="rId2"/>
          <a:srcRect t="8789" b="13808"/>
          <a:stretch>
            <a:fillRect/>
          </a:stretch>
        </p:blipFill>
        <p:spPr>
          <a:xfrm>
            <a:off x="434740" y="1384798"/>
            <a:ext cx="7510598" cy="5308272"/>
          </a:xfrm>
          <a:prstGeom prst="rect">
            <a:avLst/>
          </a:prstGeom>
        </p:spPr>
      </p:pic>
      <p:sp>
        <p:nvSpPr>
          <p:cNvPr id="7" name="文本框 6">
            <a:extLst>
              <a:ext uri="{FF2B5EF4-FFF2-40B4-BE49-F238E27FC236}">
                <a16:creationId xmlns:a16="http://schemas.microsoft.com/office/drawing/2014/main" id="{56CE8319-E770-538F-17CE-3D938284FA32}"/>
              </a:ext>
            </a:extLst>
          </p:cNvPr>
          <p:cNvSpPr txBox="1"/>
          <p:nvPr/>
        </p:nvSpPr>
        <p:spPr>
          <a:xfrm>
            <a:off x="8097818" y="2409064"/>
            <a:ext cx="4256690" cy="923330"/>
          </a:xfrm>
          <a:prstGeom prst="rect">
            <a:avLst/>
          </a:prstGeom>
          <a:noFill/>
        </p:spPr>
        <p:txBody>
          <a:bodyPr wrap="square">
            <a:spAutoFit/>
          </a:bodyPr>
          <a:lstStyle/>
          <a:p>
            <a:pPr algn="ctr"/>
            <a:r>
              <a:rPr lang="zh-CN" altLang="zh-CN" b="1" dirty="0"/>
              <a:t>More residual capacity and richer information flow </a:t>
            </a:r>
            <a:r>
              <a:rPr lang="en-US" altLang="zh-CN" b="1" dirty="0"/>
              <a:t>-</a:t>
            </a:r>
            <a:r>
              <a:rPr lang="zh-CN" altLang="zh-CN" b="1" dirty="0"/>
              <a:t> without sacrificing numerical stability.</a:t>
            </a:r>
            <a:endParaRPr lang="zh-CN" altLang="en-US" b="1" dirty="0"/>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8CD6D8BB-CC8A-D035-6F8B-B210174B0B05}"/>
                  </a:ext>
                </a:extLst>
              </p:cNvPr>
              <p:cNvSpPr txBox="1"/>
              <p:nvPr/>
            </p:nvSpPr>
            <p:spPr>
              <a:xfrm>
                <a:off x="8355722" y="3429000"/>
                <a:ext cx="3740881" cy="1223412"/>
              </a:xfrm>
              <a:prstGeom prst="rect">
                <a:avLst/>
              </a:prstGeom>
              <a:noFill/>
            </p:spPr>
            <p:txBody>
              <a:bodyPr wrap="square" rtlCol="0">
                <a:spAutoFit/>
              </a:bodyPr>
              <a:lstStyle/>
              <a:p>
                <a:pPr marL="171450" lvl="0" indent="-171450">
                  <a:buFont typeface="Wingdings" pitchFamily="2" charset="2"/>
                  <a:buChar char="l"/>
                </a:pPr>
                <a:r>
                  <a:rPr lang="zh-CN" altLang="zh-CN" sz="1050" b="1" dirty="0">
                    <a:latin typeface="Times New Roman" panose="02020603050405020304" pitchFamily="18" charset="0"/>
                    <a:cs typeface="Times New Roman" panose="02020603050405020304" pitchFamily="18" charset="0"/>
                  </a:rPr>
                  <a:t>mHC expands one residual stream into multiple interacting streams.</a:t>
                </a:r>
                <a:r>
                  <a:rPr lang="zh-CN" altLang="zh-CN" sz="1050" dirty="0">
                    <a:latin typeface="Times New Roman" panose="02020603050405020304" pitchFamily="18" charset="0"/>
                    <a:cs typeface="Times New Roman" panose="02020603050405020304" pitchFamily="18" charset="0"/>
                  </a:rPr>
                  <a:t> </a:t>
                </a:r>
                <a:endParaRPr lang="en-US" altLang="zh-CN" sz="1050" dirty="0">
                  <a:latin typeface="Times New Roman" panose="02020603050405020304" pitchFamily="18" charset="0"/>
                  <a:cs typeface="Times New Roman" panose="02020603050405020304" pitchFamily="18" charset="0"/>
                </a:endParaRPr>
              </a:p>
              <a:p>
                <a:pPr lvl="0"/>
                <a:endParaRPr lang="zh-CN" altLang="zh-CN" sz="1050" dirty="0">
                  <a:latin typeface="Times New Roman" panose="02020603050405020304" pitchFamily="18" charset="0"/>
                  <a:cs typeface="Times New Roman" panose="02020603050405020304" pitchFamily="18" charset="0"/>
                </a:endParaRPr>
              </a:p>
              <a:p>
                <a:pPr marL="285750" lvl="0" indent="-285750">
                  <a:buFont typeface="Wingdings" pitchFamily="2" charset="2"/>
                  <a:buChar char="l"/>
                </a:pPr>
                <a14:m>
                  <m:oMath xmlns:m="http://schemas.openxmlformats.org/officeDocument/2006/math">
                    <m:sSub>
                      <m:sSubPr>
                        <m:ctrlPr>
                          <a:rPr lang="zh-CN" altLang="en-US" sz="1050" i="1"/>
                        </m:ctrlPr>
                      </m:sSubPr>
                      <m:e>
                        <m:r>
                          <a:rPr lang="zh-CN" altLang="en-US" sz="1050" i="1"/>
                          <m:t>𝐴</m:t>
                        </m:r>
                      </m:e>
                      <m:sub>
                        <m:r>
                          <a:rPr lang="zh-CN" altLang="en-US" sz="1050" i="1"/>
                          <m:t>𝑙</m:t>
                        </m:r>
                      </m:sub>
                    </m:sSub>
                  </m:oMath>
                </a14:m>
                <a:r>
                  <a:rPr lang="zh-CN" altLang="zh-CN" sz="1050"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en-US" sz="1050" i="1"/>
                        </m:ctrlPr>
                      </m:sSubPr>
                      <m:e>
                        <m:r>
                          <a:rPr lang="zh-CN" altLang="en-US" sz="1050" i="1"/>
                          <m:t>𝐵</m:t>
                        </m:r>
                      </m:e>
                      <m:sub>
                        <m:r>
                          <a:rPr lang="zh-CN" altLang="en-US" sz="1050" i="1"/>
                          <m:t>𝑙</m:t>
                        </m:r>
                      </m:sub>
                    </m:sSub>
                  </m:oMath>
                </a14:m>
                <a:r>
                  <a:rPr lang="zh-CN" altLang="zh-CN" sz="1050" b="1"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zh-CN" altLang="en-US" sz="1050" i="1"/>
                        </m:ctrlPr>
                      </m:sSubPr>
                      <m:e>
                        <m:r>
                          <a:rPr lang="zh-CN" altLang="en-US" sz="1050" i="1"/>
                          <m:t>𝐶</m:t>
                        </m:r>
                      </m:e>
                      <m:sub>
                        <m:r>
                          <a:rPr lang="zh-CN" altLang="en-US" sz="1050" i="1"/>
                          <m:t>𝑙</m:t>
                        </m:r>
                      </m:sub>
                    </m:sSub>
                  </m:oMath>
                </a14:m>
                <a:r>
                  <a:rPr lang="zh-CN" altLang="zh-CN" sz="1050" b="1" dirty="0">
                    <a:latin typeface="Times New Roman" panose="02020603050405020304" pitchFamily="18" charset="0"/>
                    <a:cs typeface="Times New Roman" panose="02020603050405020304" pitchFamily="18" charset="0"/>
                  </a:rPr>
                  <a:t>control input, residual, and output mixing.</a:t>
                </a:r>
                <a:r>
                  <a:rPr lang="zh-CN" altLang="zh-CN" sz="1050" dirty="0">
                    <a:latin typeface="Times New Roman" panose="02020603050405020304" pitchFamily="18" charset="0"/>
                    <a:cs typeface="Times New Roman" panose="02020603050405020304" pitchFamily="18" charset="0"/>
                  </a:rPr>
                  <a:t> </a:t>
                </a:r>
                <a:endParaRPr lang="en-US" altLang="zh-CN" sz="1050" dirty="0">
                  <a:latin typeface="Times New Roman" panose="02020603050405020304" pitchFamily="18" charset="0"/>
                  <a:cs typeface="Times New Roman" panose="02020603050405020304" pitchFamily="18" charset="0"/>
                </a:endParaRPr>
              </a:p>
              <a:p>
                <a:pPr lvl="0"/>
                <a:endParaRPr lang="zh-CN" altLang="zh-CN" sz="1050" dirty="0">
                  <a:latin typeface="Times New Roman" panose="02020603050405020304" pitchFamily="18" charset="0"/>
                  <a:cs typeface="Times New Roman" panose="02020603050405020304" pitchFamily="18" charset="0"/>
                </a:endParaRPr>
              </a:p>
              <a:p>
                <a:pPr marL="171450" lvl="0" indent="-171450">
                  <a:buFont typeface="Wingdings" pitchFamily="2" charset="2"/>
                  <a:buChar char="l"/>
                </a:pPr>
                <a:r>
                  <a:rPr lang="zh-CN" altLang="zh-CN" sz="1050" b="1" dirty="0">
                    <a:latin typeface="Times New Roman" panose="02020603050405020304" pitchFamily="18" charset="0"/>
                    <a:cs typeface="Times New Roman" panose="02020603050405020304" pitchFamily="18" charset="0"/>
                  </a:rPr>
                  <a:t>Constraining </a:t>
                </a:r>
                <a14:m>
                  <m:oMath xmlns:m="http://schemas.openxmlformats.org/officeDocument/2006/math">
                    <m:sSub>
                      <m:sSubPr>
                        <m:ctrlPr>
                          <a:rPr lang="zh-CN" altLang="en-US" sz="1050" i="1"/>
                        </m:ctrlPr>
                      </m:sSubPr>
                      <m:e>
                        <m:r>
                          <a:rPr lang="zh-CN" altLang="en-US" sz="1050" i="1"/>
                          <m:t>𝐵</m:t>
                        </m:r>
                      </m:e>
                      <m:sub>
                        <m:r>
                          <a:rPr lang="zh-CN" altLang="en-US" sz="1050" i="1"/>
                          <m:t>𝑙</m:t>
                        </m:r>
                      </m:sub>
                    </m:sSub>
                  </m:oMath>
                </a14:m>
                <a:r>
                  <a:rPr lang="zh-CN" altLang="zh-CN" sz="1050" b="1" dirty="0">
                    <a:latin typeface="Times New Roman" panose="02020603050405020304" pitchFamily="18" charset="0"/>
                    <a:cs typeface="Times New Roman" panose="02020603050405020304" pitchFamily="18" charset="0"/>
                  </a:rPr>
                  <a:t>to a doubly-stochastic manifold improves stability without removing cross-stream communication.</a:t>
                </a:r>
                <a:endParaRPr lang="zh-CN" altLang="zh-CN" sz="1050" dirty="0">
                  <a:latin typeface="Times New Roman" panose="02020603050405020304" pitchFamily="18" charset="0"/>
                  <a:cs typeface="Times New Roman" panose="02020603050405020304" pitchFamily="18" charset="0"/>
                </a:endParaRPr>
              </a:p>
            </p:txBody>
          </p:sp>
        </mc:Choice>
        <mc:Fallback>
          <p:sp>
            <p:nvSpPr>
              <p:cNvPr id="8" name="文本框 7">
                <a:extLst>
                  <a:ext uri="{FF2B5EF4-FFF2-40B4-BE49-F238E27FC236}">
                    <a16:creationId xmlns:a16="http://schemas.microsoft.com/office/drawing/2014/main" id="{8CD6D8BB-CC8A-D035-6F8B-B210174B0B05}"/>
                  </a:ext>
                </a:extLst>
              </p:cNvPr>
              <p:cNvSpPr txBox="1">
                <a:spLocks noRot="1" noChangeAspect="1" noMove="1" noResize="1" noEditPoints="1" noAdjustHandles="1" noChangeArrowheads="1" noChangeShapeType="1" noTextEdit="1"/>
              </p:cNvSpPr>
              <p:nvPr/>
            </p:nvSpPr>
            <p:spPr>
              <a:xfrm>
                <a:off x="8355722" y="3429000"/>
                <a:ext cx="3740881" cy="1223412"/>
              </a:xfrm>
              <a:prstGeom prst="rect">
                <a:avLst/>
              </a:prstGeom>
              <a:blipFill>
                <a:blip r:embed="rId3"/>
                <a:stretch>
                  <a:fillRect r="-678" b="-20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4717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3AD90-FFE5-BEE5-0097-756485A5D48C}"/>
            </a:ext>
          </a:extLst>
        </p:cNvPr>
        <p:cNvGrpSpPr/>
        <p:nvPr/>
      </p:nvGrpSpPr>
      <p:grpSpPr>
        <a:xfrm>
          <a:off x="0" y="0"/>
          <a:ext cx="0" cy="0"/>
          <a:chOff x="0" y="0"/>
          <a:chExt cx="0" cy="0"/>
        </a:xfrm>
      </p:grpSpPr>
      <p:sp>
        <p:nvSpPr>
          <p:cNvPr id="2" name="Текст 1">
            <a:extLst>
              <a:ext uri="{FF2B5EF4-FFF2-40B4-BE49-F238E27FC236}">
                <a16:creationId xmlns:a16="http://schemas.microsoft.com/office/drawing/2014/main" id="{7FD29252-6263-F253-EAAF-85535DE51FDA}"/>
              </a:ext>
            </a:extLst>
          </p:cNvPr>
          <p:cNvSpPr>
            <a:spLocks noGrp="1"/>
          </p:cNvSpPr>
          <p:nvPr>
            <p:ph type="body" sz="quarter" idx="13"/>
          </p:nvPr>
        </p:nvSpPr>
        <p:spPr>
          <a:xfrm>
            <a:off x="1094520" y="579314"/>
            <a:ext cx="3686496" cy="222889"/>
          </a:xfrm>
        </p:spPr>
        <p:txBody>
          <a:bodyPr/>
          <a:lstStyle/>
          <a:p>
            <a:r>
              <a:rPr lang="zh-CN" altLang="zh-CN" sz="1400" dirty="0"/>
              <a:t>Muon: A New Optimizer for Large-Scale Training</a:t>
            </a:r>
            <a:endParaRPr lang="en" altLang="zh-CN" sz="1400" dirty="0"/>
          </a:p>
        </p:txBody>
      </p:sp>
      <p:pic>
        <p:nvPicPr>
          <p:cNvPr id="4" name="图片 3">
            <a:extLst>
              <a:ext uri="{FF2B5EF4-FFF2-40B4-BE49-F238E27FC236}">
                <a16:creationId xmlns:a16="http://schemas.microsoft.com/office/drawing/2014/main" id="{163ACB6C-692A-6C3E-CE1B-8585A1A655DA}"/>
              </a:ext>
            </a:extLst>
          </p:cNvPr>
          <p:cNvPicPr>
            <a:picLocks noChangeAspect="1"/>
          </p:cNvPicPr>
          <p:nvPr/>
        </p:nvPicPr>
        <p:blipFill>
          <a:blip r:embed="rId2"/>
          <a:srcRect t="18840" b="5442"/>
          <a:stretch>
            <a:fillRect/>
          </a:stretch>
        </p:blipFill>
        <p:spPr>
          <a:xfrm>
            <a:off x="497596" y="1485588"/>
            <a:ext cx="4880344" cy="2463539"/>
          </a:xfrm>
          <a:prstGeom prst="rect">
            <a:avLst/>
          </a:prstGeom>
        </p:spPr>
      </p:pic>
      <p:pic>
        <p:nvPicPr>
          <p:cNvPr id="6" name="图片 5">
            <a:extLst>
              <a:ext uri="{FF2B5EF4-FFF2-40B4-BE49-F238E27FC236}">
                <a16:creationId xmlns:a16="http://schemas.microsoft.com/office/drawing/2014/main" id="{D4FB3711-6D41-0853-4120-4670C82F0A9D}"/>
              </a:ext>
            </a:extLst>
          </p:cNvPr>
          <p:cNvPicPr>
            <a:picLocks noChangeAspect="1"/>
          </p:cNvPicPr>
          <p:nvPr/>
        </p:nvPicPr>
        <p:blipFill>
          <a:blip r:embed="rId3"/>
          <a:stretch>
            <a:fillRect/>
          </a:stretch>
        </p:blipFill>
        <p:spPr>
          <a:xfrm>
            <a:off x="2321080" y="4078849"/>
            <a:ext cx="7772400" cy="2779151"/>
          </a:xfrm>
          <a:prstGeom prst="rect">
            <a:avLst/>
          </a:prstGeom>
        </p:spPr>
      </p:pic>
      <p:sp>
        <p:nvSpPr>
          <p:cNvPr id="8" name="文本框 7">
            <a:extLst>
              <a:ext uri="{FF2B5EF4-FFF2-40B4-BE49-F238E27FC236}">
                <a16:creationId xmlns:a16="http://schemas.microsoft.com/office/drawing/2014/main" id="{45C4B966-EDDD-997D-A62F-30B02C3E9F37}"/>
              </a:ext>
            </a:extLst>
          </p:cNvPr>
          <p:cNvSpPr txBox="1"/>
          <p:nvPr/>
        </p:nvSpPr>
        <p:spPr>
          <a:xfrm>
            <a:off x="497596" y="1048090"/>
            <a:ext cx="6097772" cy="307777"/>
          </a:xfrm>
          <a:prstGeom prst="rect">
            <a:avLst/>
          </a:prstGeom>
          <a:noFill/>
        </p:spPr>
        <p:txBody>
          <a:bodyPr wrap="square">
            <a:spAutoFit/>
          </a:bodyPr>
          <a:lstStyle/>
          <a:p>
            <a:pPr>
              <a:defRPr sz="1250" b="0">
                <a:solidFill>
                  <a:srgbClr val="AAB5C9"/>
                </a:solidFill>
                <a:latin typeface="Aptos"/>
              </a:defRPr>
            </a:pPr>
            <a:r>
              <a:rPr lang="zh-CN" altLang="zh-CN" sz="1400" b="1" dirty="0">
                <a:solidFill>
                  <a:schemeClr val="bg2">
                    <a:lumMod val="10000"/>
                  </a:schemeClr>
                </a:solidFill>
                <a:latin typeface="Times New Roman" panose="02020603050405020304" pitchFamily="18" charset="0"/>
                <a:cs typeface="Times New Roman" panose="02020603050405020304" pitchFamily="18" charset="0"/>
              </a:rPr>
              <a:t>From AdamW-style adaptive updates to matrix-structured optimization</a:t>
            </a:r>
            <a:r>
              <a:rPr lang="en-US" altLang="zh-CN" sz="1400" b="1" dirty="0">
                <a:solidFill>
                  <a:schemeClr val="bg2">
                    <a:lumMod val="10000"/>
                  </a:schemeClr>
                </a:solidFill>
                <a:latin typeface="Times New Roman" panose="02020603050405020304" pitchFamily="18" charset="0"/>
                <a:cs typeface="Times New Roman" panose="02020603050405020304" pitchFamily="18" charset="0"/>
              </a:rPr>
              <a:t>.</a:t>
            </a:r>
            <a:endParaRPr lang="zh-CN" altLang="en-US" sz="14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BB50A1F1-CF2E-B0B3-8CA5-67F712D7263F}"/>
              </a:ext>
            </a:extLst>
          </p:cNvPr>
          <p:cNvSpPr txBox="1"/>
          <p:nvPr/>
        </p:nvSpPr>
        <p:spPr>
          <a:xfrm>
            <a:off x="5515640" y="1485588"/>
            <a:ext cx="6097772" cy="646331"/>
          </a:xfrm>
          <a:prstGeom prst="rect">
            <a:avLst/>
          </a:prstGeom>
          <a:noFill/>
        </p:spPr>
        <p:txBody>
          <a:bodyPr wrap="square">
            <a:spAutoFit/>
          </a:bodyPr>
          <a:lstStyle/>
          <a:p>
            <a:pPr algn="ctr"/>
            <a:r>
              <a:rPr lang="zh-CN" altLang="zh-CN" dirty="0"/>
              <a:t>DeepSeek-V4 uses </a:t>
            </a:r>
            <a:r>
              <a:rPr lang="zh-CN" altLang="zh-CN" b="1" dirty="0"/>
              <a:t>Muon for most matrix parameters</a:t>
            </a:r>
            <a:r>
              <a:rPr lang="zh-CN" altLang="zh-CN" dirty="0"/>
              <a:t>, while retaining AdamW for selected parameter groups.</a:t>
            </a:r>
            <a:endParaRPr lang="zh-CN" altLang="en-US" dirty="0"/>
          </a:p>
        </p:txBody>
      </p:sp>
      <p:sp>
        <p:nvSpPr>
          <p:cNvPr id="12" name="文本框 11">
            <a:extLst>
              <a:ext uri="{FF2B5EF4-FFF2-40B4-BE49-F238E27FC236}">
                <a16:creationId xmlns:a16="http://schemas.microsoft.com/office/drawing/2014/main" id="{CEC1AA81-B29E-BECD-3B89-660BC4E904D0}"/>
              </a:ext>
            </a:extLst>
          </p:cNvPr>
          <p:cNvSpPr txBox="1"/>
          <p:nvPr/>
        </p:nvSpPr>
        <p:spPr>
          <a:xfrm>
            <a:off x="5515640" y="2228221"/>
            <a:ext cx="6097772" cy="1754326"/>
          </a:xfrm>
          <a:prstGeom prst="rect">
            <a:avLst/>
          </a:prstGeom>
          <a:noFill/>
        </p:spPr>
        <p:txBody>
          <a:bodyPr wrap="square">
            <a:spAutoFit/>
          </a:bodyPr>
          <a:lstStyle/>
          <a:p>
            <a:pPr marL="342900" lvl="0" indent="-342900">
              <a:buFont typeface="Arial" panose="020B0604020202020204" pitchFamily="34" charset="0"/>
              <a:buChar char="•"/>
            </a:pPr>
            <a:r>
              <a:rPr lang="zh-CN" altLang="zh-CN" b="1" dirty="0"/>
              <a:t>Momentum:</a:t>
            </a:r>
            <a:r>
              <a:rPr lang="zh-CN" altLang="zh-CN" dirty="0"/>
              <a:t> accumulates the gradient signal.</a:t>
            </a:r>
          </a:p>
          <a:p>
            <a:pPr marL="342900" lvl="0" indent="-342900">
              <a:buFont typeface="Arial" panose="020B0604020202020204" pitchFamily="34" charset="0"/>
              <a:buChar char="•"/>
            </a:pPr>
            <a:r>
              <a:rPr lang="zh-CN" altLang="zh-CN" b="1" dirty="0"/>
              <a:t>Orthogonalization:</a:t>
            </a:r>
            <a:r>
              <a:rPr lang="zh-CN" altLang="zh-CN" dirty="0"/>
              <a:t> Newton–Schulz approximately removes uneven singular-value scaling while preserving the matrix direction.</a:t>
            </a:r>
          </a:p>
          <a:p>
            <a:pPr marL="342900" lvl="0" indent="-342900">
              <a:buFont typeface="Arial" panose="020B0604020202020204" pitchFamily="34" charset="0"/>
              <a:buChar char="•"/>
            </a:pPr>
            <a:r>
              <a:rPr lang="zh-CN" altLang="zh-CN" b="1" dirty="0"/>
              <a:t>Update:</a:t>
            </a:r>
            <a:r>
              <a:rPr lang="zh-CN" altLang="zh-CN" dirty="0"/>
              <a:t> the resulting structured matrix direction is used to update the weights.</a:t>
            </a:r>
          </a:p>
        </p:txBody>
      </p:sp>
    </p:spTree>
    <p:extLst>
      <p:ext uri="{BB962C8B-B14F-4D97-AF65-F5344CB8AC3E}">
        <p14:creationId xmlns:p14="http://schemas.microsoft.com/office/powerpoint/2010/main" val="652572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7425266"/>
      </p:ext>
    </p:extLst>
  </p:cSld>
  <p:clrMapOvr>
    <a:masterClrMapping/>
  </p:clrMapOvr>
</p:sld>
</file>

<file path=ppt/theme/theme1.xml><?xml version="1.0" encoding="utf-8"?>
<a:theme xmlns:a="http://schemas.openxmlformats.org/drawingml/2006/main"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7" ma:contentTypeDescription="Создание документа." ma:contentTypeScope="" ma:versionID="dfaf5b6d6edbb132ce028c4784dccd61">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23acca269a8e321242e3cfe4e185e683"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Теги изображений" ma:readOnly="false" ma:fieldId="{5cf76f15-5ced-4ddc-b409-7134ff3c332f}" ma:taxonomyMulti="true" ma:sspId="0f49e2ad-b3c7-4051-b79b-59f1dbf380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element name="TaxCatchAll" ma:index="23" nillable="true" ma:displayName="Taxonomy Catch All Column" ma:hidden="true" ma:list="{1ca06070-6ad6-44db-a3bf-0d2f4389ef2b}" ma:internalName="TaxCatchAll" ma:showField="CatchAllData" ma:web="e96afe77-3acb-4328-97fc-408e1bde3e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96afe77-3acb-4328-97fc-408e1bde3ecd" xsi:nil="true"/>
    <lcf76f155ced4ddcb4097134ff3c332f xmlns="9875bd71-cde8-496c-a136-433f55d5e6d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2.xml><?xml version="1.0" encoding="utf-8"?>
<ds:datastoreItem xmlns:ds="http://schemas.openxmlformats.org/officeDocument/2006/customXml" ds:itemID="{DFF2F2F6-389B-47A9-8F23-E3F76C5FA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33DAF31-D8A6-49A0-9A5D-8B2EA5B1C511}">
  <ds:schemaRefs>
    <ds:schemaRef ds:uri="http://purl.org/dc/dcmitype/"/>
    <ds:schemaRef ds:uri="http://www.w3.org/XML/1998/namespace"/>
    <ds:schemaRef ds:uri="e96afe77-3acb-4328-97fc-408e1bde3ecd"/>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terms/"/>
    <ds:schemaRef ds:uri="http://schemas.microsoft.com/office/infopath/2007/PartnerControls"/>
    <ds:schemaRef ds:uri="9875bd71-cde8-496c-a136-433f55d5e6d0"/>
  </ds:schemaRefs>
</ds:datastoreItem>
</file>

<file path=docProps/app.xml><?xml version="1.0" encoding="utf-8"?>
<Properties xmlns="http://schemas.openxmlformats.org/officeDocument/2006/extended-properties" xmlns:vt="http://schemas.openxmlformats.org/officeDocument/2006/docPropsVTypes">
  <TotalTime>729</TotalTime>
  <Words>954</Words>
  <Application>Microsoft Macintosh PowerPoint</Application>
  <PresentationFormat>宽屏</PresentationFormat>
  <Paragraphs>163</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HSE Sans</vt:lpstr>
      <vt:lpstr>Arial</vt:lpstr>
      <vt:lpstr>Calibri</vt:lpstr>
      <vt:lpstr>Cambria Math</vt:lpstr>
      <vt:lpstr>Times New Roman</vt:lpstr>
      <vt:lpstr>Wingdings</vt:lpstr>
      <vt:lpstr>Office Theme</vt:lpstr>
      <vt:lpstr>DeepSeek-V3 to DeepSeek-V4 A Technical and Architectural Comparison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aes4cbm</cp:lastModifiedBy>
  <cp:revision>21</cp:revision>
  <cp:lastPrinted>2021-11-11T13:08:42Z</cp:lastPrinted>
  <dcterms:created xsi:type="dcterms:W3CDTF">2021-11-11T08:52:47Z</dcterms:created>
  <dcterms:modified xsi:type="dcterms:W3CDTF">2026-10-06T06:22:47Z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y fmtid="{D5CDD505-2E9C-101B-9397-08002B2CF9AE}" pid="3" name="MediaServiceImageTags">
    <vt:lpwstr/>
  </property>
</Properties>
</file>
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</p:sldIdLst>
  <p:sldSz cx="6153150" cy="3460750"/>
  <p:notesSz cx="4610100" cy="34607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306214-9A42-4FA8-99B6-3984636217F0}" v="23" dt="2025-09-02T15:20:33.49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0" d="100"/>
          <a:sy n="210" d="100"/>
        </p:scale>
        <p:origin x="738" y="174"/>
      </p:cViewPr>
      <p:guideLst>
        <p:guide orient="horz" pos="2880"/>
        <p:guide pos="28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itry Ilvovsky" userId="f23e1ef0a5520f69" providerId="LiveId" clId="{BA2D3C58-3CA6-435B-99F6-9C4AED2D5997}"/>
    <pc:docChg chg="modSld">
      <pc:chgData name="Dmitry Ilvovsky" userId="f23e1ef0a5520f69" providerId="LiveId" clId="{BA2D3C58-3CA6-435B-99F6-9C4AED2D5997}" dt="2025-09-15T11:41:56.379" v="3" actId="20577"/>
      <pc:docMkLst>
        <pc:docMk/>
      </pc:docMkLst>
      <pc:sldChg chg="modSp mod">
        <pc:chgData name="Dmitry Ilvovsky" userId="f23e1ef0a5520f69" providerId="LiveId" clId="{BA2D3C58-3CA6-435B-99F6-9C4AED2D5997}" dt="2025-09-15T11:41:56.379" v="3" actId="20577"/>
        <pc:sldMkLst>
          <pc:docMk/>
          <pc:sldMk cId="0" sldId="256"/>
        </pc:sldMkLst>
        <pc:spChg chg="mod">
          <ac:chgData name="Dmitry Ilvovsky" userId="f23e1ef0a5520f69" providerId="LiveId" clId="{BA2D3C58-3CA6-435B-99F6-9C4AED2D5997}" dt="2025-09-15T11:41:56.379" v="3" actId="20577"/>
          <ac:spMkLst>
            <pc:docMk/>
            <pc:sldMk cId="0" sldId="256"/>
            <ac:spMk id="32" creationId="{00000000-0000-0000-0000-000000000000}"/>
          </ac:spMkLst>
        </pc:spChg>
      </pc:sldChg>
    </pc:docChg>
  </pc:docChgLst>
  <pc:docChgLst>
    <pc:chgData name="Дмитрий Ильвовский" userId="f23e1ef0a5520f69" providerId="LiveId" clId="{F2A4B7D7-728D-4978-A36C-BC1D8DC370E2}"/>
    <pc:docChg chg="modSld">
      <pc:chgData name="Дмитрий Ильвовский" userId="f23e1ef0a5520f69" providerId="LiveId" clId="{F2A4B7D7-728D-4978-A36C-BC1D8DC370E2}" dt="2022-09-05T09:51:14.925" v="109" actId="14100"/>
      <pc:docMkLst>
        <pc:docMk/>
      </pc:docMkLst>
      <pc:sldChg chg="modSp mod">
        <pc:chgData name="Дмитрий Ильвовский" userId="f23e1ef0a5520f69" providerId="LiveId" clId="{F2A4B7D7-728D-4978-A36C-BC1D8DC370E2}" dt="2022-09-05T09:51:14.925" v="109" actId="14100"/>
        <pc:sldMkLst>
          <pc:docMk/>
          <pc:sldMk cId="0" sldId="262"/>
        </pc:sldMkLst>
      </pc:sldChg>
      <pc:sldChg chg="modSp mod">
        <pc:chgData name="Дмитрий Ильвовский" userId="f23e1ef0a5520f69" providerId="LiveId" clId="{F2A4B7D7-728D-4978-A36C-BC1D8DC370E2}" dt="2022-09-05T08:16:12.510" v="49" actId="20577"/>
        <pc:sldMkLst>
          <pc:docMk/>
          <pc:sldMk cId="0" sldId="264"/>
        </pc:sldMkLst>
      </pc:sldChg>
      <pc:sldChg chg="modSp mod">
        <pc:chgData name="Дмитрий Ильвовский" userId="f23e1ef0a5520f69" providerId="LiveId" clId="{F2A4B7D7-728D-4978-A36C-BC1D8DC370E2}" dt="2022-09-05T08:18:53.616" v="50" actId="14100"/>
        <pc:sldMkLst>
          <pc:docMk/>
          <pc:sldMk cId="0" sldId="278"/>
        </pc:sldMkLst>
      </pc:sldChg>
    </pc:docChg>
  </pc:docChgLst>
  <pc:docChgLst>
    <pc:chgData name="Дмитрий Ильвовский" userId="f23e1ef0a5520f69" providerId="LiveId" clId="{1DFB57BF-0C48-407E-A9E4-6E1D802EA53C}"/>
    <pc:docChg chg="undo custSel delSld modSld">
      <pc:chgData name="Дмитрий Ильвовский" userId="f23e1ef0a5520f69" providerId="LiveId" clId="{1DFB57BF-0C48-407E-A9E4-6E1D802EA53C}" dt="2023-09-11T16:55:56.611" v="177" actId="20577"/>
      <pc:docMkLst>
        <pc:docMk/>
      </pc:docMkLst>
      <pc:sldChg chg="modSp mod">
        <pc:chgData name="Дмитрий Ильвовский" userId="f23e1ef0a5520f69" providerId="LiveId" clId="{1DFB57BF-0C48-407E-A9E4-6E1D802EA53C}" dt="2023-09-11T16:42:09.922" v="4" actId="20577"/>
        <pc:sldMkLst>
          <pc:docMk/>
          <pc:sldMk cId="0" sldId="256"/>
        </pc:sldMkLst>
      </pc:sldChg>
      <pc:sldChg chg="delSp modSp mod">
        <pc:chgData name="Дмитрий Ильвовский" userId="f23e1ef0a5520f69" providerId="LiveId" clId="{1DFB57BF-0C48-407E-A9E4-6E1D802EA53C}" dt="2023-09-11T16:53:20.503" v="137"/>
        <pc:sldMkLst>
          <pc:docMk/>
          <pc:sldMk cId="0" sldId="263"/>
        </pc:sldMkLst>
      </pc:sldChg>
      <pc:sldChg chg="modSp mod">
        <pc:chgData name="Дмитрий Ильвовский" userId="f23e1ef0a5520f69" providerId="LiveId" clId="{1DFB57BF-0C48-407E-A9E4-6E1D802EA53C}" dt="2023-09-11T16:55:56.611" v="177" actId="20577"/>
        <pc:sldMkLst>
          <pc:docMk/>
          <pc:sldMk cId="0" sldId="264"/>
        </pc:sldMkLst>
      </pc:sldChg>
      <pc:sldChg chg="del">
        <pc:chgData name="Дмитрий Ильвовский" userId="f23e1ef0a5520f69" providerId="LiveId" clId="{1DFB57BF-0C48-407E-A9E4-6E1D802EA53C}" dt="2023-09-11T16:53:46.386" v="138" actId="47"/>
        <pc:sldMkLst>
          <pc:docMk/>
          <pc:sldMk cId="0" sldId="266"/>
        </pc:sldMkLst>
      </pc:sldChg>
      <pc:sldChg chg="modSp mod">
        <pc:chgData name="Дмитрий Ильвовский" userId="f23e1ef0a5520f69" providerId="LiveId" clId="{1DFB57BF-0C48-407E-A9E4-6E1D802EA53C}" dt="2023-09-11T16:46:07.136" v="136" actId="6549"/>
        <pc:sldMkLst>
          <pc:docMk/>
          <pc:sldMk cId="0" sldId="267"/>
        </pc:sldMkLst>
      </pc:sldChg>
    </pc:docChg>
  </pc:docChgLst>
  <pc:docChgLst>
    <pc:chgData name="Dmitry Ilvovsky" userId="f23e1ef0a5520f69" providerId="LiveId" clId="{40306214-9A42-4FA8-99B6-3984636217F0}"/>
    <pc:docChg chg="modSld">
      <pc:chgData name="Dmitry Ilvovsky" userId="f23e1ef0a5520f69" providerId="LiveId" clId="{40306214-9A42-4FA8-99B6-3984636217F0}" dt="2025-09-02T15:21:54.162" v="132" actId="20577"/>
      <pc:docMkLst>
        <pc:docMk/>
      </pc:docMkLst>
      <pc:sldChg chg="modSp mod">
        <pc:chgData name="Dmitry Ilvovsky" userId="f23e1ef0a5520f69" providerId="LiveId" clId="{40306214-9A42-4FA8-99B6-3984636217F0}" dt="2025-09-02T15:15:26.071" v="7" actId="20577"/>
        <pc:sldMkLst>
          <pc:docMk/>
          <pc:sldMk cId="0" sldId="256"/>
        </pc:sldMkLst>
        <pc:spChg chg="mod">
          <ac:chgData name="Dmitry Ilvovsky" userId="f23e1ef0a5520f69" providerId="LiveId" clId="{40306214-9A42-4FA8-99B6-3984636217F0}" dt="2025-09-02T15:15:26.071" v="7" actId="20577"/>
          <ac:spMkLst>
            <pc:docMk/>
            <pc:sldMk cId="0" sldId="256"/>
            <ac:spMk id="32" creationId="{00000000-0000-0000-0000-000000000000}"/>
          </ac:spMkLst>
        </pc:spChg>
      </pc:sldChg>
      <pc:sldChg chg="modSp">
        <pc:chgData name="Dmitry Ilvovsky" userId="f23e1ef0a5520f69" providerId="LiveId" clId="{40306214-9A42-4FA8-99B6-3984636217F0}" dt="2025-09-02T15:18:13.589" v="27" actId="20577"/>
        <pc:sldMkLst>
          <pc:docMk/>
          <pc:sldMk cId="0" sldId="263"/>
        </pc:sldMkLst>
        <pc:spChg chg="mod">
          <ac:chgData name="Dmitry Ilvovsky" userId="f23e1ef0a5520f69" providerId="LiveId" clId="{40306214-9A42-4FA8-99B6-3984636217F0}" dt="2025-09-02T15:18:13.589" v="27" actId="20577"/>
          <ac:spMkLst>
            <pc:docMk/>
            <pc:sldMk cId="0" sldId="263"/>
            <ac:spMk id="26" creationId="{00000000-0000-0000-0000-000000000000}"/>
          </ac:spMkLst>
        </pc:spChg>
      </pc:sldChg>
      <pc:sldChg chg="modSp mod">
        <pc:chgData name="Dmitry Ilvovsky" userId="f23e1ef0a5520f69" providerId="LiveId" clId="{40306214-9A42-4FA8-99B6-3984636217F0}" dt="2025-09-02T15:20:35.649" v="94" actId="6549"/>
        <pc:sldMkLst>
          <pc:docMk/>
          <pc:sldMk cId="0" sldId="264"/>
        </pc:sldMkLst>
        <pc:spChg chg="mod">
          <ac:chgData name="Dmitry Ilvovsky" userId="f23e1ef0a5520f69" providerId="LiveId" clId="{40306214-9A42-4FA8-99B6-3984636217F0}" dt="2025-09-02T15:20:35.649" v="94" actId="6549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Dmitry Ilvovsky" userId="f23e1ef0a5520f69" providerId="LiveId" clId="{40306214-9A42-4FA8-99B6-3984636217F0}" dt="2025-09-02T15:21:54.162" v="132" actId="20577"/>
        <pc:sldMkLst>
          <pc:docMk/>
          <pc:sldMk cId="0" sldId="267"/>
        </pc:sldMkLst>
        <pc:spChg chg="mod">
          <ac:chgData name="Dmitry Ilvovsky" userId="f23e1ef0a5520f69" providerId="LiveId" clId="{40306214-9A42-4FA8-99B6-3984636217F0}" dt="2025-09-02T15:21:54.162" v="132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  <pc:docChgLst>
    <pc:chgData name="Дмитрий Ильвовский" userId="f23e1ef0a5520f69" providerId="LiveId" clId="{4E733604-555E-4598-9499-E10FB76F41CD}"/>
    <pc:docChg chg="addSld delSld modSld">
      <pc:chgData name="Дмитрий Ильвовский" userId="f23e1ef0a5520f69" providerId="LiveId" clId="{4E733604-555E-4598-9499-E10FB76F41CD}" dt="2024-09-12T13:11:31.122" v="68" actId="47"/>
      <pc:docMkLst>
        <pc:docMk/>
      </pc:docMkLst>
      <pc:sldChg chg="modSp mod">
        <pc:chgData name="Дмитрий Ильвовский" userId="f23e1ef0a5520f69" providerId="LiveId" clId="{4E733604-555E-4598-9499-E10FB76F41CD}" dt="2024-09-09T18:35:20.350" v="3" actId="20577"/>
        <pc:sldMkLst>
          <pc:docMk/>
          <pc:sldMk cId="0" sldId="256"/>
        </pc:sldMkLst>
      </pc:sldChg>
      <pc:sldChg chg="modSp mod">
        <pc:chgData name="Дмитрий Ильвовский" userId="f23e1ef0a5520f69" providerId="LiveId" clId="{4E733604-555E-4598-9499-E10FB76F41CD}" dt="2024-09-12T12:08:16.854" v="49"/>
        <pc:sldMkLst>
          <pc:docMk/>
          <pc:sldMk cId="0" sldId="263"/>
        </pc:sldMkLst>
      </pc:sldChg>
      <pc:sldChg chg="new del">
        <pc:chgData name="Дмитрий Ильвовский" userId="f23e1ef0a5520f69" providerId="LiveId" clId="{4E733604-555E-4598-9499-E10FB76F41CD}" dt="2024-09-12T12:43:21" v="60" actId="47"/>
        <pc:sldMkLst>
          <pc:docMk/>
          <pc:sldMk cId="55047025" sldId="279"/>
        </pc:sldMkLst>
      </pc:sldChg>
      <pc:sldChg chg="new del">
        <pc:chgData name="Дмитрий Ильвовский" userId="f23e1ef0a5520f69" providerId="LiveId" clId="{4E733604-555E-4598-9499-E10FB76F41CD}" dt="2024-09-12T12:28:58.240" v="54" actId="47"/>
        <pc:sldMkLst>
          <pc:docMk/>
          <pc:sldMk cId="240831910" sldId="279"/>
        </pc:sldMkLst>
      </pc:sldChg>
      <pc:sldChg chg="new del">
        <pc:chgData name="Дмитрий Ильвовский" userId="f23e1ef0a5520f69" providerId="LiveId" clId="{4E733604-555E-4598-9499-E10FB76F41CD}" dt="2024-09-12T12:44:27.194" v="62" actId="47"/>
        <pc:sldMkLst>
          <pc:docMk/>
          <pc:sldMk cId="340184940" sldId="279"/>
        </pc:sldMkLst>
      </pc:sldChg>
      <pc:sldChg chg="new del">
        <pc:chgData name="Дмитрий Ильвовский" userId="f23e1ef0a5520f69" providerId="LiveId" clId="{4E733604-555E-4598-9499-E10FB76F41CD}" dt="2024-09-12T12:33:28.995" v="56" actId="47"/>
        <pc:sldMkLst>
          <pc:docMk/>
          <pc:sldMk cId="1383859063" sldId="279"/>
        </pc:sldMkLst>
      </pc:sldChg>
      <pc:sldChg chg="new del">
        <pc:chgData name="Дмитрий Ильвовский" userId="f23e1ef0a5520f69" providerId="LiveId" clId="{4E733604-555E-4598-9499-E10FB76F41CD}" dt="2024-09-12T12:27:56.010" v="52" actId="47"/>
        <pc:sldMkLst>
          <pc:docMk/>
          <pc:sldMk cId="1546439429" sldId="279"/>
        </pc:sldMkLst>
      </pc:sldChg>
      <pc:sldChg chg="addSp modSp new del mod">
        <pc:chgData name="Дмитрий Ильвовский" userId="f23e1ef0a5520f69" providerId="LiveId" clId="{4E733604-555E-4598-9499-E10FB76F41CD}" dt="2024-09-12T13:11:31.122" v="68" actId="47"/>
        <pc:sldMkLst>
          <pc:docMk/>
          <pc:sldMk cId="2102555856" sldId="279"/>
        </pc:sldMkLst>
      </pc:sldChg>
      <pc:sldChg chg="new del">
        <pc:chgData name="Дмитрий Ильвовский" userId="f23e1ef0a5520f69" providerId="LiveId" clId="{4E733604-555E-4598-9499-E10FB76F41CD}" dt="2024-09-12T12:57:19.419" v="64" actId="47"/>
        <pc:sldMkLst>
          <pc:docMk/>
          <pc:sldMk cId="3682969524" sldId="279"/>
        </pc:sldMkLst>
      </pc:sldChg>
      <pc:sldChg chg="new del">
        <pc:chgData name="Дмитрий Ильвовский" userId="f23e1ef0a5520f69" providerId="LiveId" clId="{4E733604-555E-4598-9499-E10FB76F41CD}" dt="2024-09-12T12:42:19.873" v="58" actId="47"/>
        <pc:sldMkLst>
          <pc:docMk/>
          <pc:sldMk cId="3762229327" sldId="279"/>
        </pc:sldMkLst>
      </pc:sldChg>
      <pc:sldChg chg="new del">
        <pc:chgData name="Дмитрий Ильвовский" userId="f23e1ef0a5520f69" providerId="LiveId" clId="{4E733604-555E-4598-9499-E10FB76F41CD}" dt="2024-09-12T12:27:56.010" v="52" actId="47"/>
        <pc:sldMkLst>
          <pc:docMk/>
          <pc:sldMk cId="1486345971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E6326-EEDE-46C7-A3B2-ADA7A3DC12D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68413" y="433388"/>
            <a:ext cx="2073275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3FD88-8FD7-482A-B2F6-8C38C0E3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35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68413" y="433388"/>
            <a:ext cx="2073275" cy="116681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3FD88-8FD7-482A-B2F6-8C38C0E3D03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283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F2D15-EB1F-774E-94DA-B4D5432B9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144" y="566377"/>
            <a:ext cx="4614863" cy="1204854"/>
          </a:xfrm>
        </p:spPr>
        <p:txBody>
          <a:bodyPr anchor="b"/>
          <a:lstStyle>
            <a:lvl1pPr algn="ctr">
              <a:defRPr sz="3028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EF27B2-6A51-EDC1-49FD-D83C055D7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144" y="1817695"/>
            <a:ext cx="4614863" cy="835547"/>
          </a:xfrm>
        </p:spPr>
        <p:txBody>
          <a:bodyPr/>
          <a:lstStyle>
            <a:lvl1pPr marL="0" indent="0" algn="ctr">
              <a:buNone/>
              <a:defRPr sz="1211"/>
            </a:lvl1pPr>
            <a:lvl2pPr marL="230703" indent="0" algn="ctr">
              <a:buNone/>
              <a:defRPr sz="1009"/>
            </a:lvl2pPr>
            <a:lvl3pPr marL="461406" indent="0" algn="ctr">
              <a:buNone/>
              <a:defRPr sz="908"/>
            </a:lvl3pPr>
            <a:lvl4pPr marL="692109" indent="0" algn="ctr">
              <a:buNone/>
              <a:defRPr sz="807"/>
            </a:lvl4pPr>
            <a:lvl5pPr marL="922812" indent="0" algn="ctr">
              <a:buNone/>
              <a:defRPr sz="807"/>
            </a:lvl5pPr>
            <a:lvl6pPr marL="1153516" indent="0" algn="ctr">
              <a:buNone/>
              <a:defRPr sz="807"/>
            </a:lvl6pPr>
            <a:lvl7pPr marL="1384219" indent="0" algn="ctr">
              <a:buNone/>
              <a:defRPr sz="807"/>
            </a:lvl7pPr>
            <a:lvl8pPr marL="1614922" indent="0" algn="ctr">
              <a:buNone/>
              <a:defRPr sz="807"/>
            </a:lvl8pPr>
            <a:lvl9pPr marL="1845625" indent="0" algn="ctr">
              <a:buNone/>
              <a:defRPr sz="807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29049D-4445-2394-64F2-151A1263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1A25EE-059A-4E72-A7F7-F817AFCE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D9EAEC-B98C-F43A-F140-308BC3A9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125EB-E147-F57D-E11B-64105D7A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C277E3-3112-6B6C-0B25-2ED488735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B064E2-739B-7FC0-B94C-17B62376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8C7558-7C1C-D1D3-F179-B349B497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98A115-5023-8F80-9099-7606AD48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07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4078C-28CE-3F48-98EB-D4877EE8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24" y="862785"/>
            <a:ext cx="5307092" cy="1439576"/>
          </a:xfrm>
        </p:spPr>
        <p:txBody>
          <a:bodyPr anchor="b"/>
          <a:lstStyle>
            <a:lvl1pPr>
              <a:defRPr sz="3028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D0B154-73A6-BFCF-85C6-C79E5294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824" y="2315979"/>
            <a:ext cx="5307092" cy="757039"/>
          </a:xfrm>
        </p:spPr>
        <p:txBody>
          <a:bodyPr/>
          <a:lstStyle>
            <a:lvl1pPr marL="0" indent="0">
              <a:buNone/>
              <a:defRPr sz="1211">
                <a:solidFill>
                  <a:schemeClr val="tx1">
                    <a:tint val="75000"/>
                  </a:schemeClr>
                </a:solidFill>
              </a:defRPr>
            </a:lvl1pPr>
            <a:lvl2pPr marL="230703" indent="0">
              <a:buNone/>
              <a:defRPr sz="1009">
                <a:solidFill>
                  <a:schemeClr val="tx1">
                    <a:tint val="75000"/>
                  </a:schemeClr>
                </a:solidFill>
              </a:defRPr>
            </a:lvl2pPr>
            <a:lvl3pPr marL="461406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3pPr>
            <a:lvl4pPr marL="692109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4pPr>
            <a:lvl5pPr marL="92281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5pPr>
            <a:lvl6pPr marL="1153516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6pPr>
            <a:lvl7pPr marL="1384219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7pPr>
            <a:lvl8pPr marL="161492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8pPr>
            <a:lvl9pPr marL="1845625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1F16E7-CC85-EC30-18B2-E02F7035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AA657-A50C-47DE-2773-A3C0E26A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0F58B8-3B80-6645-DD45-E11A90C0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4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B651A-1A24-C555-388F-56033A6C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8F36A4-4346-6DB5-CF42-2DA68EF9E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029" y="921265"/>
            <a:ext cx="2615089" cy="21958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9ABA78-4FC3-7BFE-78D8-155307511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5032" y="921265"/>
            <a:ext cx="2615089" cy="21958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E759AE-1E14-DFA5-662D-7B267767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F6E371-68A4-7663-DF6B-C85B2D1B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9A9B39-16FB-10BE-EE07-DAF25173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41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CB8C5-23CA-0AA7-CFB3-EE0B94C5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0" y="184253"/>
            <a:ext cx="5307092" cy="668918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F33BCD-FE65-CB50-BCED-5EB2E90D7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31" y="848365"/>
            <a:ext cx="2603071" cy="415770"/>
          </a:xfrm>
        </p:spPr>
        <p:txBody>
          <a:bodyPr anchor="b"/>
          <a:lstStyle>
            <a:lvl1pPr marL="0" indent="0">
              <a:buNone/>
              <a:defRPr sz="1211" b="1"/>
            </a:lvl1pPr>
            <a:lvl2pPr marL="230703" indent="0">
              <a:buNone/>
              <a:defRPr sz="1009" b="1"/>
            </a:lvl2pPr>
            <a:lvl3pPr marL="461406" indent="0">
              <a:buNone/>
              <a:defRPr sz="908" b="1"/>
            </a:lvl3pPr>
            <a:lvl4pPr marL="692109" indent="0">
              <a:buNone/>
              <a:defRPr sz="807" b="1"/>
            </a:lvl4pPr>
            <a:lvl5pPr marL="922812" indent="0">
              <a:buNone/>
              <a:defRPr sz="807" b="1"/>
            </a:lvl5pPr>
            <a:lvl6pPr marL="1153516" indent="0">
              <a:buNone/>
              <a:defRPr sz="807" b="1"/>
            </a:lvl6pPr>
            <a:lvl7pPr marL="1384219" indent="0">
              <a:buNone/>
              <a:defRPr sz="807" b="1"/>
            </a:lvl7pPr>
            <a:lvl8pPr marL="1614922" indent="0">
              <a:buNone/>
              <a:defRPr sz="807" b="1"/>
            </a:lvl8pPr>
            <a:lvl9pPr marL="1845625" indent="0">
              <a:buNone/>
              <a:defRPr sz="807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D1EEA0-0CE5-28BB-1DC4-CCF316BC3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831" y="1264135"/>
            <a:ext cx="2603071" cy="18593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ACE799-D486-B5FB-8543-BD190C206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115032" y="848365"/>
            <a:ext cx="2615890" cy="415770"/>
          </a:xfrm>
        </p:spPr>
        <p:txBody>
          <a:bodyPr anchor="b"/>
          <a:lstStyle>
            <a:lvl1pPr marL="0" indent="0">
              <a:buNone/>
              <a:defRPr sz="1211" b="1"/>
            </a:lvl1pPr>
            <a:lvl2pPr marL="230703" indent="0">
              <a:buNone/>
              <a:defRPr sz="1009" b="1"/>
            </a:lvl2pPr>
            <a:lvl3pPr marL="461406" indent="0">
              <a:buNone/>
              <a:defRPr sz="908" b="1"/>
            </a:lvl3pPr>
            <a:lvl4pPr marL="692109" indent="0">
              <a:buNone/>
              <a:defRPr sz="807" b="1"/>
            </a:lvl4pPr>
            <a:lvl5pPr marL="922812" indent="0">
              <a:buNone/>
              <a:defRPr sz="807" b="1"/>
            </a:lvl5pPr>
            <a:lvl6pPr marL="1153516" indent="0">
              <a:buNone/>
              <a:defRPr sz="807" b="1"/>
            </a:lvl6pPr>
            <a:lvl7pPr marL="1384219" indent="0">
              <a:buNone/>
              <a:defRPr sz="807" b="1"/>
            </a:lvl7pPr>
            <a:lvl8pPr marL="1614922" indent="0">
              <a:buNone/>
              <a:defRPr sz="807" b="1"/>
            </a:lvl8pPr>
            <a:lvl9pPr marL="1845625" indent="0">
              <a:buNone/>
              <a:defRPr sz="807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D95692-6A94-3E93-B74F-87627B87F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15032" y="1264135"/>
            <a:ext cx="2615890" cy="18593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ACA63A-B1A1-4AC3-4A61-0EA94846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CE9943-5F23-3E2A-A9E1-543AEAD0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92139AE-11FB-CB6B-EA0F-4965ED4B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32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30197-5657-0844-AB0C-04E1BA68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5A7009-B230-4C09-1629-56968E25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006B90-5016-3397-E95C-688BC6B0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ED664B-C34F-F7FF-437E-C659EE94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68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1D55DE5-C027-83D8-D53F-BB3159C4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1949A4-DF31-BD23-9DBE-1AA4D349F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C6F396-E451-3FFE-EBFA-BEA68516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5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6831C-9F96-2857-2A8C-5DD35C6D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1" y="230717"/>
            <a:ext cx="1984551" cy="807508"/>
          </a:xfrm>
        </p:spPr>
        <p:txBody>
          <a:bodyPr anchor="b"/>
          <a:lstStyle>
            <a:lvl1pPr>
              <a:defRPr sz="161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9B82F6-D45A-D91D-C6D4-71879968C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890" y="498284"/>
            <a:ext cx="3115032" cy="2459376"/>
          </a:xfrm>
        </p:spPr>
        <p:txBody>
          <a:bodyPr/>
          <a:lstStyle>
            <a:lvl1pPr>
              <a:defRPr sz="1615"/>
            </a:lvl1pPr>
            <a:lvl2pPr>
              <a:defRPr sz="1413"/>
            </a:lvl2pPr>
            <a:lvl3pPr>
              <a:defRPr sz="1211"/>
            </a:lvl3pPr>
            <a:lvl4pPr>
              <a:defRPr sz="1009"/>
            </a:lvl4pPr>
            <a:lvl5pPr>
              <a:defRPr sz="1009"/>
            </a:lvl5pPr>
            <a:lvl6pPr>
              <a:defRPr sz="1009"/>
            </a:lvl6pPr>
            <a:lvl7pPr>
              <a:defRPr sz="1009"/>
            </a:lvl7pPr>
            <a:lvl8pPr>
              <a:defRPr sz="1009"/>
            </a:lvl8pPr>
            <a:lvl9pPr>
              <a:defRPr sz="100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FAF1D2-0448-7C99-8954-1C6A3916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31" y="1038225"/>
            <a:ext cx="1984551" cy="1923440"/>
          </a:xfrm>
        </p:spPr>
        <p:txBody>
          <a:bodyPr/>
          <a:lstStyle>
            <a:lvl1pPr marL="0" indent="0">
              <a:buNone/>
              <a:defRPr sz="807"/>
            </a:lvl1pPr>
            <a:lvl2pPr marL="230703" indent="0">
              <a:buNone/>
              <a:defRPr sz="706"/>
            </a:lvl2pPr>
            <a:lvl3pPr marL="461406" indent="0">
              <a:buNone/>
              <a:defRPr sz="606"/>
            </a:lvl3pPr>
            <a:lvl4pPr marL="692109" indent="0">
              <a:buNone/>
              <a:defRPr sz="505"/>
            </a:lvl4pPr>
            <a:lvl5pPr marL="922812" indent="0">
              <a:buNone/>
              <a:defRPr sz="505"/>
            </a:lvl5pPr>
            <a:lvl6pPr marL="1153516" indent="0">
              <a:buNone/>
              <a:defRPr sz="505"/>
            </a:lvl6pPr>
            <a:lvl7pPr marL="1384219" indent="0">
              <a:buNone/>
              <a:defRPr sz="505"/>
            </a:lvl7pPr>
            <a:lvl8pPr marL="1614922" indent="0">
              <a:buNone/>
              <a:defRPr sz="505"/>
            </a:lvl8pPr>
            <a:lvl9pPr marL="1845625" indent="0">
              <a:buNone/>
              <a:defRPr sz="50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7BF3C9-A957-9057-CF3B-43AA3320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5E783D-4093-1006-039F-F0D5C000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AD3FEF-146F-4417-E134-1ADA008C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20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E4CC0-B8CC-431F-FCC2-51DC5872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1" y="230717"/>
            <a:ext cx="1984551" cy="807508"/>
          </a:xfrm>
        </p:spPr>
        <p:txBody>
          <a:bodyPr anchor="b"/>
          <a:lstStyle>
            <a:lvl1pPr>
              <a:defRPr sz="161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49BD6EC-C5FB-38A9-E565-8632E35DD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15890" y="498284"/>
            <a:ext cx="3115032" cy="2459376"/>
          </a:xfrm>
        </p:spPr>
        <p:txBody>
          <a:bodyPr/>
          <a:lstStyle>
            <a:lvl1pPr marL="0" indent="0">
              <a:buNone/>
              <a:defRPr sz="1615"/>
            </a:lvl1pPr>
            <a:lvl2pPr marL="230703" indent="0">
              <a:buNone/>
              <a:defRPr sz="1413"/>
            </a:lvl2pPr>
            <a:lvl3pPr marL="461406" indent="0">
              <a:buNone/>
              <a:defRPr sz="1211"/>
            </a:lvl3pPr>
            <a:lvl4pPr marL="692109" indent="0">
              <a:buNone/>
              <a:defRPr sz="1009"/>
            </a:lvl4pPr>
            <a:lvl5pPr marL="922812" indent="0">
              <a:buNone/>
              <a:defRPr sz="1009"/>
            </a:lvl5pPr>
            <a:lvl6pPr marL="1153516" indent="0">
              <a:buNone/>
              <a:defRPr sz="1009"/>
            </a:lvl6pPr>
            <a:lvl7pPr marL="1384219" indent="0">
              <a:buNone/>
              <a:defRPr sz="1009"/>
            </a:lvl7pPr>
            <a:lvl8pPr marL="1614922" indent="0">
              <a:buNone/>
              <a:defRPr sz="1009"/>
            </a:lvl8pPr>
            <a:lvl9pPr marL="1845625" indent="0">
              <a:buNone/>
              <a:defRPr sz="1009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FADFF7-CDDA-840F-D563-B817CE118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31" y="1038225"/>
            <a:ext cx="1984551" cy="1923440"/>
          </a:xfrm>
        </p:spPr>
        <p:txBody>
          <a:bodyPr/>
          <a:lstStyle>
            <a:lvl1pPr marL="0" indent="0">
              <a:buNone/>
              <a:defRPr sz="807"/>
            </a:lvl1pPr>
            <a:lvl2pPr marL="230703" indent="0">
              <a:buNone/>
              <a:defRPr sz="706"/>
            </a:lvl2pPr>
            <a:lvl3pPr marL="461406" indent="0">
              <a:buNone/>
              <a:defRPr sz="606"/>
            </a:lvl3pPr>
            <a:lvl4pPr marL="692109" indent="0">
              <a:buNone/>
              <a:defRPr sz="505"/>
            </a:lvl4pPr>
            <a:lvl5pPr marL="922812" indent="0">
              <a:buNone/>
              <a:defRPr sz="505"/>
            </a:lvl5pPr>
            <a:lvl6pPr marL="1153516" indent="0">
              <a:buNone/>
              <a:defRPr sz="505"/>
            </a:lvl6pPr>
            <a:lvl7pPr marL="1384219" indent="0">
              <a:buNone/>
              <a:defRPr sz="505"/>
            </a:lvl7pPr>
            <a:lvl8pPr marL="1614922" indent="0">
              <a:buNone/>
              <a:defRPr sz="505"/>
            </a:lvl8pPr>
            <a:lvl9pPr marL="1845625" indent="0">
              <a:buNone/>
              <a:defRPr sz="50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ED9D61-EF71-5508-D97E-52BD1E31F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8D7CC5-90EC-5538-EC88-67B6F1BD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501705-7261-2FD4-D4AB-20BD0673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68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5E668-744E-C32A-7F85-955C26F6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C69509-BC53-0D20-F52D-003C184A5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E09460-2CA8-188B-45D5-7F98D09D8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5326C7-9833-F5DD-FE18-A966AAB0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615DD4-E4FA-3D3D-993F-2F251201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75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7FFDB5-522E-5589-E5AD-C8D9DA06B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403348" y="184253"/>
            <a:ext cx="1326773" cy="293282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D4314C-DE70-3FFB-0B5E-CF363406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029" y="184253"/>
            <a:ext cx="3903405" cy="293282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C9CBB1-75BA-4E73-3760-AD0888529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21D940-FA61-72F6-BE0E-E4680C701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13FDA9-0134-D3F6-ED1A-56CEB506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404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521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137E4-47BD-9BC0-1088-A211590E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29" y="184253"/>
            <a:ext cx="5307092" cy="66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A36C30-719F-5EE3-CCA4-0CD81BFA2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029" y="921265"/>
            <a:ext cx="5307092" cy="219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FDEC71-4101-F901-90B2-71F40EC1E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F38D88-1C4C-D221-8F39-F8304BF96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D9B79D-1F42-552F-7FBA-1CAB448F1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78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461406" rtl="0" eaLnBrk="1" latinLnBrk="0" hangingPunct="1">
        <a:lnSpc>
          <a:spcPct val="90000"/>
        </a:lnSpc>
        <a:spcBef>
          <a:spcPct val="0"/>
        </a:spcBef>
        <a:buNone/>
        <a:defRPr sz="22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352" indent="-115352" algn="l" defTabSz="461406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413" kern="1200">
          <a:solidFill>
            <a:schemeClr val="tx1"/>
          </a:solidFill>
          <a:latin typeface="+mn-lt"/>
          <a:ea typeface="+mn-ea"/>
          <a:cs typeface="+mn-cs"/>
        </a:defRPr>
      </a:lvl1pPr>
      <a:lvl2pPr marL="346055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211" kern="1200">
          <a:solidFill>
            <a:schemeClr val="tx1"/>
          </a:solidFill>
          <a:latin typeface="+mn-lt"/>
          <a:ea typeface="+mn-ea"/>
          <a:cs typeface="+mn-cs"/>
        </a:defRPr>
      </a:lvl2pPr>
      <a:lvl3pPr marL="576758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009" kern="1200">
          <a:solidFill>
            <a:schemeClr val="tx1"/>
          </a:solidFill>
          <a:latin typeface="+mn-lt"/>
          <a:ea typeface="+mn-ea"/>
          <a:cs typeface="+mn-cs"/>
        </a:defRPr>
      </a:lvl3pPr>
      <a:lvl4pPr marL="807461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1038164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268867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499570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730273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960977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703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406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2109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812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3516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4219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4922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5625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5.jpg"/><Relationship Id="rId7" Type="http://schemas.openxmlformats.org/officeDocument/2006/relationships/slide" Target="slide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named-entity-recognition-and-classification-with-scikit-learn-f05372f07ba2" TargetMode="External"/><Relationship Id="rId5" Type="http://schemas.openxmlformats.org/officeDocument/2006/relationships/hyperlink" Target="https://developers.google.com/machine-learning/guides/text-classification/" TargetMode="Externa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github.com/Zhipeng-Zhang-work/hse-ami-nlp-course-fall-2026" TargetMode="External"/><Relationship Id="rId4" Type="http://schemas.openxmlformats.org/officeDocument/2006/relationships/hyperlink" Target="internal:username_regular/zhipeng_zhang@544572491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sciencedirect.com/science/article/pii/S0169716118300245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eeplearning.net/tutorial/lstm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jurafsky/slp3/" TargetMode="External"/><Relationship Id="rId2" Type="http://schemas.openxmlformats.org/officeDocument/2006/relationships/hyperlink" Target="https://arxiv.org/abs/1904.0806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acobeisenstein/gt-nlp-class/blob/master/notes/eisenstein-nlp-notes.pdf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859272" y="9283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859272" y="972823"/>
            <a:ext cx="4483735" cy="347980"/>
            <a:chOff x="87743" y="972822"/>
            <a:chExt cx="4483735" cy="34798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19123"/>
              <a:ext cx="101600" cy="1016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06423"/>
              <a:ext cx="4381715" cy="114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978954"/>
              <a:ext cx="50749" cy="24016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7743" y="972822"/>
              <a:ext cx="4432935" cy="297180"/>
            </a:xfrm>
            <a:custGeom>
              <a:avLst/>
              <a:gdLst/>
              <a:ahLst/>
              <a:cxnLst/>
              <a:rect l="l" t="t" r="r" b="b"/>
              <a:pathLst>
                <a:path w="4432935" h="297180">
                  <a:moveTo>
                    <a:pt x="4432566" y="0"/>
                  </a:moveTo>
                  <a:lnTo>
                    <a:pt x="0" y="0"/>
                  </a:lnTo>
                  <a:lnTo>
                    <a:pt x="0" y="246300"/>
                  </a:lnTo>
                  <a:lnTo>
                    <a:pt x="4008" y="266025"/>
                  </a:lnTo>
                  <a:lnTo>
                    <a:pt x="14922" y="282178"/>
                  </a:lnTo>
                  <a:lnTo>
                    <a:pt x="31075" y="293092"/>
                  </a:lnTo>
                  <a:lnTo>
                    <a:pt x="50800" y="297101"/>
                  </a:lnTo>
                  <a:lnTo>
                    <a:pt x="4381765" y="297101"/>
                  </a:lnTo>
                  <a:lnTo>
                    <a:pt x="4401490" y="293092"/>
                  </a:lnTo>
                  <a:lnTo>
                    <a:pt x="4417643" y="282178"/>
                  </a:lnTo>
                  <a:lnTo>
                    <a:pt x="4428558" y="266025"/>
                  </a:lnTo>
                  <a:lnTo>
                    <a:pt x="4432566" y="24630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10" y="1017060"/>
              <a:ext cx="0" cy="221615"/>
            </a:xfrm>
            <a:custGeom>
              <a:avLst/>
              <a:gdLst/>
              <a:ahLst/>
              <a:cxnLst/>
              <a:rect l="l" t="t" r="r" b="b"/>
              <a:pathLst>
                <a:path h="221615">
                  <a:moveTo>
                    <a:pt x="0" y="2211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10" y="10043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10" y="9916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0310" y="9789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2390775" y="922102"/>
            <a:ext cx="1787601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50" dirty="0">
                <a:solidFill>
                  <a:srgbClr val="FFFFFF"/>
                </a:solidFill>
                <a:latin typeface="+mn-lt"/>
                <a:cs typeface="Tahoma"/>
              </a:rPr>
              <a:t>Intro</a:t>
            </a:r>
            <a:r>
              <a:rPr spc="-15" dirty="0">
                <a:solidFill>
                  <a:srgbClr val="FFFFFF"/>
                </a:solidFill>
                <a:latin typeface="+mn-lt"/>
                <a:cs typeface="Tahoma"/>
              </a:rPr>
              <a:t> to</a:t>
            </a:r>
            <a:r>
              <a:rPr spc="-10" dirty="0">
                <a:solidFill>
                  <a:srgbClr val="FFFFFF"/>
                </a:solidFill>
                <a:latin typeface="+mn-lt"/>
                <a:cs typeface="Tahoma"/>
              </a:rPr>
              <a:t> </a:t>
            </a:r>
            <a:r>
              <a:rPr spc="75" dirty="0">
                <a:solidFill>
                  <a:srgbClr val="FFFFFF"/>
                </a:solidFill>
                <a:latin typeface="+mn-lt"/>
                <a:cs typeface="Tahoma"/>
              </a:rPr>
              <a:t>NLP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897507" y="1480007"/>
            <a:ext cx="2355850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spcBef>
                <a:spcPts val="90"/>
              </a:spcBef>
            </a:pPr>
            <a:r>
              <a:rPr sz="1200" spc="-10" dirty="0">
                <a:cs typeface="Tahoma"/>
              </a:rPr>
              <a:t>Dmitry</a:t>
            </a:r>
            <a:r>
              <a:rPr sz="1200" spc="5" dirty="0">
                <a:cs typeface="Tahoma"/>
              </a:rPr>
              <a:t> </a:t>
            </a:r>
            <a:r>
              <a:rPr sz="1200" spc="-50" dirty="0" err="1">
                <a:cs typeface="Tahoma"/>
              </a:rPr>
              <a:t>Ilvovsky</a:t>
            </a:r>
            <a:endParaRPr sz="1200" dirty="0">
              <a:cs typeface="Tahoma"/>
            </a:endParaRPr>
          </a:p>
          <a:p>
            <a:pPr>
              <a:lnSpc>
                <a:spcPct val="100000"/>
              </a:lnSpc>
            </a:pPr>
            <a:endParaRPr sz="1200" dirty="0">
              <a:cs typeface="Tahoma"/>
            </a:endParaRPr>
          </a:p>
          <a:p>
            <a:pPr>
              <a:spcBef>
                <a:spcPts val="20"/>
              </a:spcBef>
            </a:pPr>
            <a:endParaRPr sz="1200" dirty="0"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200" spc="-50" dirty="0">
                <a:cs typeface="Tahoma"/>
              </a:rPr>
              <a:t>September</a:t>
            </a:r>
            <a:r>
              <a:rPr sz="1200" dirty="0">
                <a:cs typeface="Tahoma"/>
              </a:rPr>
              <a:t> </a:t>
            </a:r>
            <a:r>
              <a:rPr lang="ru-RU" sz="1200" dirty="0" smtClean="0">
                <a:cs typeface="Tahoma"/>
              </a:rPr>
              <a:t>0</a:t>
            </a:r>
            <a:r>
              <a:rPr lang="en-US" sz="1200" dirty="0" smtClean="0">
                <a:cs typeface="Tahoma"/>
              </a:rPr>
              <a:t>2</a:t>
            </a:r>
            <a:r>
              <a:rPr sz="1200" spc="-45" dirty="0" smtClean="0">
                <a:cs typeface="Tahoma"/>
              </a:rPr>
              <a:t>,</a:t>
            </a:r>
            <a:r>
              <a:rPr sz="1200" spc="-5" dirty="0" smtClean="0">
                <a:cs typeface="Tahoma"/>
              </a:rPr>
              <a:t> </a:t>
            </a:r>
            <a:r>
              <a:rPr sz="1200" spc="-55" dirty="0" smtClean="0">
                <a:cs typeface="Tahoma"/>
              </a:rPr>
              <a:t>202</a:t>
            </a:r>
            <a:r>
              <a:rPr lang="ru-RU" sz="1200" spc="-55" dirty="0">
                <a:cs typeface="Tahoma"/>
              </a:rPr>
              <a:t>6</a:t>
            </a:r>
            <a:endParaRPr sz="1200" dirty="0">
              <a:cs typeface="Tahom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575" y="272591"/>
            <a:ext cx="4038600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35" dirty="0"/>
              <a:t>Natural</a:t>
            </a:r>
            <a:r>
              <a:rPr spc="45" dirty="0"/>
              <a:t> </a:t>
            </a:r>
            <a:r>
              <a:rPr spc="-100" dirty="0"/>
              <a:t>language</a:t>
            </a:r>
            <a:r>
              <a:rPr spc="45" dirty="0"/>
              <a:t> </a:t>
            </a:r>
            <a:r>
              <a:rPr spc="-95" dirty="0"/>
              <a:t>processing</a:t>
            </a:r>
            <a:r>
              <a:rPr spc="50" dirty="0"/>
              <a:t> </a:t>
            </a:r>
            <a:r>
              <a:rPr spc="-15" dirty="0"/>
              <a:t>...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09575" y="1196975"/>
            <a:ext cx="4970355" cy="81387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3667" marR="30479" indent="-148584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4302" algn="l"/>
              </a:tabLst>
            </a:pPr>
            <a:r>
              <a:rPr sz="1200" spc="-60" dirty="0"/>
              <a:t>along</a:t>
            </a:r>
            <a:r>
              <a:rPr sz="1200" spc="65" dirty="0"/>
              <a:t> </a:t>
            </a:r>
            <a:r>
              <a:rPr sz="1200" spc="-5" dirty="0"/>
              <a:t>with</a:t>
            </a:r>
            <a:r>
              <a:rPr sz="1200" spc="70" dirty="0"/>
              <a:t> </a:t>
            </a:r>
            <a:r>
              <a:rPr sz="1200" spc="-50" dirty="0"/>
              <a:t>computer</a:t>
            </a:r>
            <a:r>
              <a:rPr sz="1200" spc="70" dirty="0"/>
              <a:t> </a:t>
            </a:r>
            <a:r>
              <a:rPr sz="1200" spc="-55" dirty="0"/>
              <a:t>vision</a:t>
            </a:r>
            <a:r>
              <a:rPr sz="1200" spc="70" dirty="0"/>
              <a:t> </a:t>
            </a:r>
            <a:r>
              <a:rPr sz="1200" spc="-95" dirty="0"/>
              <a:t>a</a:t>
            </a:r>
            <a:r>
              <a:rPr sz="1200" spc="70" dirty="0"/>
              <a:t> </a:t>
            </a:r>
            <a:r>
              <a:rPr sz="1200" spc="-45" dirty="0"/>
              <a:t>crucial</a:t>
            </a:r>
            <a:r>
              <a:rPr sz="1200" spc="70" dirty="0"/>
              <a:t> </a:t>
            </a:r>
            <a:r>
              <a:rPr sz="1200" spc="-25" dirty="0"/>
              <a:t>part</a:t>
            </a:r>
            <a:r>
              <a:rPr sz="1200" spc="70" dirty="0"/>
              <a:t> </a:t>
            </a:r>
            <a:r>
              <a:rPr sz="1200" spc="-25" dirty="0"/>
              <a:t>of</a:t>
            </a:r>
            <a:r>
              <a:rPr sz="1200" spc="70" dirty="0"/>
              <a:t> </a:t>
            </a:r>
            <a:r>
              <a:rPr sz="1200" spc="-60" dirty="0"/>
              <a:t>modern</a:t>
            </a:r>
            <a:r>
              <a:rPr sz="1200" spc="70" dirty="0"/>
              <a:t> </a:t>
            </a:r>
            <a:r>
              <a:rPr sz="1200" spc="-20" dirty="0"/>
              <a:t>artificial </a:t>
            </a:r>
            <a:r>
              <a:rPr sz="1200" spc="-280" dirty="0"/>
              <a:t> </a:t>
            </a:r>
            <a:r>
              <a:rPr sz="1200" spc="-50" dirty="0"/>
              <a:t>intelligence</a:t>
            </a:r>
            <a:endParaRPr sz="1200" dirty="0"/>
          </a:p>
          <a:p>
            <a:pPr marL="193667" indent="-148584">
              <a:spcBef>
                <a:spcPts val="33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4302" algn="l"/>
              </a:tabLst>
            </a:pPr>
            <a:r>
              <a:rPr sz="1200" spc="-85" dirty="0"/>
              <a:t>deals</a:t>
            </a:r>
            <a:r>
              <a:rPr sz="1200" spc="65" dirty="0"/>
              <a:t> </a:t>
            </a:r>
            <a:r>
              <a:rPr sz="1200" spc="-5" dirty="0"/>
              <a:t>with</a:t>
            </a:r>
            <a:r>
              <a:rPr sz="1200" spc="65" dirty="0"/>
              <a:t> </a:t>
            </a:r>
            <a:r>
              <a:rPr sz="1200" spc="-30" dirty="0"/>
              <a:t>all</a:t>
            </a:r>
            <a:r>
              <a:rPr sz="1200" spc="70" dirty="0"/>
              <a:t> </a:t>
            </a:r>
            <a:r>
              <a:rPr sz="1200" spc="-70" dirty="0"/>
              <a:t>human</a:t>
            </a:r>
            <a:r>
              <a:rPr sz="1200" spc="65" dirty="0"/>
              <a:t> </a:t>
            </a:r>
            <a:r>
              <a:rPr sz="1200" spc="-40" dirty="0"/>
              <a:t>(and</a:t>
            </a:r>
            <a:r>
              <a:rPr sz="1200" spc="65" dirty="0"/>
              <a:t> </a:t>
            </a:r>
            <a:r>
              <a:rPr sz="1200" spc="-55" dirty="0"/>
              <a:t>machine)</a:t>
            </a:r>
            <a:r>
              <a:rPr sz="1200" spc="65" dirty="0"/>
              <a:t> </a:t>
            </a:r>
            <a:r>
              <a:rPr sz="1200" spc="-40" dirty="0"/>
              <a:t>interactions</a:t>
            </a:r>
            <a:r>
              <a:rPr sz="1200" spc="65" dirty="0"/>
              <a:t> </a:t>
            </a:r>
            <a:r>
              <a:rPr sz="1200" spc="-30" dirty="0"/>
              <a:t>in</a:t>
            </a:r>
            <a:r>
              <a:rPr sz="1200" spc="65" dirty="0"/>
              <a:t> </a:t>
            </a:r>
            <a:r>
              <a:rPr sz="1200" spc="-75" dirty="0"/>
              <a:t>language</a:t>
            </a:r>
            <a:endParaRPr sz="1200" dirty="0"/>
          </a:p>
          <a:p>
            <a:pPr marL="193667" marR="558776" indent="-148584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4302" algn="l"/>
              </a:tabLst>
            </a:pPr>
            <a:r>
              <a:rPr sz="1200" spc="-65" dirty="0"/>
              <a:t>requires</a:t>
            </a:r>
            <a:r>
              <a:rPr sz="1200" spc="-60" dirty="0"/>
              <a:t> understanding</a:t>
            </a:r>
            <a:r>
              <a:rPr sz="1200" spc="-55" dirty="0"/>
              <a:t> </a:t>
            </a:r>
            <a:r>
              <a:rPr sz="1200" spc="-25" dirty="0"/>
              <a:t>of </a:t>
            </a:r>
            <a:r>
              <a:rPr sz="1200" spc="-55" dirty="0"/>
              <a:t>linear</a:t>
            </a:r>
            <a:r>
              <a:rPr sz="1200" spc="-50" dirty="0"/>
              <a:t> </a:t>
            </a:r>
            <a:r>
              <a:rPr sz="1200" spc="-60" dirty="0"/>
              <a:t>algebra,</a:t>
            </a:r>
            <a:r>
              <a:rPr sz="1200" spc="-55" dirty="0"/>
              <a:t> </a:t>
            </a:r>
            <a:r>
              <a:rPr sz="1200" spc="-35" dirty="0"/>
              <a:t>statistics, </a:t>
            </a:r>
            <a:r>
              <a:rPr sz="1200" spc="-30" dirty="0"/>
              <a:t> </a:t>
            </a:r>
            <a:r>
              <a:rPr sz="1200" spc="-55" dirty="0"/>
              <a:t>mathematics</a:t>
            </a:r>
            <a:r>
              <a:rPr sz="1200" spc="70" dirty="0"/>
              <a:t> </a:t>
            </a:r>
            <a:r>
              <a:rPr sz="1200" spc="-30" dirty="0"/>
              <a:t>in</a:t>
            </a:r>
            <a:r>
              <a:rPr sz="1200" spc="70" dirty="0"/>
              <a:t> </a:t>
            </a:r>
            <a:r>
              <a:rPr sz="1200" spc="-65" dirty="0"/>
              <a:t>general,</a:t>
            </a:r>
            <a:r>
              <a:rPr sz="1200" spc="70" dirty="0"/>
              <a:t> </a:t>
            </a:r>
            <a:r>
              <a:rPr sz="1200" spc="-45" dirty="0"/>
              <a:t>linguistics</a:t>
            </a:r>
            <a:r>
              <a:rPr sz="1200" spc="70" dirty="0"/>
              <a:t> </a:t>
            </a:r>
            <a:r>
              <a:rPr sz="1200" spc="-70" dirty="0"/>
              <a:t>and</a:t>
            </a:r>
            <a:r>
              <a:rPr sz="1200" spc="70" dirty="0"/>
              <a:t> </a:t>
            </a:r>
            <a:r>
              <a:rPr sz="1200" spc="-50" dirty="0"/>
              <a:t>coding</a:t>
            </a:r>
            <a:r>
              <a:rPr sz="1200" spc="70" dirty="0"/>
              <a:t> </a:t>
            </a:r>
            <a:r>
              <a:rPr sz="1200" spc="-55" dirty="0"/>
              <a:t>skills</a:t>
            </a:r>
            <a:endParaRPr sz="12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206" y="151712"/>
            <a:ext cx="2635052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95" dirty="0"/>
              <a:t>Exampl</a:t>
            </a:r>
            <a:r>
              <a:rPr spc="-90" dirty="0"/>
              <a:t>e</a:t>
            </a:r>
            <a:r>
              <a:rPr spc="65" dirty="0"/>
              <a:t> </a:t>
            </a:r>
            <a:r>
              <a:rPr spc="-55" dirty="0"/>
              <a:t>tas</a:t>
            </a:r>
            <a:r>
              <a:rPr spc="-70" dirty="0"/>
              <a:t>k</a:t>
            </a:r>
            <a:r>
              <a:rPr spc="-1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3205" y="428347"/>
            <a:ext cx="3415370" cy="261840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5399">
              <a:spcBef>
                <a:spcPts val="735"/>
              </a:spcBef>
            </a:pPr>
            <a:r>
              <a:rPr sz="1200" b="1" spc="-10" dirty="0">
                <a:cs typeface="Arial"/>
              </a:rPr>
              <a:t>Text</a:t>
            </a:r>
            <a:r>
              <a:rPr sz="1200" b="1" spc="45" dirty="0">
                <a:cs typeface="Arial"/>
              </a:rPr>
              <a:t> </a:t>
            </a:r>
            <a:r>
              <a:rPr sz="1200" b="1" spc="-55" dirty="0">
                <a:cs typeface="Arial"/>
              </a:rPr>
              <a:t>classification</a:t>
            </a:r>
            <a:endParaRPr sz="1200" dirty="0">
              <a:cs typeface="Arial"/>
            </a:endParaRPr>
          </a:p>
          <a:p>
            <a:pPr marL="302247" indent="-148584">
              <a:spcBef>
                <a:spcPts val="630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302882" algn="l"/>
              </a:tabLst>
            </a:pPr>
            <a:r>
              <a:rPr sz="1200" spc="-45" dirty="0">
                <a:cs typeface="Microsoft Sans Serif"/>
              </a:rPr>
              <a:t>Sentiment</a:t>
            </a:r>
            <a:r>
              <a:rPr sz="1200" spc="30" dirty="0">
                <a:cs typeface="Microsoft Sans Serif"/>
              </a:rPr>
              <a:t> </a:t>
            </a:r>
            <a:r>
              <a:rPr sz="1200" spc="-70" dirty="0">
                <a:cs typeface="Microsoft Sans Serif"/>
              </a:rPr>
              <a:t>analysis</a:t>
            </a:r>
            <a:endParaRPr sz="1200" dirty="0">
              <a:cs typeface="Microsoft Sans Serif"/>
            </a:endParaRPr>
          </a:p>
          <a:p>
            <a:pPr marL="302247" indent="-148584">
              <a:spcBef>
                <a:spcPts val="33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302882" algn="l"/>
              </a:tabLst>
            </a:pPr>
            <a:r>
              <a:rPr sz="1200" spc="-15" dirty="0">
                <a:cs typeface="Microsoft Sans Serif"/>
              </a:rPr>
              <a:t>Intent</a:t>
            </a:r>
            <a:r>
              <a:rPr sz="1200" spc="35" dirty="0">
                <a:cs typeface="Microsoft Sans Serif"/>
              </a:rPr>
              <a:t> </a:t>
            </a:r>
            <a:r>
              <a:rPr sz="1200" spc="-45" dirty="0">
                <a:cs typeface="Microsoft Sans Serif"/>
              </a:rPr>
              <a:t>detection</a:t>
            </a:r>
            <a:endParaRPr sz="1200" dirty="0">
              <a:cs typeface="Microsoft Sans Serif"/>
            </a:endParaRPr>
          </a:p>
          <a:p>
            <a:pPr marL="302247" indent="-148584">
              <a:spcBef>
                <a:spcPts val="334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302882" algn="l"/>
              </a:tabLst>
            </a:pPr>
            <a:r>
              <a:rPr sz="1200" spc="-85" dirty="0">
                <a:cs typeface="Microsoft Sans Serif"/>
              </a:rPr>
              <a:t>Spam</a:t>
            </a:r>
            <a:r>
              <a:rPr sz="1200" spc="15" dirty="0">
                <a:cs typeface="Microsoft Sans Serif"/>
              </a:rPr>
              <a:t> </a:t>
            </a:r>
            <a:r>
              <a:rPr sz="1200" spc="-15" dirty="0">
                <a:cs typeface="Microsoft Sans Serif"/>
              </a:rPr>
              <a:t>filtering</a:t>
            </a:r>
            <a:endParaRPr sz="1200" dirty="0">
              <a:cs typeface="Microsoft Sans Serif"/>
            </a:endParaRPr>
          </a:p>
          <a:p>
            <a:pPr marL="302247" indent="-148584">
              <a:spcBef>
                <a:spcPts val="330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302882" algn="l"/>
              </a:tabLst>
            </a:pPr>
            <a:r>
              <a:rPr sz="1200" spc="-45" dirty="0">
                <a:cs typeface="Microsoft Sans Serif"/>
              </a:rPr>
              <a:t>Topic</a:t>
            </a:r>
            <a:r>
              <a:rPr sz="1200" spc="35" dirty="0">
                <a:cs typeface="Microsoft Sans Serif"/>
              </a:rPr>
              <a:t> </a:t>
            </a:r>
            <a:r>
              <a:rPr sz="1200" spc="-50" dirty="0">
                <a:cs typeface="Microsoft Sans Serif"/>
              </a:rPr>
              <a:t>classification</a:t>
            </a:r>
            <a:endParaRPr sz="1200" dirty="0">
              <a:cs typeface="Microsoft Sans Serif"/>
            </a:endParaRPr>
          </a:p>
          <a:p>
            <a:pPr marL="25399">
              <a:spcBef>
                <a:spcPts val="655"/>
              </a:spcBef>
            </a:pPr>
            <a:r>
              <a:rPr sz="1200" b="1" spc="-65" dirty="0">
                <a:cs typeface="Arial"/>
              </a:rPr>
              <a:t>Sequence</a:t>
            </a:r>
            <a:r>
              <a:rPr sz="1200" b="1" spc="65" dirty="0">
                <a:cs typeface="Arial"/>
              </a:rPr>
              <a:t> </a:t>
            </a:r>
            <a:r>
              <a:rPr sz="1200" b="1" spc="-45" dirty="0">
                <a:cs typeface="Arial"/>
              </a:rPr>
              <a:t>labelling</a:t>
            </a:r>
            <a:endParaRPr lang="en-US" sz="1200" dirty="0">
              <a:cs typeface="Arial"/>
            </a:endParaRPr>
          </a:p>
          <a:p>
            <a:pPr marL="302247" indent="-148584">
              <a:spcBef>
                <a:spcPts val="33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302882" algn="l"/>
              </a:tabLst>
            </a:pPr>
            <a:r>
              <a:rPr lang="en-US" sz="1200" spc="-80" dirty="0">
                <a:cs typeface="Microsoft Sans Serif"/>
              </a:rPr>
              <a:t>Named</a:t>
            </a:r>
            <a:r>
              <a:rPr lang="en-US" sz="1200" spc="45" dirty="0">
                <a:cs typeface="Microsoft Sans Serif"/>
              </a:rPr>
              <a:t> </a:t>
            </a:r>
            <a:r>
              <a:rPr lang="en-US" sz="1200" spc="-20" dirty="0">
                <a:cs typeface="Microsoft Sans Serif"/>
              </a:rPr>
              <a:t>entity</a:t>
            </a:r>
            <a:r>
              <a:rPr lang="en-US" sz="1200" spc="45" dirty="0">
                <a:cs typeface="Microsoft Sans Serif"/>
              </a:rPr>
              <a:t> </a:t>
            </a:r>
            <a:r>
              <a:rPr lang="en-US" sz="1200" spc="-40" dirty="0">
                <a:cs typeface="Microsoft Sans Serif"/>
              </a:rPr>
              <a:t>recognition</a:t>
            </a:r>
            <a:endParaRPr lang="en-US" sz="1200" dirty="0">
              <a:cs typeface="Microsoft Sans Serif"/>
            </a:endParaRPr>
          </a:p>
          <a:p>
            <a:pPr marL="302247" indent="-148584">
              <a:spcBef>
                <a:spcPts val="33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302882" algn="l"/>
              </a:tabLst>
            </a:pPr>
            <a:r>
              <a:rPr sz="1200" spc="-75" dirty="0">
                <a:cs typeface="Microsoft Sans Serif"/>
              </a:rPr>
              <a:t>Coreference</a:t>
            </a:r>
            <a:r>
              <a:rPr sz="1200" spc="40" dirty="0">
                <a:cs typeface="Microsoft Sans Serif"/>
              </a:rPr>
              <a:t> </a:t>
            </a:r>
            <a:r>
              <a:rPr sz="1200" spc="-45" dirty="0">
                <a:cs typeface="Microsoft Sans Serif"/>
              </a:rPr>
              <a:t>resolution</a:t>
            </a:r>
            <a:endParaRPr sz="1200" dirty="0">
              <a:cs typeface="Microsoft Sans Serif"/>
            </a:endParaRPr>
          </a:p>
          <a:p>
            <a:pPr marL="25399" marR="171442">
              <a:lnSpc>
                <a:spcPct val="102600"/>
              </a:lnSpc>
              <a:spcBef>
                <a:spcPts val="405"/>
              </a:spcBef>
            </a:pPr>
            <a:r>
              <a:rPr sz="1200" b="1" spc="-65" dirty="0">
                <a:cs typeface="Arial"/>
              </a:rPr>
              <a:t>Sequence</a:t>
            </a:r>
            <a:r>
              <a:rPr sz="1200" b="1" spc="75" dirty="0">
                <a:cs typeface="Arial"/>
              </a:rPr>
              <a:t> </a:t>
            </a:r>
            <a:r>
              <a:rPr sz="1200" b="1" spc="-40" dirty="0">
                <a:cs typeface="Arial"/>
              </a:rPr>
              <a:t>transformation </a:t>
            </a:r>
            <a:r>
              <a:rPr sz="1200" b="1" spc="-290" dirty="0">
                <a:cs typeface="Arial"/>
              </a:rPr>
              <a:t> </a:t>
            </a:r>
            <a:r>
              <a:rPr sz="1200" b="1" spc="-40" dirty="0">
                <a:cs typeface="Arial"/>
              </a:rPr>
              <a:t>(seq2seq)</a:t>
            </a:r>
            <a:endParaRPr sz="1200" dirty="0">
              <a:cs typeface="Arial"/>
            </a:endParaRPr>
          </a:p>
          <a:p>
            <a:pPr marL="302247" indent="-148584">
              <a:spcBef>
                <a:spcPts val="33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302882" algn="l"/>
              </a:tabLst>
            </a:pPr>
            <a:r>
              <a:rPr sz="1200" spc="-60" dirty="0">
                <a:cs typeface="Microsoft Sans Serif"/>
              </a:rPr>
              <a:t>Machine</a:t>
            </a:r>
            <a:r>
              <a:rPr sz="1200" spc="5" dirty="0">
                <a:cs typeface="Microsoft Sans Serif"/>
              </a:rPr>
              <a:t> </a:t>
            </a:r>
            <a:r>
              <a:rPr sz="1200" spc="-35" dirty="0">
                <a:cs typeface="Microsoft Sans Serif"/>
              </a:rPr>
              <a:t>translation</a:t>
            </a:r>
            <a:endParaRPr sz="1200" dirty="0">
              <a:cs typeface="Microsoft Sans Serif"/>
            </a:endParaRPr>
          </a:p>
          <a:p>
            <a:pPr marL="302247" indent="-148584">
              <a:spcBef>
                <a:spcPts val="33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302882" algn="l"/>
              </a:tabLst>
            </a:pPr>
            <a:r>
              <a:rPr sz="1200" spc="-60" dirty="0">
                <a:cs typeface="Microsoft Sans Serif"/>
              </a:rPr>
              <a:t>Question</a:t>
            </a:r>
            <a:r>
              <a:rPr sz="1200" spc="40" dirty="0">
                <a:cs typeface="Microsoft Sans Serif"/>
              </a:rPr>
              <a:t> </a:t>
            </a:r>
            <a:r>
              <a:rPr sz="1200" spc="-75" dirty="0">
                <a:cs typeface="Microsoft Sans Serif"/>
              </a:rPr>
              <a:t>answering</a:t>
            </a:r>
            <a:endParaRPr sz="1200" dirty="0"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6102" y="282575"/>
            <a:ext cx="1953842" cy="9748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6102" y="1257426"/>
            <a:ext cx="1953842" cy="8889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1231" y="2232277"/>
            <a:ext cx="1948713" cy="6480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28975" y="3330575"/>
            <a:ext cx="281368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10" dirty="0">
                <a:latin typeface="Lucida Sans Unicode"/>
                <a:cs typeface="Lucida Sans Unicode"/>
              </a:rPr>
              <a:t>Image</a:t>
            </a:r>
            <a:r>
              <a:rPr sz="600" spc="65" dirty="0">
                <a:latin typeface="Lucida Sans Unicode"/>
                <a:cs typeface="Lucida Sans Unicode"/>
              </a:rPr>
              <a:t> </a:t>
            </a:r>
            <a:r>
              <a:rPr sz="600" spc="-15" dirty="0">
                <a:latin typeface="Lucida Sans Unicode"/>
                <a:cs typeface="Lucida Sans Unicode"/>
              </a:rPr>
              <a:t>sources:</a:t>
            </a:r>
            <a:r>
              <a:rPr sz="600" spc="70" dirty="0">
                <a:latin typeface="Lucida Sans Unicode"/>
                <a:cs typeface="Lucida Sans Unicode"/>
              </a:rPr>
              <a:t> </a:t>
            </a:r>
            <a:r>
              <a:rPr sz="600" spc="-15" dirty="0">
                <a:latin typeface="Lucida Sans Unicode"/>
                <a:cs typeface="Lucida Sans Unicode"/>
                <a:hlinkClick r:id="rId5"/>
              </a:rPr>
              <a:t>developers.google.com,</a:t>
            </a:r>
            <a:r>
              <a:rPr sz="600" spc="70" dirty="0">
                <a:latin typeface="Lucida Sans Unicode"/>
                <a:cs typeface="Lucida Sans Unicode"/>
                <a:hlinkClick r:id="rId5"/>
              </a:rPr>
              <a:t> </a:t>
            </a:r>
            <a:r>
              <a:rPr sz="600" spc="-15" dirty="0">
                <a:latin typeface="Lucida Sans Unicode"/>
                <a:cs typeface="Lucida Sans Unicode"/>
                <a:hlinkClick r:id="rId6"/>
              </a:rPr>
              <a:t>towardsdatascience.com,</a:t>
            </a:r>
            <a:r>
              <a:rPr sz="600" spc="70" dirty="0">
                <a:latin typeface="Lucida Sans Unicode"/>
                <a:cs typeface="Lucida Sans Unicode"/>
                <a:hlinkClick r:id="rId6"/>
              </a:rPr>
              <a:t> </a:t>
            </a:r>
            <a:r>
              <a:rPr sz="600" spc="-5" dirty="0">
                <a:latin typeface="Lucida Sans Unicode"/>
                <a:cs typeface="Lucida Sans Unicode"/>
                <a:hlinkClick r:id="rId7" action="ppaction://hlinksldjump"/>
              </a:rPr>
              <a:t>statmt.o</a:t>
            </a:r>
            <a:r>
              <a:rPr sz="600" spc="-5" dirty="0">
                <a:latin typeface="Lucida Sans Unicode"/>
                <a:cs typeface="Lucida Sans Unicode"/>
                <a:hlinkClick r:id="rId8" action="ppaction://hlinksldjump"/>
              </a:rPr>
              <a:t>rg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579" y="196391"/>
            <a:ext cx="2963796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105" dirty="0"/>
              <a:t>Phenomena</a:t>
            </a:r>
            <a:r>
              <a:rPr spc="35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90" dirty="0"/>
              <a:t>handle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7579" y="815975"/>
            <a:ext cx="2861945" cy="157927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8587" indent="-176523">
              <a:spcBef>
                <a:spcPts val="434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50" dirty="0">
                <a:cs typeface="Microsoft Sans Serif"/>
              </a:rPr>
              <a:t>Tokenization</a:t>
            </a:r>
            <a:r>
              <a:rPr sz="1200" spc="75" dirty="0">
                <a:cs typeface="Microsoft Sans Serif"/>
              </a:rPr>
              <a:t> </a:t>
            </a:r>
            <a:r>
              <a:rPr sz="1200" spc="-70" dirty="0">
                <a:cs typeface="Microsoft Sans Serif"/>
              </a:rPr>
              <a:t>and</a:t>
            </a:r>
            <a:r>
              <a:rPr sz="1200" spc="75" dirty="0">
                <a:cs typeface="Microsoft Sans Serif"/>
              </a:rPr>
              <a:t> </a:t>
            </a:r>
            <a:r>
              <a:rPr sz="1200" spc="-85" dirty="0">
                <a:cs typeface="Microsoft Sans Serif"/>
              </a:rPr>
              <a:t>sentence</a:t>
            </a:r>
            <a:r>
              <a:rPr sz="1200" spc="75" dirty="0">
                <a:cs typeface="Microsoft Sans Serif"/>
              </a:rPr>
              <a:t> </a:t>
            </a:r>
            <a:r>
              <a:rPr sz="1200" spc="-60" dirty="0">
                <a:cs typeface="Microsoft Sans Serif"/>
              </a:rPr>
              <a:t>boundary</a:t>
            </a:r>
            <a:r>
              <a:rPr sz="1200" spc="75" dirty="0">
                <a:cs typeface="Microsoft Sans Serif"/>
              </a:rPr>
              <a:t> </a:t>
            </a:r>
            <a:r>
              <a:rPr sz="1200" spc="-45" dirty="0">
                <a:cs typeface="Microsoft Sans Serif"/>
              </a:rPr>
              <a:t>detection</a:t>
            </a:r>
            <a:endParaRPr sz="1200" dirty="0">
              <a:cs typeface="Microsoft Sans Serif"/>
            </a:endParaRPr>
          </a:p>
          <a:p>
            <a:pPr marL="188587" indent="-176523"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45" dirty="0">
                <a:cs typeface="Microsoft Sans Serif"/>
              </a:rPr>
              <a:t>Morphology</a:t>
            </a:r>
            <a:endParaRPr sz="1200" dirty="0">
              <a:cs typeface="Microsoft Sans Serif"/>
            </a:endParaRPr>
          </a:p>
          <a:p>
            <a:pPr marL="188587" indent="-176523"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50" dirty="0">
                <a:cs typeface="Microsoft Sans Serif"/>
              </a:rPr>
              <a:t>Syntax</a:t>
            </a:r>
            <a:endParaRPr sz="1200" dirty="0">
              <a:cs typeface="Microsoft Sans Serif"/>
            </a:endParaRPr>
          </a:p>
          <a:p>
            <a:pPr marL="188587" indent="-176523"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65" dirty="0">
                <a:cs typeface="Microsoft Sans Serif"/>
              </a:rPr>
              <a:t>Semantics</a:t>
            </a:r>
            <a:endParaRPr sz="1200" dirty="0">
              <a:cs typeface="Microsoft Sans Serif"/>
            </a:endParaRPr>
          </a:p>
          <a:p>
            <a:pPr marL="188587" indent="-176523"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75" dirty="0">
                <a:cs typeface="Microsoft Sans Serif"/>
              </a:rPr>
              <a:t>Discourse</a:t>
            </a:r>
            <a:endParaRPr sz="1200" dirty="0">
              <a:cs typeface="Microsoft Sans Serif"/>
            </a:endParaRPr>
          </a:p>
          <a:p>
            <a:pPr marL="188587" indent="-176523"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50" dirty="0">
                <a:cs typeface="Microsoft Sans Serif"/>
              </a:rPr>
              <a:t>Pragmatics</a:t>
            </a:r>
            <a:endParaRPr sz="1200" dirty="0">
              <a:cs typeface="Microsoft Sans Serif"/>
            </a:endParaRPr>
          </a:p>
          <a:p>
            <a:pPr marL="188587" indent="-176523"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20" dirty="0">
                <a:cs typeface="Microsoft Sans Serif"/>
              </a:rPr>
              <a:t>Multilinguality</a:t>
            </a:r>
            <a:endParaRPr sz="120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406" y="130175"/>
            <a:ext cx="1676347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35" dirty="0"/>
              <a:t>Ambigui</a:t>
            </a:r>
            <a:r>
              <a:rPr spc="-55" dirty="0"/>
              <a:t>t</a:t>
            </a:r>
            <a:r>
              <a:rPr spc="-75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775" y="968375"/>
            <a:ext cx="3761104" cy="86914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8587" indent="-176523">
              <a:spcBef>
                <a:spcPts val="434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80" dirty="0">
                <a:cs typeface="Microsoft Sans Serif"/>
              </a:rPr>
              <a:t>Polysemy</a:t>
            </a:r>
            <a:r>
              <a:rPr sz="1200" spc="70" dirty="0">
                <a:cs typeface="Microsoft Sans Serif"/>
              </a:rPr>
              <a:t> </a:t>
            </a:r>
            <a:r>
              <a:rPr sz="1200" spc="-70" dirty="0">
                <a:cs typeface="Microsoft Sans Serif"/>
              </a:rPr>
              <a:t>and</a:t>
            </a:r>
            <a:r>
              <a:rPr sz="1200" spc="70" dirty="0">
                <a:cs typeface="Microsoft Sans Serif"/>
              </a:rPr>
              <a:t> </a:t>
            </a:r>
            <a:r>
              <a:rPr sz="1200" spc="-85" dirty="0">
                <a:cs typeface="Microsoft Sans Serif"/>
              </a:rPr>
              <a:t>word-sense</a:t>
            </a:r>
            <a:r>
              <a:rPr sz="1200" spc="75" dirty="0">
                <a:cs typeface="Microsoft Sans Serif"/>
              </a:rPr>
              <a:t> </a:t>
            </a:r>
            <a:r>
              <a:rPr sz="1200" spc="-50" dirty="0">
                <a:cs typeface="Microsoft Sans Serif"/>
              </a:rPr>
              <a:t>disambiguation:</a:t>
            </a:r>
            <a:r>
              <a:rPr sz="1200" spc="70" dirty="0">
                <a:cs typeface="Microsoft Sans Serif"/>
              </a:rPr>
              <a:t> </a:t>
            </a:r>
            <a:r>
              <a:rPr sz="1200" spc="-50" dirty="0">
                <a:cs typeface="Microsoft Sans Serif"/>
              </a:rPr>
              <a:t>орган,</a:t>
            </a:r>
            <a:r>
              <a:rPr sz="1200" spc="75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bank</a:t>
            </a:r>
            <a:endParaRPr sz="1200" dirty="0">
              <a:cs typeface="Microsoft Sans Serif"/>
            </a:endParaRPr>
          </a:p>
          <a:p>
            <a:pPr marL="188587" indent="-176523"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55" dirty="0">
                <a:cs typeface="Microsoft Sans Serif"/>
              </a:rPr>
              <a:t>Homonymy:</a:t>
            </a:r>
            <a:r>
              <a:rPr sz="1200" spc="55" dirty="0">
                <a:cs typeface="Microsoft Sans Serif"/>
              </a:rPr>
              <a:t> </a:t>
            </a:r>
            <a:r>
              <a:rPr sz="1200" spc="-40" dirty="0">
                <a:cs typeface="Microsoft Sans Serif"/>
              </a:rPr>
              <a:t>the</a:t>
            </a:r>
            <a:r>
              <a:rPr sz="1200" spc="60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ship</a:t>
            </a:r>
            <a:r>
              <a:rPr sz="1200" spc="55" dirty="0">
                <a:cs typeface="Microsoft Sans Serif"/>
              </a:rPr>
              <a:t> </a:t>
            </a:r>
            <a:r>
              <a:rPr sz="1200" spc="-55" dirty="0">
                <a:cs typeface="Microsoft Sans Serif"/>
              </a:rPr>
              <a:t>or</a:t>
            </a:r>
            <a:r>
              <a:rPr sz="1200" spc="6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to</a:t>
            </a:r>
            <a:r>
              <a:rPr sz="1200" spc="55" dirty="0">
                <a:cs typeface="Microsoft Sans Serif"/>
              </a:rPr>
              <a:t> </a:t>
            </a:r>
            <a:r>
              <a:rPr sz="1200" spc="-55" dirty="0">
                <a:cs typeface="Microsoft Sans Serif"/>
              </a:rPr>
              <a:t>ship,</a:t>
            </a:r>
            <a:r>
              <a:rPr sz="1200" spc="60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стекло</a:t>
            </a:r>
            <a:endParaRPr sz="1200" dirty="0">
              <a:cs typeface="Microsoft Sans Serif"/>
            </a:endParaRPr>
          </a:p>
          <a:p>
            <a:pPr marL="188587" marR="5080" indent="-176523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35" dirty="0">
                <a:cs typeface="Microsoft Sans Serif"/>
              </a:rPr>
              <a:t>Syntactic</a:t>
            </a:r>
            <a:r>
              <a:rPr sz="1200" spc="65" dirty="0">
                <a:cs typeface="Microsoft Sans Serif"/>
              </a:rPr>
              <a:t> </a:t>
            </a:r>
            <a:r>
              <a:rPr sz="1200" spc="-35" dirty="0">
                <a:cs typeface="Microsoft Sans Serif"/>
              </a:rPr>
              <a:t>ambiguity:</a:t>
            </a:r>
            <a:r>
              <a:rPr sz="1200" spc="70" dirty="0">
                <a:cs typeface="Microsoft Sans Serif"/>
              </a:rPr>
              <a:t> </a:t>
            </a:r>
            <a:r>
              <a:rPr sz="1200" spc="-55" dirty="0">
                <a:cs typeface="Microsoft Sans Serif"/>
              </a:rPr>
              <a:t>John</a:t>
            </a:r>
            <a:r>
              <a:rPr sz="1200" spc="70" dirty="0">
                <a:cs typeface="Microsoft Sans Serif"/>
              </a:rPr>
              <a:t> </a:t>
            </a:r>
            <a:r>
              <a:rPr sz="1200" spc="-110" dirty="0">
                <a:cs typeface="Microsoft Sans Serif"/>
              </a:rPr>
              <a:t>saw</a:t>
            </a:r>
            <a:r>
              <a:rPr sz="1200" spc="-105" dirty="0">
                <a:cs typeface="Microsoft Sans Serif"/>
              </a:rPr>
              <a:t> </a:t>
            </a:r>
            <a:r>
              <a:rPr sz="1200" spc="-40" dirty="0">
                <a:cs typeface="Microsoft Sans Serif"/>
              </a:rPr>
              <a:t>the</a:t>
            </a:r>
            <a:r>
              <a:rPr sz="1200" spc="65" dirty="0">
                <a:cs typeface="Microsoft Sans Serif"/>
              </a:rPr>
              <a:t> </a:t>
            </a:r>
            <a:r>
              <a:rPr sz="1200" spc="-75" dirty="0">
                <a:cs typeface="Microsoft Sans Serif"/>
              </a:rPr>
              <a:t>man</a:t>
            </a:r>
            <a:r>
              <a:rPr sz="1200" spc="70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on</a:t>
            </a:r>
            <a:r>
              <a:rPr sz="1200" spc="70" dirty="0">
                <a:cs typeface="Microsoft Sans Serif"/>
              </a:rPr>
              <a:t> </a:t>
            </a:r>
            <a:r>
              <a:rPr sz="1200" spc="-40" dirty="0">
                <a:cs typeface="Microsoft Sans Serif"/>
              </a:rPr>
              <a:t>the</a:t>
            </a:r>
            <a:r>
              <a:rPr sz="1200" spc="65" dirty="0">
                <a:cs typeface="Microsoft Sans Serif"/>
              </a:rPr>
              <a:t> </a:t>
            </a:r>
            <a:r>
              <a:rPr sz="1200" spc="-45" dirty="0">
                <a:cs typeface="Microsoft Sans Serif"/>
              </a:rPr>
              <a:t>mountain</a:t>
            </a:r>
            <a:r>
              <a:rPr sz="1200" spc="70" dirty="0">
                <a:cs typeface="Microsoft Sans Serif"/>
              </a:rPr>
              <a:t> </a:t>
            </a:r>
            <a:r>
              <a:rPr sz="1200" spc="-5" dirty="0">
                <a:cs typeface="Microsoft Sans Serif"/>
              </a:rPr>
              <a:t>with </a:t>
            </a:r>
            <a:r>
              <a:rPr sz="1200" spc="-280" dirty="0">
                <a:cs typeface="Microsoft Sans Serif"/>
              </a:rPr>
              <a:t> </a:t>
            </a:r>
            <a:r>
              <a:rPr sz="1200" spc="-95" dirty="0">
                <a:cs typeface="Microsoft Sans Serif"/>
              </a:rPr>
              <a:t>a</a:t>
            </a:r>
            <a:r>
              <a:rPr sz="1200" spc="60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telescope.</a:t>
            </a:r>
            <a:endParaRPr sz="120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575" y="130175"/>
            <a:ext cx="3569539" cy="4571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spcBef>
                <a:spcPts val="484"/>
              </a:spcBef>
            </a:pPr>
            <a:r>
              <a:rPr sz="1200" spc="-45" dirty="0">
                <a:solidFill>
                  <a:srgbClr val="3333B2"/>
                </a:solidFill>
                <a:cs typeface="Arial MT"/>
              </a:rPr>
              <a:t>Syntactic</a:t>
            </a:r>
            <a:r>
              <a:rPr sz="1200" spc="5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55" dirty="0">
                <a:solidFill>
                  <a:srgbClr val="3333B2"/>
                </a:solidFill>
                <a:cs typeface="Arial MT"/>
              </a:rPr>
              <a:t>ambiguity</a:t>
            </a:r>
            <a:endParaRPr sz="1200" dirty="0">
              <a:cs typeface="Arial MT"/>
            </a:endParaRPr>
          </a:p>
          <a:p>
            <a:pPr marL="12700">
              <a:spcBef>
                <a:spcPts val="225"/>
              </a:spcBef>
            </a:pPr>
            <a:r>
              <a:rPr sz="1200" spc="-30" dirty="0">
                <a:solidFill>
                  <a:srgbClr val="3333B2"/>
                </a:solidFill>
                <a:cs typeface="Arial MT"/>
              </a:rPr>
              <a:t>John</a:t>
            </a:r>
            <a:r>
              <a:rPr sz="1200" spc="55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70" dirty="0">
                <a:solidFill>
                  <a:srgbClr val="3333B2"/>
                </a:solidFill>
                <a:cs typeface="Arial MT"/>
              </a:rPr>
              <a:t>saw</a:t>
            </a:r>
            <a:r>
              <a:rPr sz="1200" spc="55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15" dirty="0">
                <a:solidFill>
                  <a:srgbClr val="3333B2"/>
                </a:solidFill>
                <a:cs typeface="Arial MT"/>
              </a:rPr>
              <a:t>the</a:t>
            </a:r>
            <a:r>
              <a:rPr sz="1200" spc="60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35" dirty="0">
                <a:solidFill>
                  <a:srgbClr val="3333B2"/>
                </a:solidFill>
                <a:cs typeface="Arial MT"/>
              </a:rPr>
              <a:t>man</a:t>
            </a:r>
            <a:r>
              <a:rPr sz="1200" spc="55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35" dirty="0">
                <a:solidFill>
                  <a:srgbClr val="3333B2"/>
                </a:solidFill>
                <a:cs typeface="Arial MT"/>
              </a:rPr>
              <a:t>on</a:t>
            </a:r>
            <a:r>
              <a:rPr sz="1200" spc="55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15" dirty="0">
                <a:solidFill>
                  <a:srgbClr val="3333B2"/>
                </a:solidFill>
                <a:cs typeface="Arial MT"/>
              </a:rPr>
              <a:t>the</a:t>
            </a:r>
            <a:r>
              <a:rPr sz="1200" spc="55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15" dirty="0">
                <a:solidFill>
                  <a:srgbClr val="3333B2"/>
                </a:solidFill>
                <a:cs typeface="Arial MT"/>
              </a:rPr>
              <a:t>mountain</a:t>
            </a:r>
            <a:r>
              <a:rPr sz="1200" spc="60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10" dirty="0">
                <a:solidFill>
                  <a:srgbClr val="3333B2"/>
                </a:solidFill>
                <a:cs typeface="Arial MT"/>
              </a:rPr>
              <a:t>with</a:t>
            </a:r>
            <a:r>
              <a:rPr sz="1200" spc="55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60" dirty="0">
                <a:solidFill>
                  <a:srgbClr val="3333B2"/>
                </a:solidFill>
                <a:cs typeface="Arial MT"/>
              </a:rPr>
              <a:t>a</a:t>
            </a:r>
            <a:r>
              <a:rPr sz="1200" spc="55" dirty="0">
                <a:solidFill>
                  <a:srgbClr val="3333B2"/>
                </a:solidFill>
                <a:cs typeface="Arial MT"/>
              </a:rPr>
              <a:t> </a:t>
            </a:r>
            <a:r>
              <a:rPr sz="1200" spc="-40" dirty="0">
                <a:solidFill>
                  <a:srgbClr val="3333B2"/>
                </a:solidFill>
                <a:cs typeface="Arial MT"/>
              </a:rPr>
              <a:t>telescope</a:t>
            </a:r>
            <a:endParaRPr sz="1200" dirty="0"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732" y="694425"/>
            <a:ext cx="2721635" cy="2573182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045" y="130175"/>
            <a:ext cx="1371547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45" dirty="0"/>
              <a:t>T</a:t>
            </a:r>
            <a:r>
              <a:rPr spc="-65" dirty="0"/>
              <a:t>o</a:t>
            </a:r>
            <a:r>
              <a:rPr spc="-105" dirty="0"/>
              <a:t>d</a:t>
            </a:r>
            <a:r>
              <a:rPr spc="-140" dirty="0"/>
              <a:t>a</a:t>
            </a:r>
            <a:r>
              <a:rPr spc="-75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5757" y="786270"/>
            <a:ext cx="2316017" cy="20650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spc="-10" dirty="0">
                <a:solidFill>
                  <a:srgbClr val="D6D6EF"/>
                </a:solidFill>
                <a:cs typeface="Microsoft Sans Serif"/>
              </a:rPr>
              <a:t>Intro</a:t>
            </a:r>
            <a:endParaRPr sz="1200" dirty="0">
              <a:cs typeface="Microsoft Sans Serif"/>
            </a:endParaRPr>
          </a:p>
          <a:p>
            <a:pPr marL="12700" marR="899122">
              <a:lnSpc>
                <a:spcPct val="263600"/>
              </a:lnSpc>
            </a:pPr>
            <a:r>
              <a:rPr sz="1200" spc="-20" dirty="0">
                <a:solidFill>
                  <a:srgbClr val="3333B2"/>
                </a:solidFill>
                <a:cs typeface="Microsoft Sans Serif"/>
                <a:hlinkClick r:id="rId2" action="ppaction://hlinksldjump"/>
              </a:rPr>
              <a:t>About </a:t>
            </a:r>
            <a:r>
              <a:rPr sz="1200" spc="-30" dirty="0">
                <a:solidFill>
                  <a:srgbClr val="3333B2"/>
                </a:solidFill>
                <a:cs typeface="Microsoft Sans Serif"/>
                <a:hlinkClick r:id="rId2" action="ppaction://hlinksldjump"/>
              </a:rPr>
              <a:t>this</a:t>
            </a:r>
            <a:r>
              <a:rPr sz="1200" spc="-25" dirty="0">
                <a:solidFill>
                  <a:srgbClr val="3333B2"/>
                </a:solidFill>
                <a:cs typeface="Microsoft Sans Serif"/>
                <a:hlinkClick r:id="rId2" action="ppaction://hlinksldjump"/>
              </a:rPr>
              <a:t> </a:t>
            </a:r>
            <a:r>
              <a:rPr sz="1200" spc="-85" dirty="0">
                <a:solidFill>
                  <a:srgbClr val="3333B2"/>
                </a:solidFill>
                <a:cs typeface="Microsoft Sans Serif"/>
                <a:hlinkClick r:id="rId2" action="ppaction://hlinksldjump"/>
              </a:rPr>
              <a:t>course </a:t>
            </a:r>
            <a:r>
              <a:rPr sz="1200" spc="-80" dirty="0">
                <a:solidFill>
                  <a:srgbClr val="3333B2"/>
                </a:solidFill>
                <a:cs typeface="Microsoft Sans Serif"/>
              </a:rPr>
              <a:t> </a:t>
            </a:r>
            <a:r>
              <a:rPr sz="1200" spc="-70" dirty="0">
                <a:solidFill>
                  <a:srgbClr val="D6D6EF"/>
                </a:solidFill>
                <a:cs typeface="Microsoft Sans Serif"/>
                <a:hlinkClick r:id="rId3" action="ppaction://hlinksldjump"/>
              </a:rPr>
              <a:t>Recent</a:t>
            </a:r>
            <a:r>
              <a:rPr sz="1200" spc="50" dirty="0">
                <a:solidFill>
                  <a:srgbClr val="D6D6EF"/>
                </a:solidFill>
                <a:cs typeface="Microsoft Sans Serif"/>
                <a:hlinkClick r:id="rId3" action="ppaction://hlinksldjump"/>
              </a:rPr>
              <a:t> </a:t>
            </a:r>
            <a:r>
              <a:rPr sz="1200" spc="-55" dirty="0">
                <a:solidFill>
                  <a:srgbClr val="D6D6EF"/>
                </a:solidFill>
                <a:cs typeface="Microsoft Sans Serif"/>
                <a:hlinkClick r:id="rId3" action="ppaction://hlinksldjump"/>
              </a:rPr>
              <a:t>trends</a:t>
            </a:r>
            <a:r>
              <a:rPr sz="1200" spc="55" dirty="0">
                <a:solidFill>
                  <a:srgbClr val="D6D6EF"/>
                </a:solidFill>
                <a:cs typeface="Microsoft Sans Serif"/>
                <a:hlinkClick r:id="rId3" action="ppaction://hlinksldjump"/>
              </a:rPr>
              <a:t> </a:t>
            </a:r>
            <a:r>
              <a:rPr sz="1200" spc="-30" dirty="0">
                <a:solidFill>
                  <a:srgbClr val="D6D6EF"/>
                </a:solidFill>
                <a:cs typeface="Microsoft Sans Serif"/>
                <a:hlinkClick r:id="rId3" action="ppaction://hlinksldjump"/>
              </a:rPr>
              <a:t>in</a:t>
            </a:r>
            <a:r>
              <a:rPr sz="1200" spc="50" dirty="0">
                <a:solidFill>
                  <a:srgbClr val="D6D6EF"/>
                </a:solidFill>
                <a:cs typeface="Microsoft Sans Serif"/>
                <a:hlinkClick r:id="rId3" action="ppaction://hlinksldjump"/>
              </a:rPr>
              <a:t> </a:t>
            </a:r>
            <a:r>
              <a:rPr sz="1200" spc="-40" dirty="0">
                <a:solidFill>
                  <a:srgbClr val="D6D6EF"/>
                </a:solidFill>
                <a:cs typeface="Microsoft Sans Serif"/>
                <a:hlinkClick r:id="rId3" action="ppaction://hlinksldjump"/>
              </a:rPr>
              <a:t>NLP</a:t>
            </a:r>
            <a:endParaRPr sz="1200" dirty="0">
              <a:cs typeface="Microsoft Sans Serif"/>
            </a:endParaRPr>
          </a:p>
          <a:p>
            <a:pPr marL="12700" marR="5080">
              <a:lnSpc>
                <a:spcPct val="263600"/>
              </a:lnSpc>
            </a:pPr>
            <a:r>
              <a:rPr lang="en-US" sz="1200" spc="-75" dirty="0">
                <a:solidFill>
                  <a:srgbClr val="D6D6EF"/>
                </a:solidFill>
                <a:cs typeface="Microsoft Sans Serif"/>
                <a:hlinkClick r:id="rId4" action="ppaction://hlinksldjump"/>
              </a:rPr>
              <a:t>Text preprocessing and explorative analysis</a:t>
            </a:r>
          </a:p>
          <a:p>
            <a:pPr marL="12700" marR="5080">
              <a:lnSpc>
                <a:spcPct val="263600"/>
              </a:lnSpc>
            </a:pPr>
            <a:r>
              <a:rPr lang="en-US" sz="1200" spc="-75" dirty="0">
                <a:solidFill>
                  <a:srgbClr val="D6D6EF"/>
                </a:solidFill>
                <a:cs typeface="Microsoft Sans Serif"/>
                <a:hlinkClick r:id="rId4" action="ppaction://hlinksldjump"/>
              </a:rPr>
              <a:t>P</a:t>
            </a:r>
            <a:r>
              <a:rPr sz="1200" spc="-35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ractice:</a:t>
            </a:r>
            <a:r>
              <a:rPr sz="1200" spc="45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 </a:t>
            </a:r>
            <a:r>
              <a:rPr sz="1200" spc="-35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tools</a:t>
            </a:r>
            <a:r>
              <a:rPr sz="1200" spc="50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 </a:t>
            </a:r>
            <a:r>
              <a:rPr sz="1200" spc="-30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for</a:t>
            </a:r>
            <a:r>
              <a:rPr sz="1200" spc="55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 </a:t>
            </a:r>
            <a:r>
              <a:rPr sz="1200" spc="-75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processing</a:t>
            </a:r>
            <a:r>
              <a:rPr sz="1200" spc="45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 </a:t>
            </a:r>
            <a:r>
              <a:rPr sz="1200" spc="-80" dirty="0">
                <a:solidFill>
                  <a:srgbClr val="D6D6EF"/>
                </a:solidFill>
                <a:cs typeface="Microsoft Sans Serif"/>
                <a:hlinkClick r:id="" action="ppaction://noaction"/>
              </a:rPr>
              <a:t>Russian</a:t>
            </a:r>
            <a:endParaRPr sz="120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771528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66775" y="33266"/>
            <a:ext cx="2514550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5" dirty="0">
                <a:solidFill>
                  <a:srgbClr val="FFFFFF"/>
                </a:solidFill>
                <a:latin typeface="Tahoma"/>
                <a:cs typeface="Tahoma"/>
              </a:rPr>
              <a:t>About </a:t>
            </a:r>
            <a:r>
              <a:rPr spc="-2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65" dirty="0">
                <a:solidFill>
                  <a:srgbClr val="FFFFFF"/>
                </a:solidFill>
                <a:latin typeface="Tahoma"/>
                <a:cs typeface="Tahoma"/>
              </a:rPr>
              <a:t>course</a:t>
            </a: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197" y="905109"/>
            <a:ext cx="114214" cy="11421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023442" y="892175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>
              <a:latin typeface="Microsoft Sans Serif"/>
              <a:cs typeface="Microsoft Sans Serif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26"/>
              <p:cNvSpPr txBox="1"/>
              <p:nvPr/>
            </p:nvSpPr>
            <p:spPr>
              <a:xfrm>
                <a:off x="1121748" y="829495"/>
                <a:ext cx="4899318" cy="1910137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38098">
                  <a:spcBef>
                    <a:spcPts val="434"/>
                  </a:spcBef>
                </a:pPr>
                <a:r>
                  <a:rPr lang="en-US" sz="1100" spc="-40" dirty="0" smtClean="0">
                    <a:cs typeface="Tahoma"/>
                  </a:rPr>
                  <a:t>Lecturer:</a:t>
                </a:r>
                <a:r>
                  <a:rPr lang="en-US" sz="1100" spc="125" dirty="0">
                    <a:cs typeface="Tahoma"/>
                  </a:rPr>
                  <a:t> </a:t>
                </a:r>
                <a:r>
                  <a:rPr lang="en-US" sz="1100" spc="-10" dirty="0">
                    <a:cs typeface="Tahoma"/>
                  </a:rPr>
                  <a:t>Dmitry</a:t>
                </a:r>
                <a:r>
                  <a:rPr lang="en-US" sz="1100" spc="5" dirty="0">
                    <a:cs typeface="Tahoma"/>
                  </a:rPr>
                  <a:t> </a:t>
                </a:r>
                <a:r>
                  <a:rPr lang="en-US" sz="1100" spc="-50" dirty="0">
                    <a:cs typeface="Tahoma"/>
                  </a:rPr>
                  <a:t>Ilvovsky</a:t>
                </a:r>
                <a:endParaRPr lang="en-US" sz="1100" dirty="0">
                  <a:cs typeface="Tahoma"/>
                </a:endParaRPr>
              </a:p>
              <a:p>
                <a:pPr marL="38098" marR="640053">
                  <a:lnSpc>
                    <a:spcPct val="125299"/>
                  </a:lnSpc>
                </a:pPr>
                <a:r>
                  <a:rPr lang="en-US" sz="1100" spc="-55" dirty="0">
                    <a:cs typeface="Tahoma"/>
                  </a:rPr>
                  <a:t>Seminars:</a:t>
                </a:r>
                <a:r>
                  <a:rPr lang="en-US" sz="1100" spc="140" dirty="0">
                    <a:cs typeface="Tahoma"/>
                  </a:rPr>
                  <a:t> </a:t>
                </a:r>
                <a:r>
                  <a:rPr lang="en-US" sz="1100" spc="-10" dirty="0">
                    <a:cs typeface="Tahoma"/>
                  </a:rPr>
                  <a:t>Dmitry</a:t>
                </a:r>
                <a:r>
                  <a:rPr lang="en-US" sz="1100" spc="20" dirty="0">
                    <a:cs typeface="Tahoma"/>
                  </a:rPr>
                  <a:t> </a:t>
                </a:r>
                <a:r>
                  <a:rPr lang="en-US" sz="1100" spc="-60" dirty="0">
                    <a:cs typeface="Tahoma"/>
                  </a:rPr>
                  <a:t>Ilvovsky,</a:t>
                </a:r>
                <a:r>
                  <a:rPr lang="en-US" sz="1100" spc="25" dirty="0">
                    <a:cs typeface="Tahoma"/>
                  </a:rPr>
                  <a:t> </a:t>
                </a:r>
                <a:r>
                  <a:rPr lang="en-US" sz="1100" spc="-15" dirty="0" smtClean="0">
                    <a:cs typeface="Tahoma"/>
                  </a:rPr>
                  <a:t>TBA</a:t>
                </a:r>
                <a:endParaRPr lang="en-US" sz="1100" spc="-25" dirty="0">
                  <a:cs typeface="Tahoma"/>
                </a:endParaRPr>
              </a:p>
              <a:p>
                <a:pPr marL="38098" marR="640053">
                  <a:lnSpc>
                    <a:spcPct val="125299"/>
                  </a:lnSpc>
                </a:pPr>
                <a:r>
                  <a:rPr lang="en-US" sz="1100" spc="-5" dirty="0">
                    <a:cs typeface="Tahoma"/>
                  </a:rPr>
                  <a:t>TA:</a:t>
                </a:r>
                <a:r>
                  <a:rPr lang="en-US" sz="1100" spc="10" dirty="0">
                    <a:cs typeface="Tahoma"/>
                  </a:rPr>
                  <a:t> </a:t>
                </a:r>
                <a:r>
                  <a:rPr lang="en-US" sz="1100" spc="-15" dirty="0" smtClean="0">
                    <a:cs typeface="Tahoma"/>
                  </a:rPr>
                  <a:t>Zhang </a:t>
                </a:r>
                <a:r>
                  <a:rPr lang="en-US" sz="1100" spc="-15" dirty="0" err="1" smtClean="0">
                    <a:cs typeface="Tahoma"/>
                  </a:rPr>
                  <a:t>Zhipeng</a:t>
                </a:r>
                <a:r>
                  <a:rPr lang="en-US" sz="1100" spc="-25" dirty="0" smtClean="0">
                    <a:cs typeface="Tahoma"/>
                  </a:rPr>
                  <a:t>,</a:t>
                </a:r>
                <a:r>
                  <a:rPr lang="en-US" sz="1100" spc="5" dirty="0" smtClean="0">
                    <a:cs typeface="Tahoma"/>
                  </a:rPr>
                  <a:t> </a:t>
                </a:r>
                <a:r>
                  <a:rPr lang="en-US" sz="1100" dirty="0" smtClean="0">
                    <a:hlinkClick r:id="rId4"/>
                  </a:rPr>
                  <a:t>@</a:t>
                </a:r>
                <a:r>
                  <a:rPr lang="en-US" sz="1100" dirty="0" err="1">
                    <a:hlinkClick r:id="rId4"/>
                  </a:rPr>
                  <a:t>zhipeng_zhang</a:t>
                </a:r>
                <a:r>
                  <a:rPr lang="en-US" sz="1100" spc="-60" dirty="0" smtClean="0">
                    <a:cs typeface="Tahoma"/>
                  </a:rPr>
                  <a:t> </a:t>
                </a:r>
                <a:endParaRPr lang="en-US" sz="1100" spc="-60" dirty="0">
                  <a:cs typeface="Tahoma"/>
                </a:endParaRPr>
              </a:p>
              <a:p>
                <a:pPr marL="38098" marR="640053">
                  <a:lnSpc>
                    <a:spcPct val="125299"/>
                  </a:lnSpc>
                </a:pPr>
                <a:r>
                  <a:rPr lang="en-US" sz="1100" spc="-50" dirty="0">
                    <a:cs typeface="Tahoma"/>
                  </a:rPr>
                  <a:t>Repo:</a:t>
                </a:r>
                <a:r>
                  <a:rPr lang="en-US" sz="1100" spc="-45" dirty="0">
                    <a:cs typeface="Tahoma"/>
                  </a:rPr>
                  <a:t> </a:t>
                </a:r>
                <a:r>
                  <a:rPr lang="en-US" sz="1100" spc="-35" dirty="0">
                    <a:solidFill>
                      <a:srgbClr val="FF0000"/>
                    </a:solidFill>
                    <a:cs typeface="Tahoma"/>
                    <a:hlinkClick r:id="rId5"/>
                  </a:rPr>
                  <a:t>https://</a:t>
                </a:r>
                <a:r>
                  <a:rPr lang="en-US" sz="1100" spc="-35" dirty="0" smtClean="0">
                    <a:solidFill>
                      <a:srgbClr val="FF0000"/>
                    </a:solidFill>
                    <a:cs typeface="Tahoma"/>
                    <a:hlinkClick r:id="rId5"/>
                  </a:rPr>
                  <a:t>github.com/Zhipeng-Zhang-work/hse-ami-nlp-course-fall-2026</a:t>
                </a:r>
                <a:endParaRPr lang="en-US" sz="1100" spc="-35" dirty="0" smtClean="0">
                  <a:solidFill>
                    <a:srgbClr val="FF0000"/>
                  </a:solidFill>
                  <a:cs typeface="Tahoma"/>
                </a:endParaRPr>
              </a:p>
              <a:p>
                <a:pPr marL="38098" marR="640053">
                  <a:lnSpc>
                    <a:spcPct val="125299"/>
                  </a:lnSpc>
                </a:pPr>
                <a:r>
                  <a:rPr lang="en-US" sz="1100" spc="-30" dirty="0" smtClean="0">
                    <a:cs typeface="Tahoma"/>
                  </a:rPr>
                  <a:t>Chat</a:t>
                </a:r>
                <a:r>
                  <a:rPr lang="en-US" sz="1100" spc="-30" dirty="0">
                    <a:cs typeface="Tahoma"/>
                  </a:rPr>
                  <a:t>:</a:t>
                </a:r>
                <a:r>
                  <a:rPr lang="en-US" sz="1100" spc="135" dirty="0">
                    <a:cs typeface="Tahoma"/>
                  </a:rPr>
                  <a:t> </a:t>
                </a:r>
                <a:r>
                  <a:rPr lang="en-US" sz="1100" spc="-5" dirty="0" smtClean="0">
                    <a:cs typeface="Tahoma"/>
                  </a:rPr>
                  <a:t>https://t.me</a:t>
                </a:r>
                <a:r>
                  <a:rPr lang="en-US" sz="1100" spc="-5" dirty="0">
                    <a:cs typeface="Tahoma"/>
                  </a:rPr>
                  <a:t>/+</a:t>
                </a:r>
                <a:r>
                  <a:rPr lang="en-US" sz="1100" spc="-5" dirty="0" smtClean="0">
                    <a:cs typeface="Tahoma"/>
                  </a:rPr>
                  <a:t>W6ONbAEXNpoyYzQ6</a:t>
                </a:r>
                <a:endParaRPr lang="en-US" sz="1100" dirty="0">
                  <a:cs typeface="Tahoma"/>
                </a:endParaRPr>
              </a:p>
              <a:p>
                <a:pPr marL="38098">
                  <a:spcBef>
                    <a:spcPts val="334"/>
                  </a:spcBef>
                </a:pPr>
                <a:r>
                  <a:rPr lang="en-US" sz="1100" spc="-10" dirty="0">
                    <a:cs typeface="Tahoma"/>
                  </a:rPr>
                  <a:t>Final</a:t>
                </a:r>
                <a:r>
                  <a:rPr lang="en-US" sz="1100" spc="20" dirty="0">
                    <a:cs typeface="Tahoma"/>
                  </a:rPr>
                  <a:t> </a:t>
                </a:r>
                <a:r>
                  <a:rPr lang="en-US" sz="1100" spc="-70" dirty="0">
                    <a:cs typeface="Tahoma"/>
                  </a:rPr>
                  <a:t>m</a:t>
                </a:r>
                <a:r>
                  <a:rPr lang="en-US" sz="1100" spc="-75" dirty="0">
                    <a:cs typeface="Tahoma"/>
                  </a:rPr>
                  <a:t>a</a:t>
                </a:r>
                <a:r>
                  <a:rPr lang="en-US" sz="1100" spc="-30" dirty="0">
                    <a:cs typeface="Tahoma"/>
                  </a:rPr>
                  <a:t>r</a:t>
                </a:r>
                <a:r>
                  <a:rPr lang="en-US" sz="1100" spc="-55" dirty="0">
                    <a:cs typeface="Tahoma"/>
                  </a:rPr>
                  <a:t>k:</a:t>
                </a:r>
                <a:r>
                  <a:rPr lang="en-US" sz="1100" spc="140" dirty="0"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i="1" spc="140">
                        <a:latin typeface="Cambria Math" panose="02040503050406030204" pitchFamily="18" charset="0"/>
                        <a:cs typeface="Tahoma"/>
                      </a:rPr>
                      <m:t>𝐻</m:t>
                    </m:r>
                    <m:r>
                      <a:rPr lang="en-GB" sz="900" i="1" spc="140">
                        <a:latin typeface="Cambria Math" panose="02040503050406030204" pitchFamily="18" charset="0"/>
                        <a:cs typeface="Tahoma"/>
                      </a:rPr>
                      <m:t>𝑊</m:t>
                    </m:r>
                    <m:r>
                      <a:rPr lang="en-GB" sz="900" i="1" spc="140">
                        <a:latin typeface="Cambria Math" panose="02040503050406030204" pitchFamily="18" charset="0"/>
                        <a:cs typeface="Tahoma"/>
                      </a:rPr>
                      <m:t>=0.3</m:t>
                    </m:r>
                    <m:r>
                      <a:rPr lang="en-GB" sz="900" i="1" spc="140">
                        <a:latin typeface="Cambria Math" panose="02040503050406030204" pitchFamily="18" charset="0"/>
                        <a:cs typeface="Tahoma"/>
                      </a:rPr>
                      <m:t>𝐻</m:t>
                    </m:r>
                    <m:sSub>
                      <m:sSubPr>
                        <m:ctrlPr>
                          <a:rPr lang="en-GB" sz="900" i="1" spc="14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GB" sz="900" i="1" spc="140">
                            <a:latin typeface="Cambria Math" panose="02040503050406030204" pitchFamily="18" charset="0"/>
                            <a:cs typeface="Tahoma"/>
                          </a:rPr>
                          <m:t>𝑊</m:t>
                        </m:r>
                      </m:e>
                      <m:sub>
                        <m:r>
                          <a:rPr lang="en-GB" sz="900" i="1" spc="140"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</m:sub>
                    </m:sSub>
                    <m:r>
                      <a:rPr lang="en-GB" sz="900" i="1" spc="140">
                        <a:latin typeface="Cambria Math" panose="02040503050406030204" pitchFamily="18" charset="0"/>
                        <a:cs typeface="Tahoma"/>
                      </a:rPr>
                      <m:t>+0.</m:t>
                    </m:r>
                    <m:r>
                      <a:rPr lang="en-US" sz="900" b="0" i="1" spc="140" smtClean="0">
                        <a:latin typeface="Cambria Math" panose="02040503050406030204" pitchFamily="18" charset="0"/>
                        <a:cs typeface="Tahoma"/>
                      </a:rPr>
                      <m:t>35</m:t>
                    </m:r>
                    <m:r>
                      <a:rPr lang="en-GB" sz="900" i="1" spc="140">
                        <a:latin typeface="Cambria Math" panose="02040503050406030204" pitchFamily="18" charset="0"/>
                        <a:cs typeface="Tahoma"/>
                      </a:rPr>
                      <m:t>𝐻</m:t>
                    </m:r>
                    <m:sSub>
                      <m:sSubPr>
                        <m:ctrlPr>
                          <a:rPr lang="en-GB" sz="900" i="1" spc="14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GB" sz="900" i="1" spc="140">
                            <a:latin typeface="Cambria Math" panose="02040503050406030204" pitchFamily="18" charset="0"/>
                            <a:cs typeface="Tahoma"/>
                          </a:rPr>
                          <m:t>𝑊</m:t>
                        </m:r>
                      </m:e>
                      <m:sub>
                        <m:r>
                          <a:rPr lang="en-GB" sz="900" i="1" spc="140"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b>
                    </m:sSub>
                    <m:r>
                      <a:rPr lang="en-US" sz="900" b="0" i="1" spc="140" smtClean="0"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GB" sz="900" i="1" spc="140">
                        <a:latin typeface="Cambria Math" panose="02040503050406030204" pitchFamily="18" charset="0"/>
                        <a:cs typeface="Tahoma"/>
                      </a:rPr>
                      <m:t>0.</m:t>
                    </m:r>
                    <m:r>
                      <a:rPr lang="en-US" sz="900" b="0" i="1" spc="140" smtClean="0">
                        <a:latin typeface="Cambria Math" panose="02040503050406030204" pitchFamily="18" charset="0"/>
                        <a:cs typeface="Tahoma"/>
                      </a:rPr>
                      <m:t>35</m:t>
                    </m:r>
                    <m:r>
                      <a:rPr lang="en-GB" sz="900" i="1" spc="140">
                        <a:latin typeface="Cambria Math" panose="02040503050406030204" pitchFamily="18" charset="0"/>
                        <a:cs typeface="Tahoma"/>
                      </a:rPr>
                      <m:t>𝐻</m:t>
                    </m:r>
                    <m:sSub>
                      <m:sSubPr>
                        <m:ctrlPr>
                          <a:rPr lang="en-GB" sz="900" i="1" spc="14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GB" sz="900" i="1" spc="140">
                            <a:latin typeface="Cambria Math" panose="02040503050406030204" pitchFamily="18" charset="0"/>
                            <a:cs typeface="Tahoma"/>
                          </a:rPr>
                          <m:t>𝑊</m:t>
                        </m:r>
                      </m:e>
                      <m:sub>
                        <m:r>
                          <a:rPr lang="en-US" sz="900" b="0" i="1" spc="140" smtClean="0"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</m:sub>
                    </m:sSub>
                  </m:oMath>
                </a14:m>
                <a:endParaRPr lang="en-US" sz="1100" spc="140" dirty="0">
                  <a:latin typeface="Tahoma"/>
                  <a:cs typeface="Tahoma"/>
                </a:endParaRPr>
              </a:p>
              <a:p>
                <a:pPr marL="38098">
                  <a:spcBef>
                    <a:spcPts val="30"/>
                  </a:spcBef>
                </a:pPr>
                <a14:m>
                  <m:oMath xmlns:m="http://schemas.openxmlformats.org/officeDocument/2006/math"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𝑆𝐸𝑀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𝑟𝑜𝑢𝑛𝑑</m:t>
                    </m:r>
                    <m:d>
                      <m:dPr>
                        <m:ctrlP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  <m:t>0.5</m:t>
                        </m:r>
                        <m: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  <m:t>𝐻𝑊</m:t>
                        </m:r>
                        <m: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  <m:t>+0.2</m:t>
                        </m:r>
                        <m: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  <m:t>𝑃𝑟𝑜𝑗𝑒𝑐𝑡</m:t>
                        </m:r>
                        <m: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  <m:t>+0.3</m:t>
                        </m:r>
                        <m: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  <m:t>𝐴𝑡𝑡𝑒𝑛𝑑𝑎𝑛𝑐𝑒</m:t>
                        </m:r>
                      </m:e>
                    </m:d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, 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𝐴𝑡𝑡𝑒𝑛𝑑𝑎𝑛𝑐𝑒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=10∗</m:t>
                    </m:r>
                    <m:sSub>
                      <m:sSubPr>
                        <m:ctrlP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  <m:t>𝑁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  <m:t>𝑣𝑖𝑠𝑖𝑡𝑒𝑑</m:t>
                            </m:r>
                            <m: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  <m:t> &amp; </m:t>
                            </m:r>
                            <m: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  <m:t>𝑎𝑐𝑡𝑖𝑣𝑒𝑙𝑦</m:t>
                            </m:r>
                            <m: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  <m:t> </m:t>
                            </m:r>
                            <m: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  <m:t>𝑝𝑎𝑟𝑡𝑖𝑐𝑖𝑝𝑎𝑡𝑒𝑑</m:t>
                            </m:r>
                          </m:e>
                        </m:d>
                      </m:sub>
                    </m:sSub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/</m:t>
                    </m:r>
                    <m:sSub>
                      <m:sSubPr>
                        <m:ctrlP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GB" sz="900" i="1" spc="-20">
                            <a:latin typeface="Cambria Math" panose="02040503050406030204" pitchFamily="18" charset="0"/>
                            <a:cs typeface="Arial"/>
                          </a:rPr>
                          <m:t>𝑁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  <m:t>𝑙𝑒𝑐𝑡𝑢𝑟𝑒𝑠</m:t>
                            </m:r>
                            <m: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  <m:t> &amp; </m:t>
                            </m:r>
                            <m:r>
                              <a:rPr lang="en-GB" sz="900" i="1" spc="-20">
                                <a:latin typeface="Cambria Math" panose="02040503050406030204" pitchFamily="18" charset="0"/>
                                <a:cs typeface="Arial"/>
                              </a:rPr>
                              <m:t>𝑠𝑒𝑚𝑖𝑛𝑎𝑟𝑠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900" i="1" spc="-20" dirty="0">
                    <a:latin typeface="Arial"/>
                    <a:cs typeface="Arial"/>
                  </a:rPr>
                  <a:t>, if SEM&gt;=8 &amp; Project&gt;=4 then Final=SEM else </a:t>
                </a:r>
                <a14:m>
                  <m:oMath xmlns:m="http://schemas.openxmlformats.org/officeDocument/2006/math"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𝐹𝑖𝑛𝑎𝑙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𝑟𝑜𝑢𝑛𝑑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(0.7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𝑆𝐸𝑀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+0.3</m:t>
                    </m:r>
                    <m:r>
                      <a:rPr lang="en-GB" sz="900" i="1" spc="-20">
                        <a:latin typeface="Cambria Math" panose="02040503050406030204" pitchFamily="18" charset="0"/>
                        <a:cs typeface="Arial"/>
                      </a:rPr>
                      <m:t>𝑒𝑥𝑎𝑚</m:t>
                    </m:r>
                    <m:r>
                      <a:rPr lang="en-GB" sz="900" b="0" i="1" spc="-20" smtClean="0"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r>
                  <a:rPr lang="en-US" sz="900" i="1" spc="-20" dirty="0">
                    <a:solidFill>
                      <a:srgbClr val="FF0000"/>
                    </a:solidFill>
                    <a:latin typeface="Arial"/>
                    <a:cs typeface="Arial"/>
                  </a:rPr>
                  <a:t>. Exam is blocking!</a:t>
                </a:r>
              </a:p>
              <a:p>
                <a:pPr marL="38098">
                  <a:spcBef>
                    <a:spcPts val="335"/>
                  </a:spcBef>
                </a:pPr>
                <a:r>
                  <a:rPr lang="en-US" sz="1100" spc="-25" dirty="0">
                    <a:cs typeface="Tahoma"/>
                  </a:rPr>
                  <a:t>Project:</a:t>
                </a:r>
                <a:r>
                  <a:rPr lang="en-US" sz="1100" spc="90" dirty="0">
                    <a:cs typeface="Tahoma"/>
                  </a:rPr>
                  <a:t> </a:t>
                </a:r>
                <a:r>
                  <a:rPr lang="en-US" sz="1100" spc="90" dirty="0" smtClean="0">
                    <a:cs typeface="Tahoma"/>
                  </a:rPr>
                  <a:t>See Repo</a:t>
                </a:r>
                <a:endParaRPr sz="1100" dirty="0">
                  <a:cs typeface="Tahoma"/>
                </a:endParaRPr>
              </a:p>
            </p:txBody>
          </p:sp>
        </mc:Choice>
        <mc:Fallback>
          <p:sp>
            <p:nvSpPr>
              <p:cNvPr id="2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48" y="829495"/>
                <a:ext cx="4899318" cy="1910137"/>
              </a:xfrm>
              <a:prstGeom prst="rect">
                <a:avLst/>
              </a:prstGeom>
              <a:blipFill>
                <a:blip r:embed="rId6"/>
                <a:stretch>
                  <a:fillRect l="-995" b="-3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197" y="1115141"/>
            <a:ext cx="114214" cy="11421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023442" y="1102208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9197" y="1325174"/>
            <a:ext cx="114214" cy="11421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23442" y="1312240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197" y="1535206"/>
            <a:ext cx="114214" cy="11421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023442" y="1522274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197" y="1745239"/>
            <a:ext cx="114214" cy="11421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023442" y="1732306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197" y="1955271"/>
            <a:ext cx="114214" cy="114214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023442" y="1942338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7021" y="2577716"/>
            <a:ext cx="114214" cy="11421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1023442" y="2558182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771528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66828" y="16857"/>
            <a:ext cx="1676347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15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45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646299"/>
            <a:ext cx="114214" cy="11421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023442" y="633379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4457" y="548411"/>
            <a:ext cx="2816518" cy="256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3400">
              <a:lnSpc>
                <a:spcPct val="125299"/>
              </a:lnSpc>
              <a:spcBef>
                <a:spcPts val="100"/>
              </a:spcBef>
            </a:pPr>
            <a:r>
              <a:rPr lang="en-US" sz="1100" spc="-40" dirty="0">
                <a:cs typeface="Tahoma"/>
              </a:rPr>
              <a:t>Text preprocessing</a:t>
            </a:r>
          </a:p>
          <a:p>
            <a:pPr marL="12700" marR="813400">
              <a:lnSpc>
                <a:spcPct val="125299"/>
              </a:lnSpc>
              <a:spcBef>
                <a:spcPts val="100"/>
              </a:spcBef>
            </a:pPr>
            <a:r>
              <a:rPr sz="1100" spc="-40" dirty="0">
                <a:cs typeface="Tahoma"/>
              </a:rPr>
              <a:t>Word</a:t>
            </a:r>
            <a:r>
              <a:rPr sz="1100" spc="-5" dirty="0">
                <a:cs typeface="Tahoma"/>
              </a:rPr>
              <a:t> </a:t>
            </a:r>
            <a:r>
              <a:rPr sz="1100" spc="-55" dirty="0">
                <a:cs typeface="Tahoma"/>
              </a:rPr>
              <a:t>embeddings </a:t>
            </a:r>
            <a:r>
              <a:rPr lang="en-US" sz="1100" spc="-50" dirty="0">
                <a:cs typeface="Tahoma"/>
              </a:rPr>
              <a:t/>
            </a:r>
            <a:br>
              <a:rPr lang="en-US" sz="1100" spc="-50" dirty="0">
                <a:cs typeface="Tahoma"/>
              </a:rPr>
            </a:br>
            <a:r>
              <a:rPr lang="en-US" sz="1100" spc="-50" dirty="0" smtClean="0">
                <a:cs typeface="Tahoma"/>
              </a:rPr>
              <a:t>Classic language modelling</a:t>
            </a:r>
            <a:r>
              <a:rPr lang="en-US" sz="1100" spc="-25" dirty="0">
                <a:cs typeface="Tahoma"/>
              </a:rPr>
              <a:t/>
            </a:r>
            <a:br>
              <a:rPr lang="en-US" sz="1100" spc="-25" dirty="0">
                <a:cs typeface="Tahoma"/>
              </a:rPr>
            </a:br>
            <a:r>
              <a:rPr lang="en-US" sz="1100" spc="-25" dirty="0" smtClean="0">
                <a:cs typeface="Tahoma"/>
              </a:rPr>
              <a:t>Masked language models</a:t>
            </a:r>
            <a:r>
              <a:rPr lang="en-US" sz="1100" spc="-35" dirty="0">
                <a:cs typeface="Tahoma"/>
              </a:rPr>
              <a:t/>
            </a:r>
            <a:br>
              <a:rPr lang="en-US" sz="1100" spc="-35" dirty="0">
                <a:cs typeface="Tahoma"/>
              </a:rPr>
            </a:br>
            <a:r>
              <a:rPr sz="1100" spc="-50" dirty="0" smtClean="0">
                <a:cs typeface="Tahoma"/>
              </a:rPr>
              <a:t>Generative</a:t>
            </a:r>
            <a:r>
              <a:rPr sz="1100" spc="-5" dirty="0" smtClean="0">
                <a:cs typeface="Tahoma"/>
              </a:rPr>
              <a:t> </a:t>
            </a:r>
            <a:r>
              <a:rPr sz="1100" spc="-50" dirty="0">
                <a:cs typeface="Tahoma"/>
              </a:rPr>
              <a:t>models </a:t>
            </a:r>
            <a:endParaRPr lang="en-US" sz="1100" spc="-45" dirty="0">
              <a:cs typeface="Tahoma"/>
            </a:endParaRPr>
          </a:p>
          <a:p>
            <a:pPr marL="12700" marR="805146">
              <a:lnSpc>
                <a:spcPct val="125299"/>
              </a:lnSpc>
            </a:pPr>
            <a:r>
              <a:rPr lang="en-US" sz="1100" spc="-45" dirty="0">
                <a:cs typeface="Tahoma"/>
              </a:rPr>
              <a:t>Advanced generative models</a:t>
            </a:r>
            <a:r>
              <a:rPr lang="en-US" sz="1100" spc="-50" dirty="0">
                <a:cs typeface="Tahoma"/>
              </a:rPr>
              <a:t> </a:t>
            </a:r>
            <a:r>
              <a:rPr lang="en-US" sz="1100" spc="-50" dirty="0" smtClean="0">
                <a:cs typeface="Tahoma"/>
              </a:rPr>
              <a:t>Benchmarking for generative models</a:t>
            </a:r>
            <a:endParaRPr lang="en-US" sz="1100" spc="-45" dirty="0">
              <a:cs typeface="Tahoma"/>
            </a:endParaRPr>
          </a:p>
          <a:p>
            <a:pPr marL="12700" marR="805146">
              <a:lnSpc>
                <a:spcPct val="125299"/>
              </a:lnSpc>
            </a:pPr>
            <a:r>
              <a:rPr lang="en-US" sz="1100" spc="-35" dirty="0" smtClean="0">
                <a:cs typeface="Tahoma"/>
              </a:rPr>
              <a:t>Advanced generative inference</a:t>
            </a:r>
            <a:endParaRPr sz="1100" dirty="0"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lang="en-US" sz="1100" spc="-35" dirty="0" smtClean="0">
                <a:cs typeface="Tahoma"/>
              </a:rPr>
              <a:t>Language resources</a:t>
            </a:r>
            <a:r>
              <a:rPr lang="en-US" sz="1100" spc="-20" dirty="0">
                <a:cs typeface="Tahoma"/>
              </a:rPr>
              <a:t/>
            </a:r>
            <a:br>
              <a:rPr lang="en-US" sz="1100" spc="-20" dirty="0">
                <a:cs typeface="Tahoma"/>
              </a:rPr>
            </a:br>
            <a:r>
              <a:rPr lang="en-US" sz="1100" spc="15" dirty="0">
                <a:cs typeface="Tahoma"/>
              </a:rPr>
              <a:t>Fact </a:t>
            </a:r>
            <a:r>
              <a:rPr sz="1100" spc="-40" dirty="0" smtClean="0">
                <a:cs typeface="Tahoma"/>
              </a:rPr>
              <a:t>Checking</a:t>
            </a:r>
            <a:endParaRPr lang="en-US" sz="1100" spc="-40" dirty="0" smtClean="0"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lang="en-US" sz="1100" spc="-40" dirty="0" smtClean="0">
                <a:cs typeface="Tahoma"/>
              </a:rPr>
              <a:t>Graphs and NLP</a:t>
            </a:r>
          </a:p>
          <a:p>
            <a:pPr marL="12700" marR="5080">
              <a:lnSpc>
                <a:spcPct val="125299"/>
              </a:lnSpc>
            </a:pPr>
            <a:r>
              <a:rPr lang="en-US" sz="1100" spc="-40" dirty="0" smtClean="0">
                <a:cs typeface="Tahoma"/>
              </a:rPr>
              <a:t>TBA</a:t>
            </a:r>
            <a:endParaRPr sz="1100" dirty="0"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856332"/>
            <a:ext cx="114214" cy="114214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023442" y="843412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1066366"/>
            <a:ext cx="114214" cy="11421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023442" y="1053444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1276398"/>
            <a:ext cx="114214" cy="11421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023442" y="1263477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1486431"/>
            <a:ext cx="114214" cy="11421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023442" y="1473511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1696463"/>
            <a:ext cx="114214" cy="11421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023442" y="1683543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1906495"/>
            <a:ext cx="114214" cy="11421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023442" y="1893575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2116527"/>
            <a:ext cx="114214" cy="114214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023442" y="2103607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8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2326560"/>
            <a:ext cx="114214" cy="114214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023442" y="2313640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9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2536594"/>
            <a:ext cx="114214" cy="114214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1003274" y="2523674"/>
            <a:ext cx="10668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10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2746626"/>
            <a:ext cx="114214" cy="114214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003274" y="2733706"/>
            <a:ext cx="10668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11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97" y="2956658"/>
            <a:ext cx="114214" cy="114214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003274" y="2943739"/>
            <a:ext cx="10668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12</a:t>
            </a:r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428" y="53975"/>
            <a:ext cx="2743147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95" dirty="0"/>
              <a:t>Recent</a:t>
            </a:r>
            <a:r>
              <a:rPr spc="35" dirty="0"/>
              <a:t> </a:t>
            </a:r>
            <a:r>
              <a:rPr spc="-65" dirty="0"/>
              <a:t>trends</a:t>
            </a:r>
            <a:r>
              <a:rPr spc="40" dirty="0"/>
              <a:t> </a:t>
            </a:r>
            <a:r>
              <a:rPr spc="-30" dirty="0"/>
              <a:t>in</a:t>
            </a:r>
            <a:r>
              <a:rPr spc="40" dirty="0"/>
              <a:t> </a:t>
            </a:r>
            <a:r>
              <a:rPr spc="-50" dirty="0"/>
              <a:t>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418" y="815975"/>
            <a:ext cx="3482595" cy="17934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13986" indent="-176523">
              <a:spcBef>
                <a:spcPts val="285"/>
              </a:spcBef>
              <a:buClr>
                <a:srgbClr val="3333B2"/>
              </a:buClr>
              <a:buFont typeface="Microsoft Sans Serif"/>
              <a:buAutoNum type="arabicPeriod"/>
              <a:tabLst>
                <a:tab pos="214620" algn="l"/>
              </a:tabLst>
            </a:pPr>
            <a:r>
              <a:rPr lang="en-US" sz="1200" b="1" spc="5" dirty="0">
                <a:cs typeface="Arial"/>
              </a:rPr>
              <a:t>Large Language Models</a:t>
            </a:r>
          </a:p>
          <a:p>
            <a:pPr marL="213986" indent="-176523">
              <a:spcBef>
                <a:spcPts val="285"/>
              </a:spcBef>
              <a:buClr>
                <a:srgbClr val="3333B2"/>
              </a:buClr>
              <a:buFont typeface="Microsoft Sans Serif"/>
              <a:buAutoNum type="arabicPeriod"/>
              <a:tabLst>
                <a:tab pos="214620" algn="l"/>
              </a:tabLst>
            </a:pPr>
            <a:r>
              <a:rPr sz="1200" b="1" spc="5" dirty="0">
                <a:cs typeface="Arial"/>
              </a:rPr>
              <a:t>The</a:t>
            </a:r>
            <a:r>
              <a:rPr sz="1200" b="1" spc="65" dirty="0">
                <a:cs typeface="Arial"/>
              </a:rPr>
              <a:t> </a:t>
            </a:r>
            <a:r>
              <a:rPr sz="1200" b="1" spc="-55" dirty="0">
                <a:cs typeface="Arial"/>
              </a:rPr>
              <a:t>ethics</a:t>
            </a:r>
            <a:r>
              <a:rPr sz="1200" b="1" spc="70" dirty="0">
                <a:cs typeface="Arial"/>
              </a:rPr>
              <a:t> </a:t>
            </a:r>
            <a:r>
              <a:rPr sz="1200" b="1" spc="-40" dirty="0">
                <a:cs typeface="Arial"/>
              </a:rPr>
              <a:t>of</a:t>
            </a:r>
            <a:r>
              <a:rPr sz="1200" b="1" spc="70" dirty="0">
                <a:cs typeface="Arial"/>
              </a:rPr>
              <a:t> </a:t>
            </a:r>
            <a:r>
              <a:rPr sz="1200" b="1" spc="15" dirty="0">
                <a:cs typeface="Arial"/>
              </a:rPr>
              <a:t>AI</a:t>
            </a:r>
            <a:endParaRPr sz="1200" dirty="0">
              <a:cs typeface="Arial"/>
            </a:endParaRPr>
          </a:p>
          <a:p>
            <a:pPr marL="354315">
              <a:lnSpc>
                <a:spcPts val="1200"/>
              </a:lnSpc>
              <a:spcBef>
                <a:spcPts val="175"/>
              </a:spcBef>
            </a:pPr>
            <a:r>
              <a:rPr sz="1200" spc="502" baseline="13888" dirty="0">
                <a:solidFill>
                  <a:srgbClr val="3333B2"/>
                </a:solidFill>
                <a:cs typeface="Lucida Sans Unicode"/>
              </a:rPr>
              <a:t>)</a:t>
            </a:r>
            <a:r>
              <a:rPr sz="1200" spc="419" baseline="13888" dirty="0">
                <a:solidFill>
                  <a:srgbClr val="3333B2"/>
                </a:solidFill>
                <a:cs typeface="Lucida Sans Unicode"/>
              </a:rPr>
              <a:t> </a:t>
            </a:r>
            <a:r>
              <a:rPr sz="1200" spc="-65" dirty="0">
                <a:cs typeface="Arial MT"/>
              </a:rPr>
              <a:t>Fairness</a:t>
            </a:r>
            <a:endParaRPr sz="1200" dirty="0">
              <a:cs typeface="Arial MT"/>
            </a:endParaRPr>
          </a:p>
          <a:p>
            <a:pPr marL="354315">
              <a:lnSpc>
                <a:spcPts val="1200"/>
              </a:lnSpc>
            </a:pPr>
            <a:r>
              <a:rPr sz="1200" spc="502" baseline="13888" dirty="0">
                <a:solidFill>
                  <a:srgbClr val="3333B2"/>
                </a:solidFill>
                <a:cs typeface="Lucida Sans Unicode"/>
              </a:rPr>
              <a:t>) </a:t>
            </a:r>
            <a:r>
              <a:rPr sz="1200" spc="-40" dirty="0">
                <a:cs typeface="Arial MT"/>
              </a:rPr>
              <a:t>Societal</a:t>
            </a:r>
            <a:r>
              <a:rPr sz="1200" spc="35" dirty="0">
                <a:cs typeface="Arial MT"/>
              </a:rPr>
              <a:t> </a:t>
            </a:r>
            <a:r>
              <a:rPr sz="1200" spc="-35" dirty="0">
                <a:cs typeface="Arial MT"/>
              </a:rPr>
              <a:t>applications</a:t>
            </a:r>
            <a:endParaRPr sz="1200" dirty="0">
              <a:cs typeface="Arial MT"/>
            </a:endParaRPr>
          </a:p>
          <a:p>
            <a:pPr marL="213986" indent="-176523">
              <a:spcBef>
                <a:spcPts val="355"/>
              </a:spcBef>
              <a:buClr>
                <a:srgbClr val="3333B2"/>
              </a:buClr>
              <a:buFont typeface="Microsoft Sans Serif"/>
              <a:buAutoNum type="arabicPeriod" startAt="3"/>
              <a:tabLst>
                <a:tab pos="214620" algn="l"/>
              </a:tabLst>
            </a:pPr>
            <a:r>
              <a:rPr lang="en-US" sz="1200" b="1" spc="-45" dirty="0">
                <a:cs typeface="Arial"/>
              </a:rPr>
              <a:t>Prompt-based learning</a:t>
            </a:r>
          </a:p>
          <a:p>
            <a:pPr marL="354315">
              <a:lnSpc>
                <a:spcPts val="1200"/>
              </a:lnSpc>
              <a:spcBef>
                <a:spcPts val="175"/>
              </a:spcBef>
            </a:pPr>
            <a:r>
              <a:rPr lang="en-US" sz="1200" spc="502" baseline="13888" dirty="0">
                <a:solidFill>
                  <a:srgbClr val="3333B2"/>
                </a:solidFill>
                <a:cs typeface="Lucida Sans Unicode"/>
              </a:rPr>
              <a:t>)</a:t>
            </a:r>
            <a:r>
              <a:rPr lang="en-US" sz="1200" spc="517" baseline="13888" dirty="0">
                <a:solidFill>
                  <a:srgbClr val="3333B2"/>
                </a:solidFill>
                <a:cs typeface="Lucida Sans Unicode"/>
              </a:rPr>
              <a:t> </a:t>
            </a:r>
            <a:r>
              <a:rPr lang="en-US" sz="1200" spc="-50" dirty="0">
                <a:cs typeface="Arial MT"/>
              </a:rPr>
              <a:t>Zero-shot learning</a:t>
            </a:r>
            <a:endParaRPr lang="en-US" sz="1200" dirty="0">
              <a:cs typeface="Arial MT"/>
            </a:endParaRPr>
          </a:p>
          <a:p>
            <a:pPr marL="354315">
              <a:lnSpc>
                <a:spcPts val="1200"/>
              </a:lnSpc>
            </a:pPr>
            <a:r>
              <a:rPr lang="en-US" sz="1200" spc="502" baseline="13888" dirty="0">
                <a:solidFill>
                  <a:srgbClr val="3333B2"/>
                </a:solidFill>
                <a:cs typeface="Lucida Sans Unicode"/>
              </a:rPr>
              <a:t>)</a:t>
            </a:r>
            <a:r>
              <a:rPr lang="en-US" sz="1200" spc="509" baseline="13888" dirty="0">
                <a:solidFill>
                  <a:srgbClr val="3333B2"/>
                </a:solidFill>
                <a:cs typeface="Lucida Sans Unicode"/>
              </a:rPr>
              <a:t> </a:t>
            </a:r>
            <a:r>
              <a:rPr lang="en-US" sz="1200" spc="-60" dirty="0">
                <a:cs typeface="Arial MT"/>
              </a:rPr>
              <a:t>Few-shot learning</a:t>
            </a:r>
            <a:endParaRPr sz="1200" dirty="0">
              <a:cs typeface="Arial"/>
            </a:endParaRPr>
          </a:p>
          <a:p>
            <a:pPr marL="213986" indent="-176523">
              <a:spcBef>
                <a:spcPts val="335"/>
              </a:spcBef>
              <a:buClr>
                <a:srgbClr val="3333B2"/>
              </a:buClr>
              <a:buFont typeface="Microsoft Sans Serif"/>
              <a:buAutoNum type="arabicPeriod" startAt="3"/>
              <a:tabLst>
                <a:tab pos="214620" algn="l"/>
              </a:tabLst>
            </a:pPr>
            <a:r>
              <a:rPr sz="1200" b="1" spc="-10" dirty="0">
                <a:cs typeface="Arial"/>
              </a:rPr>
              <a:t>Multi</a:t>
            </a:r>
            <a:r>
              <a:rPr lang="en-US" sz="1200" b="1" spc="-10" dirty="0">
                <a:cs typeface="Arial"/>
              </a:rPr>
              <a:t>agent systems</a:t>
            </a:r>
            <a:endParaRPr sz="1200" dirty="0">
              <a:cs typeface="Arial"/>
            </a:endParaRPr>
          </a:p>
          <a:p>
            <a:pPr marL="213986" indent="-176523">
              <a:spcBef>
                <a:spcPts val="330"/>
              </a:spcBef>
              <a:buClr>
                <a:srgbClr val="3333B2"/>
              </a:buClr>
              <a:buFont typeface="Microsoft Sans Serif"/>
              <a:buAutoNum type="arabicPeriod" startAt="3"/>
              <a:tabLst>
                <a:tab pos="214620" algn="l"/>
              </a:tabLst>
            </a:pPr>
            <a:r>
              <a:rPr lang="en-US" sz="1200" b="1" spc="-45" dirty="0">
                <a:cs typeface="Arial"/>
              </a:rPr>
              <a:t>Interpretable and Explainable</a:t>
            </a:r>
            <a:r>
              <a:rPr sz="1200" b="1" spc="55" dirty="0">
                <a:cs typeface="Arial"/>
              </a:rPr>
              <a:t> </a:t>
            </a:r>
            <a:r>
              <a:rPr lang="en-US" sz="1200" b="1" spc="15" dirty="0">
                <a:cs typeface="Arial"/>
              </a:rPr>
              <a:t>AI</a:t>
            </a:r>
            <a:endParaRPr sz="1200" dirty="0"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575" y="114673"/>
            <a:ext cx="16846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60" dirty="0">
                <a:solidFill>
                  <a:srgbClr val="3333B2"/>
                </a:solidFill>
                <a:cs typeface="Arial MT"/>
              </a:rPr>
              <a:t>Vector</a:t>
            </a:r>
            <a:r>
              <a:rPr sz="1400" spc="40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130" dirty="0">
                <a:solidFill>
                  <a:srgbClr val="3333B2"/>
                </a:solidFill>
                <a:cs typeface="Arial MT"/>
              </a:rPr>
              <a:t>space</a:t>
            </a:r>
            <a:r>
              <a:rPr sz="1400" spc="45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80" dirty="0">
                <a:solidFill>
                  <a:srgbClr val="3333B2"/>
                </a:solidFill>
                <a:cs typeface="Arial MT"/>
              </a:rPr>
              <a:t>model</a:t>
            </a:r>
            <a:r>
              <a:rPr sz="1400" spc="40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35" dirty="0">
                <a:solidFill>
                  <a:srgbClr val="3333B2"/>
                </a:solidFill>
                <a:cs typeface="Arial MT"/>
                <a:hlinkClick r:id="rId2" action="ppaction://hlinksldjump"/>
              </a:rPr>
              <a:t>[1]</a:t>
            </a:r>
            <a:endParaRPr sz="1400" dirty="0"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0051" y="249857"/>
            <a:ext cx="3613659" cy="30233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15168" y="3330575"/>
            <a:ext cx="140208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10" dirty="0">
                <a:latin typeface="Lucida Sans Unicode"/>
                <a:cs typeface="Lucida Sans Unicode"/>
              </a:rPr>
              <a:t>Image</a:t>
            </a:r>
            <a:r>
              <a:rPr sz="600" spc="35" dirty="0">
                <a:latin typeface="Lucida Sans Unicode"/>
                <a:cs typeface="Lucida Sans Unicode"/>
              </a:rPr>
              <a:t> </a:t>
            </a:r>
            <a:r>
              <a:rPr sz="600" spc="-15" dirty="0">
                <a:latin typeface="Lucida Sans Unicode"/>
                <a:cs typeface="Lucida Sans Unicode"/>
              </a:rPr>
              <a:t>source:</a:t>
            </a:r>
            <a:r>
              <a:rPr sz="600" spc="40" dirty="0">
                <a:latin typeface="Lucida Sans Unicode"/>
                <a:cs typeface="Lucida Sans Unicode"/>
              </a:rPr>
              <a:t> </a:t>
            </a:r>
            <a:r>
              <a:rPr sz="600" spc="-5" dirty="0">
                <a:latin typeface="Lucida Sans Unicode"/>
                <a:cs typeface="Lucida Sans Unicode"/>
                <a:hlinkClick r:id="rId4"/>
              </a:rPr>
              <a:t>Handbook</a:t>
            </a:r>
            <a:r>
              <a:rPr sz="600" spc="40" dirty="0">
                <a:latin typeface="Lucida Sans Unicode"/>
                <a:cs typeface="Lucida Sans Unicode"/>
                <a:hlinkClick r:id="rId4"/>
              </a:rPr>
              <a:t> </a:t>
            </a:r>
            <a:r>
              <a:rPr sz="600" spc="-15" dirty="0">
                <a:latin typeface="Lucida Sans Unicode"/>
                <a:cs typeface="Lucida Sans Unicode"/>
                <a:hlinkClick r:id="rId4"/>
              </a:rPr>
              <a:t>of</a:t>
            </a:r>
            <a:r>
              <a:rPr sz="600" spc="40" dirty="0">
                <a:latin typeface="Lucida Sans Unicode"/>
                <a:cs typeface="Lucida Sans Unicode"/>
                <a:hlinkClick r:id="rId4"/>
              </a:rPr>
              <a:t> </a:t>
            </a:r>
            <a:r>
              <a:rPr sz="600" spc="-5" dirty="0">
                <a:latin typeface="Lucida Sans Unicode"/>
                <a:cs typeface="Lucida Sans Unicode"/>
                <a:hlinkClick r:id="rId4"/>
              </a:rPr>
              <a:t>statistics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575" y="130175"/>
            <a:ext cx="15792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140" dirty="0">
                <a:solidFill>
                  <a:srgbClr val="3333B2"/>
                </a:solidFill>
                <a:latin typeface="Arial MT"/>
                <a:cs typeface="Arial MT"/>
              </a:rPr>
              <a:t>Feed</a:t>
            </a:r>
            <a:r>
              <a:rPr sz="14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3333B2"/>
                </a:solidFill>
                <a:latin typeface="Arial MT"/>
                <a:cs typeface="Arial MT"/>
              </a:rPr>
              <a:t>forward</a:t>
            </a:r>
            <a:r>
              <a:rPr sz="14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3333B2"/>
                </a:solidFill>
                <a:latin typeface="Arial MT"/>
                <a:cs typeface="Arial MT"/>
              </a:rPr>
              <a:t>network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376" y="246553"/>
            <a:ext cx="2738316" cy="28554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57371" y="3352815"/>
            <a:ext cx="137160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10" dirty="0">
                <a:latin typeface="Lucida Sans Unicode"/>
                <a:cs typeface="Lucida Sans Unicode"/>
              </a:rPr>
              <a:t>Image</a:t>
            </a:r>
            <a:r>
              <a:rPr sz="600" spc="30" dirty="0">
                <a:latin typeface="Lucida Sans Unicode"/>
                <a:cs typeface="Lucida Sans Unicode"/>
              </a:rPr>
              <a:t> </a:t>
            </a:r>
            <a:r>
              <a:rPr sz="600" spc="-15" dirty="0">
                <a:latin typeface="Lucida Sans Unicode"/>
                <a:cs typeface="Lucida Sans Unicode"/>
              </a:rPr>
              <a:t>source:</a:t>
            </a:r>
            <a:r>
              <a:rPr sz="600" spc="35" dirty="0">
                <a:latin typeface="Lucida Sans Unicode"/>
                <a:cs typeface="Lucida Sans Unicode"/>
              </a:rPr>
              <a:t> </a:t>
            </a:r>
            <a:r>
              <a:rPr sz="600" spc="45" dirty="0">
                <a:latin typeface="Lucida Sans Unicode"/>
                <a:cs typeface="Lucida Sans Unicode"/>
              </a:rPr>
              <a:t>NN</a:t>
            </a:r>
            <a:r>
              <a:rPr sz="600" spc="35" dirty="0">
                <a:latin typeface="Lucida Sans Unicode"/>
                <a:cs typeface="Lucida Sans Unicode"/>
              </a:rPr>
              <a:t> </a:t>
            </a:r>
            <a:r>
              <a:rPr sz="600" dirty="0">
                <a:latin typeface="Lucida Sans Unicode"/>
                <a:cs typeface="Lucida Sans Unicode"/>
              </a:rPr>
              <a:t>Methods</a:t>
            </a:r>
            <a:r>
              <a:rPr sz="600" spc="35" dirty="0">
                <a:latin typeface="Lucida Sans Unicode"/>
                <a:cs typeface="Lucida Sans Unicode"/>
              </a:rPr>
              <a:t> </a:t>
            </a:r>
            <a:r>
              <a:rPr sz="600" spc="-20" dirty="0">
                <a:latin typeface="Lucida Sans Unicode"/>
                <a:cs typeface="Lucida Sans Unicode"/>
              </a:rPr>
              <a:t>for</a:t>
            </a:r>
            <a:r>
              <a:rPr sz="600" spc="35" dirty="0">
                <a:latin typeface="Lucida Sans Unicode"/>
                <a:cs typeface="Lucida Sans Unicode"/>
              </a:rPr>
              <a:t> </a:t>
            </a:r>
            <a:r>
              <a:rPr sz="600" spc="75" dirty="0">
                <a:latin typeface="Lucida Sans Unicode"/>
                <a:cs typeface="Lucida Sans Unicode"/>
              </a:rPr>
              <a:t>NLP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575" y="53975"/>
            <a:ext cx="18802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60" dirty="0">
                <a:solidFill>
                  <a:srgbClr val="3333B2"/>
                </a:solidFill>
                <a:cs typeface="Arial MT"/>
              </a:rPr>
              <a:t>Convolutional</a:t>
            </a:r>
            <a:r>
              <a:rPr sz="1400" spc="40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70" dirty="0">
                <a:solidFill>
                  <a:srgbClr val="3333B2"/>
                </a:solidFill>
                <a:cs typeface="Arial MT"/>
              </a:rPr>
              <a:t>network</a:t>
            </a:r>
            <a:r>
              <a:rPr sz="1400" spc="40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35" dirty="0">
                <a:solidFill>
                  <a:srgbClr val="3333B2"/>
                </a:solidFill>
                <a:cs typeface="Arial MT"/>
                <a:hlinkClick r:id="rId2" action="ppaction://hlinksldjump"/>
              </a:rPr>
              <a:t>[2]</a:t>
            </a:r>
            <a:endParaRPr sz="1400"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975" y="645940"/>
            <a:ext cx="4495800" cy="216887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934" y="61300"/>
            <a:ext cx="4857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30" dirty="0">
                <a:solidFill>
                  <a:srgbClr val="3333B2"/>
                </a:solidFill>
                <a:cs typeface="Arial MT"/>
              </a:rPr>
              <a:t>LSTM</a:t>
            </a:r>
            <a:endParaRPr sz="1400"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575" y="444893"/>
            <a:ext cx="3048000" cy="2570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82845" y="3326684"/>
            <a:ext cx="117030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" spc="-10" dirty="0">
                <a:latin typeface="Lucida Sans Unicode"/>
                <a:cs typeface="Lucida Sans Unicode"/>
              </a:rPr>
              <a:t>Image</a:t>
            </a:r>
            <a:r>
              <a:rPr sz="600" spc="20" dirty="0">
                <a:latin typeface="Lucida Sans Unicode"/>
                <a:cs typeface="Lucida Sans Unicode"/>
              </a:rPr>
              <a:t> </a:t>
            </a:r>
            <a:r>
              <a:rPr sz="600" spc="-15" dirty="0">
                <a:latin typeface="Lucida Sans Unicode"/>
                <a:cs typeface="Lucida Sans Unicode"/>
              </a:rPr>
              <a:t>source:</a:t>
            </a:r>
            <a:r>
              <a:rPr sz="600" spc="25" dirty="0">
                <a:latin typeface="Lucida Sans Unicode"/>
                <a:cs typeface="Lucida Sans Unicode"/>
              </a:rPr>
              <a:t> </a:t>
            </a:r>
            <a:r>
              <a:rPr sz="600" spc="-15" dirty="0">
                <a:latin typeface="Lucida Sans Unicode"/>
                <a:cs typeface="Lucida Sans Unicode"/>
                <a:hlinkClick r:id="rId3"/>
              </a:rPr>
              <a:t>deeplearning.net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575" y="132704"/>
            <a:ext cx="24523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60" dirty="0">
                <a:solidFill>
                  <a:srgbClr val="3333B2"/>
                </a:solidFill>
                <a:cs typeface="Arial MT"/>
              </a:rPr>
              <a:t>Hierarchical</a:t>
            </a:r>
            <a:r>
              <a:rPr sz="1400" spc="45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30" dirty="0">
                <a:solidFill>
                  <a:srgbClr val="3333B2"/>
                </a:solidFill>
                <a:cs typeface="Arial MT"/>
              </a:rPr>
              <a:t>attention</a:t>
            </a:r>
            <a:r>
              <a:rPr sz="1400" spc="45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70" dirty="0">
                <a:solidFill>
                  <a:srgbClr val="3333B2"/>
                </a:solidFill>
                <a:cs typeface="Arial MT"/>
              </a:rPr>
              <a:t>network</a:t>
            </a:r>
            <a:r>
              <a:rPr sz="1400" spc="45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35" dirty="0">
                <a:solidFill>
                  <a:srgbClr val="3333B2"/>
                </a:solidFill>
                <a:cs typeface="Arial MT"/>
                <a:hlinkClick r:id="rId2" action="ppaction://hlinksldjump"/>
              </a:rPr>
              <a:t>[3]</a:t>
            </a:r>
            <a:endParaRPr sz="1400" dirty="0"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375" y="132704"/>
            <a:ext cx="2777637" cy="319787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375" y="130175"/>
            <a:ext cx="8915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20" dirty="0">
                <a:solidFill>
                  <a:srgbClr val="3333B2"/>
                </a:solidFill>
                <a:cs typeface="Arial MT"/>
              </a:rPr>
              <a:t>ULMFiT</a:t>
            </a:r>
            <a:r>
              <a:rPr sz="1400" spc="-10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35" dirty="0">
                <a:solidFill>
                  <a:srgbClr val="3333B2"/>
                </a:solidFill>
                <a:cs typeface="Arial MT"/>
                <a:hlinkClick r:id="rId2" action="ppaction://hlinksldjump"/>
              </a:rPr>
              <a:t>[4]</a:t>
            </a:r>
            <a:endParaRPr sz="1400" dirty="0"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9175" y="754543"/>
            <a:ext cx="4479255" cy="195166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575" y="130175"/>
            <a:ext cx="717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55" dirty="0">
                <a:solidFill>
                  <a:srgbClr val="3333B2"/>
                </a:solidFill>
                <a:cs typeface="Arial MT"/>
              </a:rPr>
              <a:t>BERT</a:t>
            </a:r>
            <a:r>
              <a:rPr sz="1400" spc="-25" dirty="0">
                <a:solidFill>
                  <a:srgbClr val="3333B2"/>
                </a:solidFill>
                <a:cs typeface="Arial MT"/>
              </a:rPr>
              <a:t> </a:t>
            </a:r>
            <a:r>
              <a:rPr sz="1400" spc="-35" dirty="0">
                <a:solidFill>
                  <a:srgbClr val="3333B2"/>
                </a:solidFill>
                <a:cs typeface="Arial MT"/>
                <a:hlinkClick r:id="rId2" action="ppaction://hlinksldjump"/>
              </a:rPr>
              <a:t>[5]</a:t>
            </a:r>
            <a:endParaRPr sz="1400" dirty="0"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0322" y="452676"/>
            <a:ext cx="2692505" cy="255539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375" y="130175"/>
            <a:ext cx="1523947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100" dirty="0"/>
              <a:t>Reading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7812" y="1273175"/>
            <a:ext cx="4572000" cy="69089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8587" indent="-176523">
              <a:spcBef>
                <a:spcPts val="434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35" dirty="0">
                <a:cs typeface="Microsoft Sans Serif"/>
              </a:rPr>
              <a:t>Text</a:t>
            </a:r>
            <a:r>
              <a:rPr sz="1200" spc="60" dirty="0">
                <a:cs typeface="Microsoft Sans Serif"/>
              </a:rPr>
              <a:t> </a:t>
            </a:r>
            <a:r>
              <a:rPr sz="1200" spc="-50" dirty="0">
                <a:cs typeface="Microsoft Sans Serif"/>
              </a:rPr>
              <a:t>classification</a:t>
            </a:r>
            <a:r>
              <a:rPr sz="1200" spc="65" dirty="0">
                <a:cs typeface="Microsoft Sans Serif"/>
              </a:rPr>
              <a:t> </a:t>
            </a:r>
            <a:r>
              <a:rPr sz="1200" spc="-40" dirty="0">
                <a:cs typeface="Microsoft Sans Serif"/>
              </a:rPr>
              <a:t>algorithms:</a:t>
            </a:r>
            <a:r>
              <a:rPr sz="1200" spc="65" dirty="0">
                <a:cs typeface="Microsoft Sans Serif"/>
              </a:rPr>
              <a:t> </a:t>
            </a:r>
            <a:r>
              <a:rPr sz="1200" spc="-95" dirty="0">
                <a:cs typeface="Microsoft Sans Serif"/>
              </a:rPr>
              <a:t>a</a:t>
            </a:r>
            <a:r>
              <a:rPr sz="1200" spc="65" dirty="0">
                <a:cs typeface="Microsoft Sans Serif"/>
              </a:rPr>
              <a:t> </a:t>
            </a:r>
            <a:r>
              <a:rPr sz="1200" spc="-75" dirty="0">
                <a:cs typeface="Microsoft Sans Serif"/>
              </a:rPr>
              <a:t>survey</a:t>
            </a:r>
            <a:r>
              <a:rPr sz="1200" spc="60" dirty="0">
                <a:cs typeface="Microsoft Sans Serif"/>
              </a:rPr>
              <a:t> </a:t>
            </a:r>
            <a:r>
              <a:rPr sz="1200" spc="-25" dirty="0">
                <a:cs typeface="Microsoft Sans Serif"/>
                <a:hlinkClick r:id="rId2"/>
              </a:rPr>
              <a:t>[arXiv]</a:t>
            </a:r>
            <a:endParaRPr sz="1200" dirty="0">
              <a:cs typeface="Microsoft Sans Serif"/>
            </a:endParaRPr>
          </a:p>
          <a:p>
            <a:pPr marL="188587" marR="5080" indent="-176523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95" dirty="0">
                <a:cs typeface="Microsoft Sans Serif"/>
              </a:rPr>
              <a:t>Speech</a:t>
            </a:r>
            <a:r>
              <a:rPr sz="1200" spc="-90" dirty="0">
                <a:cs typeface="Microsoft Sans Serif"/>
              </a:rPr>
              <a:t> </a:t>
            </a:r>
            <a:r>
              <a:rPr sz="1200" spc="-70" dirty="0">
                <a:cs typeface="Microsoft Sans Serif"/>
              </a:rPr>
              <a:t>and</a:t>
            </a:r>
            <a:r>
              <a:rPr sz="1200" spc="-65" dirty="0">
                <a:cs typeface="Microsoft Sans Serif"/>
              </a:rPr>
              <a:t> </a:t>
            </a:r>
            <a:r>
              <a:rPr sz="1200" spc="-80" dirty="0">
                <a:cs typeface="Microsoft Sans Serif"/>
              </a:rPr>
              <a:t>Language</a:t>
            </a:r>
            <a:r>
              <a:rPr sz="1200" spc="-75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Processing.</a:t>
            </a:r>
            <a:r>
              <a:rPr sz="1200" spc="-60" dirty="0">
                <a:cs typeface="Microsoft Sans Serif"/>
              </a:rPr>
              <a:t> </a:t>
            </a:r>
            <a:r>
              <a:rPr sz="1200" spc="-55" dirty="0">
                <a:cs typeface="Microsoft Sans Serif"/>
              </a:rPr>
              <a:t>Daniel Jurafsky, </a:t>
            </a:r>
            <a:r>
              <a:rPr sz="1200" spc="-95" dirty="0">
                <a:cs typeface="Microsoft Sans Serif"/>
              </a:rPr>
              <a:t>James</a:t>
            </a:r>
            <a:r>
              <a:rPr sz="1200" spc="-90" dirty="0">
                <a:cs typeface="Microsoft Sans Serif"/>
              </a:rPr>
              <a:t> </a:t>
            </a:r>
            <a:r>
              <a:rPr sz="1200" spc="-25" dirty="0">
                <a:cs typeface="Microsoft Sans Serif"/>
              </a:rPr>
              <a:t>H. </a:t>
            </a:r>
            <a:r>
              <a:rPr sz="1200" spc="-280" dirty="0">
                <a:cs typeface="Microsoft Sans Serif"/>
              </a:rPr>
              <a:t> </a:t>
            </a:r>
            <a:r>
              <a:rPr sz="1200" spc="-15" dirty="0">
                <a:cs typeface="Microsoft Sans Serif"/>
              </a:rPr>
              <a:t>Martin,</a:t>
            </a:r>
            <a:r>
              <a:rPr sz="1200" spc="65" dirty="0">
                <a:cs typeface="Microsoft Sans Serif"/>
              </a:rPr>
              <a:t> </a:t>
            </a:r>
            <a:r>
              <a:rPr sz="1200" spc="-60" dirty="0">
                <a:cs typeface="Microsoft Sans Serif"/>
              </a:rPr>
              <a:t>Ch.</a:t>
            </a:r>
            <a:r>
              <a:rPr sz="1200" spc="65" dirty="0">
                <a:cs typeface="Microsoft Sans Serif"/>
              </a:rPr>
              <a:t> </a:t>
            </a:r>
            <a:r>
              <a:rPr sz="1200" spc="-70" dirty="0">
                <a:cs typeface="Microsoft Sans Serif"/>
              </a:rPr>
              <a:t>2</a:t>
            </a:r>
            <a:r>
              <a:rPr sz="1200" spc="65" dirty="0">
                <a:cs typeface="Microsoft Sans Serif"/>
              </a:rPr>
              <a:t> </a:t>
            </a:r>
            <a:r>
              <a:rPr sz="1200" spc="-15" dirty="0">
                <a:cs typeface="Microsoft Sans Serif"/>
                <a:hlinkClick r:id="rId3"/>
              </a:rPr>
              <a:t>[url]</a:t>
            </a:r>
            <a:endParaRPr sz="1200" dirty="0">
              <a:cs typeface="Microsoft Sans Serif"/>
            </a:endParaRPr>
          </a:p>
          <a:p>
            <a:pPr marL="188587" marR="231130" indent="-176523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222" algn="l"/>
              </a:tabLst>
            </a:pPr>
            <a:r>
              <a:rPr sz="1200" spc="-30" dirty="0">
                <a:cs typeface="Microsoft Sans Serif"/>
              </a:rPr>
              <a:t>Natural</a:t>
            </a:r>
            <a:r>
              <a:rPr sz="1200" spc="60" dirty="0">
                <a:cs typeface="Microsoft Sans Serif"/>
              </a:rPr>
              <a:t> </a:t>
            </a:r>
            <a:r>
              <a:rPr sz="1200" spc="-80" dirty="0">
                <a:cs typeface="Microsoft Sans Serif"/>
              </a:rPr>
              <a:t>Language</a:t>
            </a:r>
            <a:r>
              <a:rPr sz="1200" spc="65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Processing.</a:t>
            </a:r>
            <a:r>
              <a:rPr sz="1200" spc="60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Jacob</a:t>
            </a:r>
            <a:r>
              <a:rPr sz="1200" spc="65" dirty="0">
                <a:cs typeface="Microsoft Sans Serif"/>
              </a:rPr>
              <a:t> </a:t>
            </a:r>
            <a:r>
              <a:rPr sz="1200" spc="-65" dirty="0">
                <a:cs typeface="Microsoft Sans Serif"/>
              </a:rPr>
              <a:t>Eisenstein,</a:t>
            </a:r>
            <a:r>
              <a:rPr sz="1200" spc="65" dirty="0">
                <a:cs typeface="Microsoft Sans Serif"/>
              </a:rPr>
              <a:t> </a:t>
            </a:r>
            <a:r>
              <a:rPr sz="1200" spc="-60" dirty="0">
                <a:cs typeface="Microsoft Sans Serif"/>
              </a:rPr>
              <a:t>Ch.</a:t>
            </a:r>
            <a:r>
              <a:rPr sz="1200" spc="60" dirty="0">
                <a:cs typeface="Microsoft Sans Serif"/>
              </a:rPr>
              <a:t> </a:t>
            </a:r>
            <a:r>
              <a:rPr sz="1200" spc="-45" dirty="0">
                <a:cs typeface="Microsoft Sans Serif"/>
              </a:rPr>
              <a:t>2-4, </a:t>
            </a:r>
            <a:r>
              <a:rPr sz="1200" spc="-275" dirty="0">
                <a:cs typeface="Microsoft Sans Serif"/>
              </a:rPr>
              <a:t> </a:t>
            </a:r>
            <a:r>
              <a:rPr sz="1200" spc="-25" dirty="0">
                <a:cs typeface="Microsoft Sans Serif"/>
                <a:hlinkClick r:id="rId4"/>
              </a:rPr>
              <a:t>[GitHub]</a:t>
            </a:r>
            <a:endParaRPr sz="120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828" y="28540"/>
            <a:ext cx="1142947" cy="3247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pc="-114" dirty="0"/>
              <a:t>Reference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6939" y="468279"/>
            <a:ext cx="106680" cy="144780"/>
            <a:chOff x="395414" y="468279"/>
            <a:chExt cx="106680" cy="144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954" y="470819"/>
              <a:ext cx="101219" cy="139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7954" y="470819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0606" y="48979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3259" y="50877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0606" y="540407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90" y="537242"/>
              <a:ext cx="31635" cy="442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54890" y="591016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3868" y="4708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05978" y="439776"/>
            <a:ext cx="3625850" cy="284924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3817" indent="27939">
              <a:lnSpc>
                <a:spcPct val="102699"/>
              </a:lnSpc>
              <a:spcBef>
                <a:spcPts val="55"/>
              </a:spcBef>
            </a:pPr>
            <a:r>
              <a:rPr sz="1100" spc="-70" dirty="0">
                <a:solidFill>
                  <a:srgbClr val="3333B2"/>
                </a:solidFill>
                <a:latin typeface="Microsoft Sans Serif"/>
                <a:cs typeface="Microsoft Sans Serif"/>
              </a:rPr>
              <a:t>G.</a:t>
            </a:r>
            <a:r>
              <a:rPr sz="1100" spc="6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3333B2"/>
                </a:solidFill>
                <a:latin typeface="Microsoft Sans Serif"/>
                <a:cs typeface="Microsoft Sans Serif"/>
              </a:rPr>
              <a:t>Salton,</a:t>
            </a:r>
            <a:r>
              <a:rPr sz="1100" spc="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3333B2"/>
                </a:solidFill>
                <a:latin typeface="Microsoft Sans Serif"/>
                <a:cs typeface="Microsoft Sans Serif"/>
              </a:rPr>
              <a:t>A.</a:t>
            </a:r>
            <a:r>
              <a:rPr sz="1100" spc="6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3333B2"/>
                </a:solidFill>
                <a:latin typeface="Microsoft Sans Serif"/>
                <a:cs typeface="Microsoft Sans Serif"/>
              </a:rPr>
              <a:t>Wong</a:t>
            </a:r>
            <a:r>
              <a:rPr sz="1100" spc="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3333B2"/>
                </a:solidFill>
                <a:latin typeface="Microsoft Sans Serif"/>
                <a:cs typeface="Microsoft Sans Serif"/>
              </a:rPr>
              <a:t>и</a:t>
            </a:r>
            <a:r>
              <a:rPr sz="1100" spc="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3333B2"/>
                </a:solidFill>
                <a:latin typeface="Microsoft Sans Serif"/>
                <a:cs typeface="Microsoft Sans Serif"/>
              </a:rPr>
              <a:t>C.-S.</a:t>
            </a:r>
            <a:r>
              <a:rPr sz="1100" spc="6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70" dirty="0">
                <a:solidFill>
                  <a:srgbClr val="3333B2"/>
                </a:solidFill>
                <a:latin typeface="Microsoft Sans Serif"/>
                <a:cs typeface="Microsoft Sans Serif"/>
              </a:rPr>
              <a:t>Yang,</a:t>
            </a:r>
            <a:r>
              <a:rPr sz="1100" spc="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35" dirty="0">
                <a:latin typeface="Microsoft Sans Serif"/>
                <a:cs typeface="Microsoft Sans Serif"/>
              </a:rPr>
              <a:t>“A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vector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100" dirty="0">
                <a:latin typeface="Microsoft Sans Serif"/>
                <a:cs typeface="Microsoft Sans Serif"/>
              </a:rPr>
              <a:t>space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model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for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automatic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indexing”,</a:t>
            </a:r>
            <a:r>
              <a:rPr sz="1100" spc="185" dirty="0">
                <a:latin typeface="Microsoft Sans Serif"/>
                <a:cs typeface="Microsoft Sans Serif"/>
              </a:rPr>
              <a:t> </a:t>
            </a:r>
            <a:r>
              <a:rPr sz="1100" i="1" spc="-55" dirty="0">
                <a:solidFill>
                  <a:srgbClr val="7A7ACD"/>
                </a:solidFill>
                <a:latin typeface="Arial"/>
                <a:cs typeface="Arial"/>
              </a:rPr>
              <a:t>Communications</a:t>
            </a:r>
            <a:r>
              <a:rPr sz="1100" i="1" spc="5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7A7ACD"/>
                </a:solidFill>
                <a:latin typeface="Arial"/>
                <a:cs typeface="Arial"/>
              </a:rPr>
              <a:t>of</a:t>
            </a:r>
            <a:r>
              <a:rPr sz="1100" i="1" spc="5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the</a:t>
            </a:r>
            <a:r>
              <a:rPr sz="1100" i="1" spc="5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7A7ACD"/>
                </a:solidFill>
                <a:latin typeface="Arial"/>
                <a:cs typeface="Arial"/>
              </a:rPr>
              <a:t>ACM</a:t>
            </a:r>
            <a:r>
              <a:rPr sz="1100" spc="-35" dirty="0">
                <a:solidFill>
                  <a:srgbClr val="7A7ACD"/>
                </a:solidFill>
                <a:latin typeface="Microsoft Sans Serif"/>
                <a:cs typeface="Microsoft Sans Serif"/>
              </a:rPr>
              <a:t>,</a:t>
            </a:r>
            <a:r>
              <a:rPr sz="1100" spc="65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7A7ACD"/>
                </a:solidFill>
                <a:latin typeface="Microsoft Sans Serif"/>
                <a:cs typeface="Microsoft Sans Serif"/>
              </a:rPr>
              <a:t>т.</a:t>
            </a:r>
            <a:r>
              <a:rPr sz="1100" spc="70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7A7ACD"/>
                </a:solidFill>
                <a:latin typeface="Microsoft Sans Serif"/>
                <a:cs typeface="Microsoft Sans Serif"/>
              </a:rPr>
              <a:t>18,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spcBef>
                <a:spcPts val="35"/>
              </a:spcBef>
            </a:pPr>
            <a:r>
              <a:rPr sz="1100" spc="-220" dirty="0">
                <a:solidFill>
                  <a:srgbClr val="7A7ACD"/>
                </a:solidFill>
                <a:latin typeface="Microsoft Sans Serif"/>
                <a:cs typeface="Microsoft Sans Serif"/>
              </a:rPr>
              <a:t>№</a:t>
            </a:r>
            <a:r>
              <a:rPr sz="1100" spc="70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7A7ACD"/>
                </a:solidFill>
                <a:latin typeface="Microsoft Sans Serif"/>
                <a:cs typeface="Microsoft Sans Serif"/>
              </a:rPr>
              <a:t>11</a:t>
            </a:r>
            <a:r>
              <a:rPr sz="1100" spc="-30" dirty="0">
                <a:solidFill>
                  <a:srgbClr val="7A7ACD"/>
                </a:solidFill>
                <a:latin typeface="Microsoft Sans Serif"/>
                <a:cs typeface="Microsoft Sans Serif"/>
              </a:rPr>
              <a:t>,</a:t>
            </a:r>
            <a:r>
              <a:rPr sz="1100" spc="65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7A7ACD"/>
                </a:solidFill>
                <a:latin typeface="Microsoft Sans Serif"/>
                <a:cs typeface="Microsoft Sans Serif"/>
              </a:rPr>
              <a:t>с</a:t>
            </a:r>
            <a:r>
              <a:rPr sz="1100" spc="-30" dirty="0">
                <a:solidFill>
                  <a:srgbClr val="7A7ACD"/>
                </a:solidFill>
                <a:latin typeface="Microsoft Sans Serif"/>
                <a:cs typeface="Microsoft Sans Serif"/>
              </a:rPr>
              <a:t>.</a:t>
            </a:r>
            <a:r>
              <a:rPr sz="1100" spc="65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7A7ACD"/>
                </a:solidFill>
                <a:latin typeface="Microsoft Sans Serif"/>
                <a:cs typeface="Microsoft Sans Serif"/>
              </a:rPr>
              <a:t>613—620</a:t>
            </a:r>
            <a:r>
              <a:rPr sz="1100" spc="-15" dirty="0">
                <a:solidFill>
                  <a:srgbClr val="7A7ACD"/>
                </a:solidFill>
                <a:latin typeface="Microsoft Sans Serif"/>
                <a:cs typeface="Microsoft Sans Serif"/>
              </a:rPr>
              <a:t>,</a:t>
            </a:r>
            <a:r>
              <a:rPr sz="1100" spc="65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7A7ACD"/>
                </a:solidFill>
                <a:latin typeface="Microsoft Sans Serif"/>
                <a:cs typeface="Microsoft Sans Serif"/>
              </a:rPr>
              <a:t>1975.</a:t>
            </a:r>
            <a:endParaRPr sz="1100">
              <a:latin typeface="Microsoft Sans Serif"/>
              <a:cs typeface="Microsoft Sans Serif"/>
            </a:endParaRPr>
          </a:p>
          <a:p>
            <a:pPr marL="12700" marR="558776" indent="27939">
              <a:lnSpc>
                <a:spcPct val="102600"/>
              </a:lnSpc>
              <a:spcBef>
                <a:spcPts val="450"/>
              </a:spcBef>
            </a:pPr>
            <a:r>
              <a:rPr sz="1100" spc="-15" dirty="0">
                <a:solidFill>
                  <a:srgbClr val="3333B2"/>
                </a:solidFill>
                <a:latin typeface="Microsoft Sans Serif"/>
                <a:cs typeface="Microsoft Sans Serif"/>
              </a:rPr>
              <a:t>Y. Kim, </a:t>
            </a:r>
            <a:r>
              <a:rPr sz="1100" spc="-40" dirty="0">
                <a:latin typeface="Microsoft Sans Serif"/>
                <a:cs typeface="Microsoft Sans Serif"/>
              </a:rPr>
              <a:t>“Convolutional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neural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networks</a:t>
            </a:r>
            <a:r>
              <a:rPr sz="1100" spc="-6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for </a:t>
            </a:r>
            <a:r>
              <a:rPr sz="1100" spc="-85" dirty="0">
                <a:latin typeface="Microsoft Sans Serif"/>
                <a:cs typeface="Microsoft Sans Serif"/>
              </a:rPr>
              <a:t>sentence </a:t>
            </a:r>
            <a:r>
              <a:rPr sz="1100" spc="-8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classification”, 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arXiv</a:t>
            </a:r>
            <a:r>
              <a:rPr sz="1100" i="1" spc="6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7A7ACD"/>
                </a:solidFill>
                <a:latin typeface="Arial"/>
                <a:cs typeface="Arial"/>
              </a:rPr>
              <a:t>preprint</a:t>
            </a:r>
            <a:r>
              <a:rPr sz="1100" i="1" spc="6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7A7ACD"/>
                </a:solidFill>
                <a:latin typeface="Arial"/>
                <a:cs typeface="Arial"/>
              </a:rPr>
              <a:t>arXiv:1408.5882</a:t>
            </a:r>
            <a:r>
              <a:rPr sz="1100" spc="-50" dirty="0">
                <a:solidFill>
                  <a:srgbClr val="7A7ACD"/>
                </a:solidFill>
                <a:latin typeface="Microsoft Sans Serif"/>
                <a:cs typeface="Microsoft Sans Serif"/>
              </a:rPr>
              <a:t>,</a:t>
            </a:r>
            <a:r>
              <a:rPr sz="1100" spc="70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7A7ACD"/>
                </a:solidFill>
                <a:latin typeface="Microsoft Sans Serif"/>
                <a:cs typeface="Microsoft Sans Serif"/>
              </a:rPr>
              <a:t>2014.</a:t>
            </a:r>
            <a:endParaRPr sz="1100">
              <a:latin typeface="Microsoft Sans Serif"/>
              <a:cs typeface="Microsoft Sans Serif"/>
            </a:endParaRPr>
          </a:p>
          <a:p>
            <a:pPr marL="12700" marR="5080" indent="27939">
              <a:lnSpc>
                <a:spcPct val="102600"/>
              </a:lnSpc>
              <a:spcBef>
                <a:spcPts val="445"/>
              </a:spcBef>
            </a:pPr>
            <a:r>
              <a:rPr sz="1100" spc="-10" dirty="0">
                <a:solidFill>
                  <a:srgbClr val="3333B2"/>
                </a:solidFill>
                <a:latin typeface="Microsoft Sans Serif"/>
                <a:cs typeface="Microsoft Sans Serif"/>
              </a:rPr>
              <a:t>Z. </a:t>
            </a:r>
            <a:r>
              <a:rPr sz="1100" spc="-70" dirty="0">
                <a:solidFill>
                  <a:srgbClr val="3333B2"/>
                </a:solidFill>
                <a:latin typeface="Microsoft Sans Serif"/>
                <a:cs typeface="Microsoft Sans Serif"/>
              </a:rPr>
              <a:t>Yang,</a:t>
            </a:r>
            <a:r>
              <a:rPr sz="1100" spc="-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3333B2"/>
                </a:solidFill>
                <a:latin typeface="Microsoft Sans Serif"/>
                <a:cs typeface="Microsoft Sans Serif"/>
              </a:rPr>
              <a:t>D. </a:t>
            </a:r>
            <a:r>
              <a:rPr sz="1100" spc="-70" dirty="0">
                <a:solidFill>
                  <a:srgbClr val="3333B2"/>
                </a:solidFill>
                <a:latin typeface="Microsoft Sans Serif"/>
                <a:cs typeface="Microsoft Sans Serif"/>
              </a:rPr>
              <a:t>Yang,</a:t>
            </a:r>
            <a:r>
              <a:rPr sz="1100" spc="-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60" dirty="0">
                <a:solidFill>
                  <a:srgbClr val="3333B2"/>
                </a:solidFill>
                <a:latin typeface="Microsoft Sans Serif"/>
                <a:cs typeface="Microsoft Sans Serif"/>
              </a:rPr>
              <a:t>C.</a:t>
            </a:r>
            <a:r>
              <a:rPr sz="1100" spc="-5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3333B2"/>
                </a:solidFill>
                <a:latin typeface="Microsoft Sans Serif"/>
                <a:cs typeface="Microsoft Sans Serif"/>
              </a:rPr>
              <a:t>Dyer,</a:t>
            </a:r>
            <a:r>
              <a:rPr sz="1100" spc="-4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3333B2"/>
                </a:solidFill>
                <a:latin typeface="Microsoft Sans Serif"/>
                <a:cs typeface="Microsoft Sans Serif"/>
              </a:rPr>
              <a:t>X. </a:t>
            </a:r>
            <a:r>
              <a:rPr sz="1100" spc="-60" dirty="0">
                <a:solidFill>
                  <a:srgbClr val="3333B2"/>
                </a:solidFill>
                <a:latin typeface="Microsoft Sans Serif"/>
                <a:cs typeface="Microsoft Sans Serif"/>
              </a:rPr>
              <a:t>He,</a:t>
            </a:r>
            <a:r>
              <a:rPr sz="1100" spc="-5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3333B2"/>
                </a:solidFill>
                <a:latin typeface="Microsoft Sans Serif"/>
                <a:cs typeface="Microsoft Sans Serif"/>
              </a:rPr>
              <a:t>A. </a:t>
            </a:r>
            <a:r>
              <a:rPr sz="1100" spc="-70" dirty="0">
                <a:solidFill>
                  <a:srgbClr val="3333B2"/>
                </a:solidFill>
                <a:latin typeface="Microsoft Sans Serif"/>
                <a:cs typeface="Microsoft Sans Serif"/>
              </a:rPr>
              <a:t>Smola</a:t>
            </a:r>
            <a:r>
              <a:rPr sz="1100" spc="-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3333B2"/>
                </a:solidFill>
                <a:latin typeface="Microsoft Sans Serif"/>
                <a:cs typeface="Microsoft Sans Serif"/>
              </a:rPr>
              <a:t>и </a:t>
            </a:r>
            <a:r>
              <a:rPr sz="1100" spc="-50" dirty="0">
                <a:solidFill>
                  <a:srgbClr val="3333B2"/>
                </a:solidFill>
                <a:latin typeface="Microsoft Sans Serif"/>
                <a:cs typeface="Microsoft Sans Serif"/>
              </a:rPr>
              <a:t>E.</a:t>
            </a:r>
            <a:r>
              <a:rPr sz="1100" spc="-4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3333B2"/>
                </a:solidFill>
                <a:latin typeface="Microsoft Sans Serif"/>
                <a:cs typeface="Microsoft Sans Serif"/>
              </a:rPr>
              <a:t>Hovy, </a:t>
            </a:r>
            <a:r>
              <a:rPr sz="1100" spc="-4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“Hierarchical</a:t>
            </a:r>
            <a:r>
              <a:rPr sz="1100" spc="2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attention</a:t>
            </a:r>
            <a:r>
              <a:rPr sz="1100" spc="25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networks</a:t>
            </a:r>
            <a:r>
              <a:rPr sz="1100" spc="16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for</a:t>
            </a:r>
            <a:r>
              <a:rPr sz="1100" spc="229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document</a:t>
            </a:r>
            <a:r>
              <a:rPr sz="1100" spc="18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classification”, 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7A7ACD"/>
                </a:solidFill>
                <a:latin typeface="Microsoft Sans Serif"/>
                <a:cs typeface="Microsoft Sans Serif"/>
              </a:rPr>
              <a:t>в</a:t>
            </a:r>
            <a:r>
              <a:rPr sz="1100" spc="-60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i="1" spc="-70" dirty="0">
                <a:solidFill>
                  <a:srgbClr val="7A7ACD"/>
                </a:solidFill>
                <a:latin typeface="Arial"/>
                <a:cs typeface="Arial"/>
              </a:rPr>
              <a:t>Proceedings</a:t>
            </a:r>
            <a:r>
              <a:rPr sz="1100" i="1" spc="-6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7A7ACD"/>
                </a:solidFill>
                <a:latin typeface="Arial"/>
                <a:cs typeface="Arial"/>
              </a:rPr>
              <a:t>of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the</a:t>
            </a:r>
            <a:r>
              <a:rPr sz="1100" i="1" spc="-3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7A7ACD"/>
                </a:solidFill>
                <a:latin typeface="Arial"/>
                <a:cs typeface="Arial"/>
              </a:rPr>
              <a:t>2016</a:t>
            </a:r>
            <a:r>
              <a:rPr sz="1100" i="1" spc="-7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7A7ACD"/>
                </a:solidFill>
                <a:latin typeface="Arial"/>
                <a:cs typeface="Arial"/>
              </a:rPr>
              <a:t>conference</a:t>
            </a:r>
            <a:r>
              <a:rPr sz="1100" i="1" spc="-7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7A7ACD"/>
                </a:solidFill>
                <a:latin typeface="Arial"/>
                <a:cs typeface="Arial"/>
              </a:rPr>
              <a:t>of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the</a:t>
            </a:r>
            <a:r>
              <a:rPr sz="1100" i="1" spc="-3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7A7ACD"/>
                </a:solidFill>
                <a:latin typeface="Arial"/>
                <a:cs typeface="Arial"/>
              </a:rPr>
              <a:t>North </a:t>
            </a:r>
            <a:r>
              <a:rPr sz="1100" i="1" spc="-60" dirty="0">
                <a:solidFill>
                  <a:srgbClr val="7A7ACD"/>
                </a:solidFill>
                <a:latin typeface="Arial"/>
                <a:cs typeface="Arial"/>
              </a:rPr>
              <a:t>American </a:t>
            </a:r>
            <a:r>
              <a:rPr sz="1100" i="1" spc="-5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7A7ACD"/>
                </a:solidFill>
                <a:latin typeface="Arial"/>
                <a:cs typeface="Arial"/>
              </a:rPr>
              <a:t>chapter</a:t>
            </a:r>
            <a:r>
              <a:rPr sz="1100" i="1" spc="3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7A7ACD"/>
                </a:solidFill>
                <a:latin typeface="Arial"/>
                <a:cs typeface="Arial"/>
              </a:rPr>
              <a:t>of</a:t>
            </a:r>
            <a:r>
              <a:rPr sz="1100" i="1" spc="4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the</a:t>
            </a:r>
            <a:r>
              <a:rPr sz="1100" i="1" spc="4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7A7ACD"/>
                </a:solidFill>
                <a:latin typeface="Arial"/>
                <a:cs typeface="Arial"/>
              </a:rPr>
              <a:t>association</a:t>
            </a:r>
            <a:r>
              <a:rPr sz="1100" i="1" spc="3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7A7ACD"/>
                </a:solidFill>
                <a:latin typeface="Arial"/>
                <a:cs typeface="Arial"/>
              </a:rPr>
              <a:t>for</a:t>
            </a:r>
            <a:r>
              <a:rPr sz="1100" i="1" spc="4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computational</a:t>
            </a:r>
            <a:r>
              <a:rPr sz="1100" i="1" spc="4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linguistics:</a:t>
            </a:r>
            <a:r>
              <a:rPr sz="1100" i="1" spc="3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7A7ACD"/>
                </a:solidFill>
                <a:latin typeface="Arial"/>
                <a:cs typeface="Arial"/>
              </a:rPr>
              <a:t>human </a:t>
            </a:r>
            <a:r>
              <a:rPr sz="1100" i="1" spc="-29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7A7ACD"/>
                </a:solidFill>
                <a:latin typeface="Arial"/>
                <a:cs typeface="Arial"/>
              </a:rPr>
              <a:t>language</a:t>
            </a:r>
            <a:r>
              <a:rPr sz="1100" i="1" spc="5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7A7ACD"/>
                </a:solidFill>
                <a:latin typeface="Arial"/>
                <a:cs typeface="Arial"/>
              </a:rPr>
              <a:t>technologies</a:t>
            </a:r>
            <a:r>
              <a:rPr sz="1100" spc="-60" dirty="0">
                <a:solidFill>
                  <a:srgbClr val="7A7ACD"/>
                </a:solidFill>
                <a:latin typeface="Microsoft Sans Serif"/>
                <a:cs typeface="Microsoft Sans Serif"/>
              </a:rPr>
              <a:t>,</a:t>
            </a:r>
            <a:r>
              <a:rPr sz="1100" spc="65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7A7ACD"/>
                </a:solidFill>
                <a:latin typeface="Microsoft Sans Serif"/>
                <a:cs typeface="Microsoft Sans Serif"/>
              </a:rPr>
              <a:t>2016,</a:t>
            </a:r>
            <a:r>
              <a:rPr sz="1100" spc="65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7A7ACD"/>
                </a:solidFill>
                <a:latin typeface="Microsoft Sans Serif"/>
                <a:cs typeface="Microsoft Sans Serif"/>
              </a:rPr>
              <a:t>с.</a:t>
            </a:r>
            <a:r>
              <a:rPr sz="1100" spc="65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7A7ACD"/>
                </a:solidFill>
                <a:latin typeface="Microsoft Sans Serif"/>
                <a:cs typeface="Microsoft Sans Serif"/>
              </a:rPr>
              <a:t>1480—1489.</a:t>
            </a:r>
            <a:endParaRPr sz="1100">
              <a:latin typeface="Microsoft Sans Serif"/>
              <a:cs typeface="Microsoft Sans Serif"/>
            </a:endParaRPr>
          </a:p>
          <a:p>
            <a:pPr marL="12700" marR="20954" indent="27939">
              <a:lnSpc>
                <a:spcPct val="102600"/>
              </a:lnSpc>
              <a:spcBef>
                <a:spcPts val="450"/>
              </a:spcBef>
            </a:pPr>
            <a:r>
              <a:rPr sz="1100" spc="-25" dirty="0">
                <a:solidFill>
                  <a:srgbClr val="3333B2"/>
                </a:solidFill>
                <a:latin typeface="Microsoft Sans Serif"/>
                <a:cs typeface="Microsoft Sans Serif"/>
              </a:rPr>
              <a:t>J. </a:t>
            </a:r>
            <a:r>
              <a:rPr sz="1100" spc="-70" dirty="0">
                <a:solidFill>
                  <a:srgbClr val="3333B2"/>
                </a:solidFill>
                <a:latin typeface="Microsoft Sans Serif"/>
                <a:cs typeface="Microsoft Sans Serif"/>
              </a:rPr>
              <a:t>Howard</a:t>
            </a:r>
            <a:r>
              <a:rPr sz="1100" spc="-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3333B2"/>
                </a:solidFill>
                <a:latin typeface="Microsoft Sans Serif"/>
                <a:cs typeface="Microsoft Sans Serif"/>
              </a:rPr>
              <a:t>и </a:t>
            </a:r>
            <a:r>
              <a:rPr sz="1100" spc="-70" dirty="0">
                <a:solidFill>
                  <a:srgbClr val="3333B2"/>
                </a:solidFill>
                <a:latin typeface="Microsoft Sans Serif"/>
                <a:cs typeface="Microsoft Sans Serif"/>
              </a:rPr>
              <a:t>S.</a:t>
            </a:r>
            <a:r>
              <a:rPr sz="1100" spc="-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60" dirty="0">
                <a:solidFill>
                  <a:srgbClr val="3333B2"/>
                </a:solidFill>
                <a:latin typeface="Microsoft Sans Serif"/>
                <a:cs typeface="Microsoft Sans Serif"/>
              </a:rPr>
              <a:t>Ruder,</a:t>
            </a:r>
            <a:r>
              <a:rPr sz="1100" spc="-5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“Universal </a:t>
            </a:r>
            <a:r>
              <a:rPr sz="1100" spc="-75" dirty="0">
                <a:latin typeface="Microsoft Sans Serif"/>
                <a:cs typeface="Microsoft Sans Serif"/>
              </a:rPr>
              <a:t>language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model</a:t>
            </a:r>
            <a:r>
              <a:rPr sz="1100" spc="17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fine-tuning 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for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text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classification”,</a:t>
            </a:r>
            <a:r>
              <a:rPr sz="1100" spc="204" dirty="0">
                <a:latin typeface="Microsoft Sans Serif"/>
                <a:cs typeface="Microsoft Sans Serif"/>
              </a:rPr>
              <a:t>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arXiv</a:t>
            </a:r>
            <a:r>
              <a:rPr sz="1100" i="1" spc="6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7A7ACD"/>
                </a:solidFill>
                <a:latin typeface="Arial"/>
                <a:cs typeface="Arial"/>
              </a:rPr>
              <a:t>preprint</a:t>
            </a:r>
            <a:r>
              <a:rPr sz="1100" i="1" spc="6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7A7ACD"/>
                </a:solidFill>
                <a:latin typeface="Arial"/>
                <a:cs typeface="Arial"/>
              </a:rPr>
              <a:t>arXiv:1801.06146</a:t>
            </a:r>
            <a:r>
              <a:rPr sz="1100" spc="-50" dirty="0">
                <a:solidFill>
                  <a:srgbClr val="7A7ACD"/>
                </a:solidFill>
                <a:latin typeface="Microsoft Sans Serif"/>
                <a:cs typeface="Microsoft Sans Serif"/>
              </a:rPr>
              <a:t>,</a:t>
            </a:r>
            <a:r>
              <a:rPr sz="1100" spc="70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7A7ACD"/>
                </a:solidFill>
                <a:latin typeface="Microsoft Sans Serif"/>
                <a:cs typeface="Microsoft Sans Serif"/>
              </a:rPr>
              <a:t>2018.</a:t>
            </a:r>
            <a:endParaRPr sz="1100">
              <a:latin typeface="Microsoft Sans Serif"/>
              <a:cs typeface="Microsoft Sans Serif"/>
            </a:endParaRPr>
          </a:p>
          <a:p>
            <a:pPr marL="12700" marR="211445" indent="27939">
              <a:lnSpc>
                <a:spcPct val="102600"/>
              </a:lnSpc>
              <a:spcBef>
                <a:spcPts val="450"/>
              </a:spcBef>
            </a:pPr>
            <a:r>
              <a:rPr sz="1100" spc="-25" dirty="0">
                <a:solidFill>
                  <a:srgbClr val="3333B2"/>
                </a:solidFill>
                <a:latin typeface="Microsoft Sans Serif"/>
                <a:cs typeface="Microsoft Sans Serif"/>
              </a:rPr>
              <a:t>J. </a:t>
            </a:r>
            <a:r>
              <a:rPr sz="1100" spc="-40" dirty="0">
                <a:solidFill>
                  <a:srgbClr val="3333B2"/>
                </a:solidFill>
                <a:latin typeface="Microsoft Sans Serif"/>
                <a:cs typeface="Microsoft Sans Serif"/>
              </a:rPr>
              <a:t>Devlin,</a:t>
            </a:r>
            <a:r>
              <a:rPr sz="1100" spc="-3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Microsoft Sans Serif"/>
                <a:cs typeface="Microsoft Sans Serif"/>
              </a:rPr>
              <a:t>M.-W. </a:t>
            </a:r>
            <a:r>
              <a:rPr sz="1100" spc="-70" dirty="0">
                <a:solidFill>
                  <a:srgbClr val="3333B2"/>
                </a:solidFill>
                <a:latin typeface="Microsoft Sans Serif"/>
                <a:cs typeface="Microsoft Sans Serif"/>
              </a:rPr>
              <a:t>Chang,</a:t>
            </a:r>
            <a:r>
              <a:rPr sz="1100" spc="-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3333B2"/>
                </a:solidFill>
                <a:latin typeface="Microsoft Sans Serif"/>
                <a:cs typeface="Microsoft Sans Serif"/>
              </a:rPr>
              <a:t>K. </a:t>
            </a:r>
            <a:r>
              <a:rPr sz="1100" spc="-100" dirty="0">
                <a:solidFill>
                  <a:srgbClr val="3333B2"/>
                </a:solidFill>
                <a:latin typeface="Microsoft Sans Serif"/>
                <a:cs typeface="Microsoft Sans Serif"/>
              </a:rPr>
              <a:t>Lee</a:t>
            </a:r>
            <a:r>
              <a:rPr sz="1100" spc="-9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3333B2"/>
                </a:solidFill>
                <a:latin typeface="Microsoft Sans Serif"/>
                <a:cs typeface="Microsoft Sans Serif"/>
              </a:rPr>
              <a:t>и</a:t>
            </a:r>
            <a:r>
              <a:rPr sz="1100" spc="-3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3333B2"/>
                </a:solidFill>
                <a:latin typeface="Microsoft Sans Serif"/>
                <a:cs typeface="Microsoft Sans Serif"/>
              </a:rPr>
              <a:t>K. </a:t>
            </a:r>
            <a:r>
              <a:rPr sz="1100" spc="-50" dirty="0">
                <a:solidFill>
                  <a:srgbClr val="3333B2"/>
                </a:solidFill>
                <a:latin typeface="Microsoft Sans Serif"/>
                <a:cs typeface="Microsoft Sans Serif"/>
              </a:rPr>
              <a:t>Toutanova,</a:t>
            </a:r>
            <a:r>
              <a:rPr sz="1100" spc="-4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“Bert: 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Pre-training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of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100" dirty="0">
                <a:latin typeface="Microsoft Sans Serif"/>
                <a:cs typeface="Microsoft Sans Serif"/>
              </a:rPr>
              <a:t>deep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bidirectional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transformers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for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language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understanding”,</a:t>
            </a:r>
            <a:r>
              <a:rPr sz="1100" spc="190" dirty="0">
                <a:latin typeface="Microsoft Sans Serif"/>
                <a:cs typeface="Microsoft Sans Serif"/>
              </a:rPr>
              <a:t> </a:t>
            </a:r>
            <a:r>
              <a:rPr sz="1100" i="1" spc="-40" dirty="0">
                <a:solidFill>
                  <a:srgbClr val="7A7ACD"/>
                </a:solidFill>
                <a:latin typeface="Arial"/>
                <a:cs typeface="Arial"/>
              </a:rPr>
              <a:t>arXiv</a:t>
            </a:r>
            <a:r>
              <a:rPr sz="1100" i="1" spc="5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7A7ACD"/>
                </a:solidFill>
                <a:latin typeface="Arial"/>
                <a:cs typeface="Arial"/>
              </a:rPr>
              <a:t>preprint</a:t>
            </a:r>
            <a:r>
              <a:rPr sz="1100" i="1" spc="5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7A7ACD"/>
                </a:solidFill>
                <a:latin typeface="Arial"/>
                <a:cs typeface="Arial"/>
              </a:rPr>
              <a:t>arXiv:1810.04805</a:t>
            </a:r>
            <a:r>
              <a:rPr sz="1100" spc="-50" dirty="0">
                <a:solidFill>
                  <a:srgbClr val="7A7ACD"/>
                </a:solidFill>
                <a:latin typeface="Microsoft Sans Serif"/>
                <a:cs typeface="Microsoft Sans Serif"/>
              </a:rPr>
              <a:t>,</a:t>
            </a:r>
            <a:r>
              <a:rPr sz="1100" spc="65" dirty="0">
                <a:solidFill>
                  <a:srgbClr val="7A7AC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7A7ACD"/>
                </a:solidFill>
                <a:latin typeface="Microsoft Sans Serif"/>
                <a:cs typeface="Microsoft Sans Serif"/>
              </a:rPr>
              <a:t>2018.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66939" y="1041443"/>
            <a:ext cx="106680" cy="144780"/>
            <a:chOff x="395414" y="1041443"/>
            <a:chExt cx="106680" cy="14478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954" y="1043983"/>
              <a:ext cx="101219" cy="1391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97954" y="1043983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606" y="1062961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3259" y="1081940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0606" y="1113570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890" y="1110406"/>
              <a:ext cx="31635" cy="4428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4890" y="116417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3868" y="104398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166939" y="1442535"/>
            <a:ext cx="106680" cy="144780"/>
            <a:chOff x="395414" y="1442534"/>
            <a:chExt cx="106680" cy="14478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954" y="1445074"/>
              <a:ext cx="101219" cy="1391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7954" y="1445074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0606" y="1464053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3259" y="1483031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0606" y="1514662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890" y="1511498"/>
              <a:ext cx="31635" cy="4428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54890" y="1565271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3868" y="14450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166939" y="2359843"/>
            <a:ext cx="106680" cy="144780"/>
            <a:chOff x="395414" y="2359842"/>
            <a:chExt cx="106680" cy="14478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7954" y="2362382"/>
              <a:ext cx="101219" cy="13917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7954" y="2362382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0606" y="2381361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3259" y="240033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0606" y="2431970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890" y="2428806"/>
              <a:ext cx="31635" cy="4428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54890" y="248257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3868" y="236238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1166939" y="2760921"/>
            <a:ext cx="106680" cy="144780"/>
            <a:chOff x="395414" y="2760921"/>
            <a:chExt cx="106680" cy="144780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954" y="2763461"/>
              <a:ext cx="101219" cy="13917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97954" y="2763461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10606" y="2782440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3259" y="280141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10606" y="2833049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890" y="2829885"/>
              <a:ext cx="31635" cy="4428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54890" y="2883658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3868" y="27634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</TotalTime>
  <Words>656</Words>
  <Application>Microsoft Office PowerPoint</Application>
  <PresentationFormat>Произвольный</PresentationFormat>
  <Paragraphs>109</Paragraphs>
  <Slides>19</Slides>
  <Notes>1</Notes>
  <HiddenSlides>9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Arial</vt:lpstr>
      <vt:lpstr>Arial MT</vt:lpstr>
      <vt:lpstr>Calibri</vt:lpstr>
      <vt:lpstr>Calibri Light</vt:lpstr>
      <vt:lpstr>Cambria Math</vt:lpstr>
      <vt:lpstr>Lucida Sans Unicode</vt:lpstr>
      <vt:lpstr>Microsoft Sans Serif</vt:lpstr>
      <vt:lpstr>Tahoma</vt:lpstr>
      <vt:lpstr>Тема Office</vt:lpstr>
      <vt:lpstr>Intro to NLP</vt:lpstr>
      <vt:lpstr>Natural language processing ...</vt:lpstr>
      <vt:lpstr>Example tasks</vt:lpstr>
      <vt:lpstr>Phenomena to handle</vt:lpstr>
      <vt:lpstr>Ambiguity</vt:lpstr>
      <vt:lpstr>Презентация PowerPoint</vt:lpstr>
      <vt:lpstr>Today</vt:lpstr>
      <vt:lpstr>About this course</vt:lpstr>
      <vt:lpstr>Our plan</vt:lpstr>
      <vt:lpstr>Recent trends in NLP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Reading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NLP</dc:title>
  <dc:creator>Katya Artemova</dc:creator>
  <cp:lastModifiedBy>Студент НИУ ВШЭ</cp:lastModifiedBy>
  <cp:revision>18</cp:revision>
  <dcterms:created xsi:type="dcterms:W3CDTF">2022-08-29T18:12:19Z</dcterms:created>
  <dcterms:modified xsi:type="dcterms:W3CDTF">2026-09-02T11:29:33Z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2022-08-29T00:00:00Z</vt:filetime>
  </property>
</Properties>
</file>